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amaliy mashg'ulotning maqsadi — magistrantlarda bitta hisoblash qurilmasi doirasidan chiqib, bir nechta GPU yoki bir nechta tugun (node) ustida ishlaydigan taqsimlangan sun'iy intellekt tizimini mustaqil yig'ish, ishga tushirish va uning samaradorligini miqdoriy baholash ko'nikmasini shakllantirishdir. Mashg'ulot yakunida talaba quyidagilarga qodir bo'ladi: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amaliy mashg'ulotning maqsadi — magistrantlarda bitta hisoblash qurilmasi doirasidan chiqib, bir nechta GPU yoki bir nechta tugun (node) ustida ishlaydigan taqsimlangan sun'iy intellekt tizimini mustaqil yig'ish, ishga tushirish va uning samaradorligini miqdoriy baholash ko'nikmasini shakllantirishdir. Mashg'ulot yakunida talaba quyidagilarga qodir bo'ladi:</a:t>
            </a:r>
          </a:p>
          <a:p/>
          <a:p>
            <a:r>
              <a:t>PyTorch Distributed (torch.distributed) kutubxonasi va torchrun ishga tushirgichi yordamida ma'lumotlar parallelligi (Distributed Data Parallel, DDP) asosida ko'p GPU'li o'qitish skriptini yozish, jarayonlar guruhini (process group) to'g'ri boshlash va yakunlash.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 va MPI (Message Passing Interface) yondashuvlarining DDP'dan farqini tushuntirish va berilgan masala uchun qaysi birini tanlashni asoslash.</a:t>
            </a:r>
          </a:p>
          <a:p/>
          <a:p>
            <a:r>
              <a:t>Kuchli va kuchsiz masshtablash (strong/weak scaling) tushunchalarini ajratish, masshtablash samaradorligi (scaling efficiency) koeffitsiyentini hisoblash va natijalarni jadval ko'rinishida rasmiylashtirish.</a:t>
            </a:r>
          </a:p>
          <a:p/>
          <a:p>
            <a:r>
              <a:t>Taqsimlangan inferens (parallel inference) uchun ma'lumotlarni bo'lib yuborish (sharding) va natijalarni yig'ish (all-gather) sxemasini amalga oshirish, o'tkazuvchanlik (throughput) va kechikish (latency) ko'rsatkichlarini o'lchash.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Kommunikatsiya xarajatlari, sinxronizatsiya nuqtalari va to'g'ri bo'lmagan konfiguratsiya tufayli yuzaga keladigan tipik muammolarni aniqlash va bartaraf etish.</a:t>
            </a:r>
          </a:p>
          <a:p/>
          <a:p>
            <a:r>
              <a:t>Mavzu fanning TN3 (parallel va taqsimlangan hisoblash texnologiyalarini qo'llash), TN5 (AI tizimlarini bulutli va klasterli infratuzilmaga joylashtirish) va TN6 (unumdorlikni o'lchash, tahlil qilish va optimallashtirish) o'rganish natijalariga bevosita xizmat qiladi; shuningdek, M3 va M7 ma'ruzalarida berilgan nazariy bilimlarni amaliyotda mustahkamlaydi.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chuqur o'rganish modellarining o'lchami va o'quv to'plamlarining hajmi bitta tezlatkich (accelerator) imkoniyatlaridan ancha oshib ketdi. Masalan, ImageNet-1k ustida ResNet-50 modelini 90 epoxa davomida bitta NVIDIA A100 GPU'da o'qitish taxminan 20–24 soat vaqt oladi; 8 ta GPU'li bitta DGX serverida esa bu vaqt 3 soat atrofiga tushadi, 256 GPU'li klasterda bir necha daqiqa ichida bajariladi. Katta til modellari (Large Language Models, LLM) uchun taqsimlangan o'qitish umuman muqobilsiz: 70 milliard parametrli modelning faqat og'irliklari FP16 aniqlikda 140 GB xotira talab qiladi, bu esa hatto 80 GB'li H100 ga ham sig'maydi. Shuning uchun taqsimlangan hisoblash bugun «qo'shimcha optimizatsiya» emas, balki sun'iy intellekt tizimlari muhandisining tayanch ko'nikmasidir.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chuqur o'rganish modellarining o'lchami va o'quv to'plamlarining hajmi bitta tezlatkich (accelerator) imkoniyatlaridan ancha oshib ketdi. Masalan, ImageNet-1k ustida ResNet-50 modelini 90 epoxa davomida bitta NVIDIA A100 GPU'da o'qitish taxminan 20–24 soat vaqt oladi; 8 ta GPU'li bitta DGX serverida esa bu vaqt 3 soat atrofiga tushadi, 256 GPU'li klasterda bir necha daqiqa ichida bajariladi. Katta til modellari (Large Language Models, LLM) uchun taqsimlangan o'qitish umuman muqobilsiz: 70 milliard parametrli modelning faqat og'irliklari FP16 aniqlikda 140 GB xotira talab qiladi, bu esa hatto 80 GB'li H100 ga ham sig'maydi. Shuning uchun taqsimlangan hisoblash bugun «qo'shimcha optimizatsiya» emas, balki sun'iy intellekt tizimlari muhandisining tayanch ko'nikmasidir.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chuqur o'rganish modellarining o'lchami va o'quv to'plamlarining hajmi bitta tezlatkich (accelerator) imkoniyatlaridan ancha oshib ketdi. Masalan, ImageNet-1k ustida ResNet-50 modelini 90 epoxa davomida bitta NVIDIA A100 GPU'da o'qitish taxminan 20–24 soat vaqt oladi; 8 ta GPU'li bitta DGX serverida esa bu vaqt 3 soat atrofiga tushadi, 256 GPU'li klasterda bir necha daqiqa ichida bajariladi. Katta til modellari (Large Language Models, LLM) uchun taqsimlangan o'qitish umuman muqobilsiz: 70 milliard parametrli modelning faqat og'irliklari FP16 aniqlikda 140 GB xotira talab qiladi, bu esa hatto 80 GB'li H100 ga ham sig'maydi. Shuning uchun taqsimlangan hisoblash bugun «qo'shimcha optimizatsiya» emas, balki sun'iy intellekt tizimlari muhandisining tayanch ko'nikmasidir.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Sanoat kontekstida taqsimlangan AI tizimlari uchta asosiy ko'rinishda uchraydi. Birinchisi — taqsimlangan o'qitish (distributed training), bunda modelni o'qitish ishi ko'plab GPU'lar orasida bo'linadi va har bir qadamda gradientlar sinxronlashtiriladi. Ikkinchisi — parallel inferens (parallel inference), bunda bir xil model nusxalari ko'plab so'rovlarni bir vaqtda qayta ishlaydi yoki bitta katta model bir nechta qurilmaga bo'linadi. Uchinchisi — taqsimlangan ma'lumot tayyorlash (data preprocessing), bunda Ray Data yoki Spark kabi vositalar terabaytlab xom ma'lumotni parallel ravishda tozalaydi va tokenlaydi. Ushbu amaliy mashg'ulotda dastlabki ikkita ko'rinish bilan amaliy ishlaymiz.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tizimni ishlab chiqishdagi asosiy muhandislik muammosi — hisoblash va kommunikatsiya o'rtasidagi muvozanat. Qancha ko'p GPU qo'shsak, har bir GPU'ga to'g'ri keladigan hisoblash ulushi kamayadi, lekin ular orasidagi gradient almashinuvi hajmi o'zgarmaydi yoki hatto o'sadi. Natijada ma'lum bir nuqtadan keyin qo'shimcha GPU'lar deyarli foyda bermaydi — bu Amdal qonunining (Amdahl's law) amaliy ko'rinishi. Shu sababli taqsimlangan tizim muhandisining vazifasi faqat «ishlashiga erishish» emas, balki masshtablash samaradorligini o'lchash va uni cheklovchi omilni (bottleneck) aniqlashdir. Mashg'ulot davomida aynan shu o'lchov madaniyatini shakllantiramiz: har bir konfiguratsiya uchun o'tkazuvchanlik, tezlashish (speedup) va samaradorlik koeffitsiyenti hisoblanadi va jadvalga kiritiladi.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tizimni ishlab chiqishdagi asosiy muhandislik muammosi — hisoblash va kommunikatsiya o'rtasidagi muvozanat. Qancha ko'p GPU qo'shsak, har bir GPU'ga to'g'ri keladigan hisoblash ulushi kamayadi, lekin ular orasidagi gradient almashinuvi hajmi o'zgarmaydi yoki hatto o'sadi. Natijada ma'lum bir nuqtadan keyin qo'shimcha GPU'lar deyarli foyda bermaydi — bu Amdal qonunining (Amdahl's law) amaliy ko'rinishi. Shu sababli taqsimlangan tizim muhandisining vazifasi faqat «ishlashiga erishish» emas, balki masshtablash samaradorligini o'lchash va uni cheklovchi omilni (bottleneck) aniqlashdir. Mashg'ulot davomida aynan shu o'lchov madaniyatini shakllantiramiz: har bir konfiguratsiya uchun o'tkazuvchanlik, tezlashish (speedup) va samaradorlik koeffitsiyenti hisoblanadi va jadvalga kiritiladi.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o'qitishda to'rtta asosiy parallellik turi farqlanadi. Ma'lumotlar parallelligi (data parallelism) — eng keng tarqalgan usul: modelning to'liq nusxasi har bir GPU'da saqlanadi, global mini-paket (batch) GPU'lar soniga teng bo'laklarga bo'linadi, har bir GPU o'z bo'lagida oldinga va orqaga o'tishni (forward/backward) hisoblaydi, so'ngra gradientlar barcha GPU'lar orasida o'rtachalashtiriladi. Model parallelligi (model parallelism) — model qatlamlari turli qurilmalarga joylashtiriladi; bu model bitta GPU xotirasiga sig'maganda zarur. Tensor parallelligi (tensor parallelism) — bitta katta matritsali ko'paytirish bir nechta GPU'ga ustunlar yoki satrlar bo'yicha bo'linadi (Megatron-LM yondashuvi). Quvur (pipeline) parallelligi — qatlamlar bosqichlarga guruhlanadi va mikro-paketlar konveyer tarzida o'tkaziladi (GPipe, PipeDream). Amaliyotda yirik tizimlarda bularning kombinatsiyasi — 3D parallellik qo'llaniladi.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o'qitishda to'rtta asosiy parallellik turi farqlanadi. Ma'lumotlar parallelligi (data parallelism) — eng keng tarqalgan usul: modelning to'liq nusxasi har bir GPU'da saqlanadi, global mini-paket (batch) GPU'lar soniga teng bo'laklarga bo'linadi, har bir GPU o'z bo'lagida oldinga va orqaga o'tishni (forward/backward) hisoblaydi, so'ngra gradientlar barcha GPU'lar orasida o'rtachalashtiriladi. Model parallelligi (model parallelism) — model qatlamlari turli qurilmalarga joylashtiriladi; bu model bitta GPU xotirasiga sig'maganda zarur. Tensor parallelligi (tensor parallelism) — bitta katta matritsali ko'paytirish bir nechta GPU'ga ustunlar yoki satrlar bo'yicha bo'linadi (Megatron-LM yondashuvi). Quvur (pipeline) parallelligi — qatlamlar bosqichlarga guruhlanadi va mikro-paketlar konveyer tarzida o'tkaziladi (GPipe, PipeDream). Amaliyotda yirik tizimlarda bularning kombinatsiyasi — 3D parallellik qo'llaniladi.</a:t>
            </a:r>
          </a:p>
          <a:p/>
          <a:p>
            <a:r>
              <a:t>Ushbu mashg'ulotda asosiy e'tibor DDP'ga qaratiladi, chunki u eng ko'p qo'llaniladi va boshqa usullarni tushunish uchun poydevor bo'ladi. Fully Sharded Data Parallel (FSDP) haqida esa qo'shimcha topshiriqda so'z yuritiladi.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o'qitishda to'rtta asosiy parallellik turi farqlanadi. Ma'lumotlar parallelligi (data parallelism) — eng keng tarqalgan usul: modelning to'liq nusxasi har bir GPU'da saqlanadi, global mini-paket (batch) GPU'lar soniga teng bo'laklarga bo'linadi, har bir GPU o'z bo'lagida oldinga va orqaga o'tishni (forward/backward) hisoblaydi, so'ngra gradientlar barcha GPU'lar orasida o'rtachalashtiriladi. Model parallelligi (model parallelism) — model qatlamlari turli qurilmalarga joylashtiriladi; bu model bitta GPU xotirasiga sig'maganda zarur. Tensor parallelligi (tensor parallelism) — bitta katta matritsali ko'paytirish bir nechta GPU'ga ustunlar yoki satrlar bo'yicha bo'linadi (Megatron-LM yondashuvi). Quvur (pipeline) parallelligi — qatlamlar bosqichlarga guruhlanadi va mikro-paketlar konveyer tarzida o'tkaziladi (GPipe, PipeDream). Amaliyotda yirik tizimlarda bularning kombinatsiyasi — 3D parallellik qo'llaniladi.</a:t>
            </a:r>
          </a:p>
          <a:p/>
          <a:p>
            <a:r>
              <a:t>Ushbu mashg'ulotda asosiy e'tibor DDP'ga qaratiladi, chunki u eng ko'p qo'llaniladi va boshqa usullarni tushunish uchun poydevor bo'ladi. Fully Sharded Data Parallel (FSDP) haqida esa qo'shimcha topshiriqda so'z yuritiladi.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PyTorch'da taqsimlangan hisoblashning asosi — torch.distributed paketi. Unda har bir GPU uchun alohida operatsion tizim jarayoni (process) ishga tushiriladi, bu jarayonlar bitta jarayonlar guruhiga (process group) birlashtiriladi. Har bir jarayon ikki identifikatorga ega: rank — global tartib raqami (0 dan world_size - 1 gacha) va local_rank — ayni tugundagi tartib raqami (odatda GPU indeksi bilan bir xil). world_size — jami jarayonlar soni.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Jarayonlar orasidagi xabar almashinuvi backend orqali amalga oshiriladi. GPU'lar uchun standart tanlov — NCCL (NVIDIA Collective Communications Library), u NVLink, PCIe va InfiniBand topologiyasini avtomatik aniqlab, kollektiv operatsiyalarni (all-reduce, all-gather, broadcast, reduce-scatter) eng samarali yo'l bilan bajaradi. CPU uchun Gloo backend ishlatiladi; MPI backend esa PyTorch'ni MPI kutubxonasi bilan qayta kompilyatsiya qilishni talab qiladi va asosan HPC klasterlarida uchraydi.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DistributedDataParallel (DDP) o'rami (wrapper) quyidagicha ishlaydi: modelni o'rab olish paytida 0-rankdagi parametrlar barcha jarayonlarga broadcast qilinadi, shu bilan barcha nusxalar bir xil boshlang'ich holatga ega bo'ladi. Orqaga o'tish paytida har bir parametrning gradienti tayyor bo'lishi bilan u chelak (bucket, standart hajmi 25 MB) ga qo'shiladi; chelak to'lganda u uchun asinxron all-reduce boshlanadi. Shu tufayli kommunikatsiya orqaga o'tish hisoblashi bilan ustma-ust tushadi (overlap) — bu DDP'ning asosiy samaradorlik manbai. All-reduce tugaganda har bir jarayonda gradientlar o'rtacha qiymatga ega bo'ladi va optimizator qadami mahalliy, lekin bir xil natija bilan bajariladi.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Muhim nuqta — ma'lumotlarni bo'lish. DistributedSampler har bir epoxada ma'lumotlar to'plamini world_size ta kesishmaydigan qismga bo'ladi va har bir jarayonga o'zining qismini beradi; epoxa boshida sampler.set_epoch(epoch) chaqirilmasa, barcha epoxalarda aralashtirish bir xil bo'ladi.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All-reduce operatsiyasining samaradorligi butun tizim unumdorligini belgilaydi. Sodda yondashuvda barcha gradientlar bitta parametr-serverga yuboriladi, u yig'adi va qaytaradi: bunda server tarmoq o'tkazuvchanligi N ta ishchi uchun chiziqli o'sib boruvchi yuk oladi. Halqa all-reduce (ring all-reduce) algoritmi bu muammoni hal qiladi: N ta jarayon halqa bo'ylab joylashadi, gradient vektori N bo'lakka bo'linadi, N-1 ta reduce-scatter qadamida har bir bo'lak qo'shni orqali aylanib to'liq yig'indiga aylanadi, so'ngra N-1 ta all-gather qadamida natija barchaga tarqatiladi. Har bir jarayon jami 2  (N-1) / N  S bayt yuboradi, bu yerda S — gradientlarning umumiy hajmi. N katta bo'lganda bu 2S ga intiladi va ishchilar sonidan deyarli bog'liq bo'lmay qoladi. Masalan, ResNet-50 (25.6 mln parametr, FP32 da 102 MB) uchun 8 GPU'da har bir GPU qadam sayin ~179 MB yuboradi; NVLink'ning 600 GB/s (A100) o'tkazuvchanligida bu 0.3 ms'dan kam, 100 Gbit/s InfiniBand'da esa ~15 ms, 10 Gbit/s Ethernet'da ~150 ms — bu yerda tarmoq bottleneck'ga aylanadi.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Kommunikatsiya narxini kamaytirishning amaliy usullari: gradient to'plash (gradient accumulation — bir necha mikro-paket uchun bitta all-reduce), aralash aniqlik (gradientlarni BF16 da yuborish hajmni ikki baravar kamaytiradi), gradient siqish (compression) va chelak hajmini sozlash (bucket_cap_mb).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tizimni baholashda quyidagi miqdorlar ishlatiladi. T(1) — bitta GPU'dagi bir epoxa (yoki belgilangan qadam soni) vaqti, T(N) — N GPU'dagi vaqt. Tezlashish S(N) = T(1) / T(N). Masshtablash samaradorligi E(N) = S(N) / N  100%. Ideal holda E = 100%; amaliyotda DDP uchun bitta tugun ichida 85–95%, tugunlar orasida 70–90% yaxshi natija hisoblanadi.</a:t>
            </a:r>
          </a:p>
          <a:p/>
          <a:p>
            <a:r>
              <a:t>Ikki rejimni farqlash shart. Kuchli masshtablash (strong scaling): global paket hajmi o'zgarmaydi, GPU qo'shilganda har biriga kamroq namuna tegadi; bu yerda GPU'lar «to'yinmay» qoladi va samaradorlik tez tushadi. Kuchsiz masshtablash (weak scaling): har bir GPU'dagi paket hajmi o'zgarmaydi, global paket N baravar o'sadi; bu o'qitishda odatiy rejim, lekin global paket juda kattalashsa, optimizatsiya sifati (aniqlik) pasayishi mumkin, shuning uchun o'rganish tezligi (learning rate) chiziqli masshtablash qoidasi bilan sozlanadi va dastlabki epoxalarda «isitish» (warmup) qo'llaniladi.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Ikki rejimni farqlash shart. Kuchli masshtablash (strong scaling): global paket hajmi o'zgarmaydi, GPU qo'shilganda har biriga kamroq namuna tegadi; bu yerda GPU'lar «to'yinmay» qoladi va samaradorlik tez tushadi. Kuchsiz masshtablash (weak scaling): har bir GPU'dagi paket hajmi o'zgarmaydi, global paket N baravar o'sadi; bu o'qitishda odatiy rejim, lekin global paket juda kattalashsa, optimizatsiya sifati (aniqlik) pasayishi mumkin, shuning uchun o'rganish tezligi (learning rate) chiziqli masshtablash qoidasi bilan sozlanadi va dastlabki epoxalarda «isitish» (warmup) qo'llaniladi.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 — Python uchun umumiy maqsadli taqsimlangan hisoblash freymvorki. Uning asosiy abstraksiyalari — masofaviy funksiyalar (@ray.remote tasks) va aktorlar (actors, holatli masofaviy obyektlar). Ray Train moduli PyTorch DDP'ni o'rab oladi: foydalanuvchi o'qitish funksiyasini yozadi, TorchTrainer esa ishchilarni klasterda joylashtirish, muhit o'zgaruvchilarini sozlash, nosozlikdan tiklash (fault tolerance) va nazorat nuqtalarini (checkpoint) saqlashni o'z zimmasiga oladi. Ray'ning ustunligi — o'qitish, giperparametr qidiruvi (Ray Tune), ma'lumot tayyorlash (Ray Data) va inferens xizmati (Ray Serve) bitta klaster va bitta API ostida birlashishi. Kamchiligi — qo'shimcha abstraksiya qatlami va bosh tugun (head node) talab qilinishi.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MPI — 1990-yillardan beri HPC klasterlarida standart bo'lgan xabar almashinuv interfeysi. mpirun -np 8 python train.py buyrug'i 8 ta jarayonni ishga tushiradi, har biri MPI.COMM_WORLD.Get_rank() orqali o'z rankini bilib oladi. PyTorch bilan MPI ikki yo'l bilan birlashadi: torch.distributed ning MPI backend'i orqali yoki Horovod kutubxonasi orqali (Horovod MPI yoki Gloo ustida NCCL all-reduce'ni ishlatadi). MPI'ning afzalligi — Slurm kabi klaster menejerlari bilan mukammal integratsiya va InfiniBand'dagi puxta sozlangan kollektivlar; kamchiligi — Python ekotizimi bilan nisbatan qo'pol integratsiya va nosozlikka chidamlilikning yo'qligi (bitta jarayon tushsa, butun ish to'xtaydi).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MPI — 1990-yillardan beri HPC klasterlarida standart bo'lgan xabar almashinuv interfeysi. mpirun -np 8 python train.py buyrug'i 8 ta jarayonni ishga tushiradi, har biri MPI.COMM_WORLD.Get_rank() orqali o'z rankini bilib oladi. PyTorch bilan MPI ikki yo'l bilan birlashadi: torch.distributed ning MPI backend'i orqali yoki Horovod kutubxonasi orqali (Horovod MPI yoki Gloo ustida NCCL all-reduce'ni ishlatadi). MPI'ning afzalligi — Slurm kabi klaster menejerlari bilan mukammal integratsiya va InfiniBand'dagi puxta sozlangan kollektivlar; kamchiligi — Python ekotizimi bilan nisbatan qo'pol integratsiya va nosozlikka chidamlilikning yo'qligi (bitta jarayon tushsa, butun ish to'xtaydi).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bo'lim to'liq bajariladigan laboratoriya topshirig'idir. Topshiriq ikki qismdan iborat: (A) DDP bilan taqsimlangan o'qitish va masshtablash jadvalini to'ldirish; (B) taqsimlangan inferens o'tkazuvchanligini o'lchash. Qo'shimcha (C) qismida Ray Train bilan qayta amalga oshirish taklif qilinadi.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bo'lim to'liq bajariladigan laboratoriya topshirig'idir. Topshiriq ikki qismdan iborat: (A) DDP bilan taqsimlangan o'qitish va masshtablash jadvalini to'ldirish; (B) taqsimlangan inferens o'tkazuvchanligini o'lchash. Qo'shimcha (C) qismida Ray Train bilan qayta amalga oshirish taklif qilinadi.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Apparat: kamida 2 ta NVIDIA GPU'li bitta server (laboratoriyada 4 × RTX 3090 yoki 4 × A100 tavsiya etiladi). Agar bitta GPU bo'lsa, Gloo backend bilan CPU'da 2–4 jarayon ishlatib, mantiqni tekshirish mumkin (unumdorlik o'lchovlari bu holda ma'nosiz bo'ladi).</a:t>
            </a:r>
          </a:p>
          <a:p/>
          <a:p>
            <a:r>
              <a:t>Dasturiy ta'minot: Ubuntu 22.04, NVIDIA drayver 535+, CUDA 12.x, Python 3.10+, PyTorch 2.3+ (pip install torch torchvision), nvidia-smi ishlashi.</a:t>
            </a:r>
          </a:p>
          <a:p/>
          <a:p>
            <a:r>
              <a:t>Ma'lumotlar: CIFAR-10 (torchvision avtomatik yuklaydi, 170 MB). Vaqtni tejash uchun 10 000 ta tasvirdan iborat qismi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Ikki tugunli variant uchun: ikkala server bir xil tarmoqda, bir xil PyTorch versiyasi, 29500-port ochiq.</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taqqoslash uchun asos (baseline) kerak. train_ddp.py skripti shunday yoziladiki, u torchrun siz oddiy Python skripti sifatida ham ishlaydi (world_size=1).</a:t>
            </a:r>
          </a:p>
          <a:p/>
          <a:p>
            <a:r>
              <a:t>Nima bo'ldi va nega. Skript bitta jarayonda ishladi, world=1, DDP o'rami qo'llanilmadi. Chiqishda har epoxa uchun vaqt va img/s chiqdi. Birinchi epoxa odatda sekinroq bo'ladi (cuDNN avtomatik sozlash, ma'lumotlar keshi), shuning uchun o'lchov uchun 2- va 3-epoxa o'rtachasi olinadi. RTX 3090 da ResNet-18, paket 128 uchun taxminan 2 300–2 700 img/s kutiladi (taxminiy raqam). Bu qiymat jadvalda T(1) bo'lib xizmat qiladi.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taqqoslash uchun asos (baseline) kerak. train_ddp.py skripti shunday yoziladiki, u torchrun siz oddiy Python skripti sifatida ham ishlaydi (world_size=1).</a:t>
            </a:r>
          </a:p>
          <a:p/>
          <a:p>
            <a:r>
              <a:t>Ishga tushirish:</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Ishga tushirish:</a:t>
            </a:r>
          </a:p>
          <a:p/>
          <a:p>
            <a:r>
              <a:t>Nima bo'ldi va nega. Skript bitta jarayonda ishladi, world=1, DDP o'rami qo'llanilmadi. Chiqishda har epoxa uchun vaqt va img/s chiqdi. Birinchi epoxa odatda sekinroq bo'ladi (cuDNN avtomatik sozlash, ma'lumotlar keshi), shuning uchun o'lchov uchun 2- va 3-epoxa o'rtachasi olinadi. RTX 3090 da ResNet-18, paket 128 uchun taxminan 2 300–2 700 img/s kutiladi (taxminiy raqam). Bu qiymat jadvalda T(1) bo'lib xizmat qiladi.</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torchrun har bir GPU uchun alohida jarayon yaratdi va RANK, LOCAL_RANK, WORLD_SIZE, MASTER_ADDR, MASTER_PORT muhit o'zgaruvchilarini o'rnatdi; skript ularni ko'rib NCCL guruhini boshladi. --standalone bayrog'i bitta tugun uchun rendezvous serverini avtomatik ko'taradi. Har bir GPU 128 tadan paket oladi, demak global paket 256 yoki 512 ga teng — bu kuchsiz masshtablash rejimi. Eng muhimi — DistributedSampler tufayli 10 000 tasvir GPU'lar orasida bo'lindi, shuning uchun epoxa vaqti deyarli N baravar qisqarishi kerak. Agar qisqarmasa, ko'pincha sabab DataLoader ishchilari (CPU) yoki disk tezligi bo'ladi: 4 GPU × 4 ishchi = 16 ta CPU jarayoni JPEG dekodlash bilan band bo'ladi.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O'lchov vaqtida nvidia-smi dmon -s u buyrug'i bilan GPU bandligini kuzating: agar GPU-Util 60% dan past bo'lsa, bottleneck ma'lumotlar quvurida.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torchrun har bir GPU uchun alohida jarayon yaratdi va RANK, LOCAL_RANK, WORLD_SIZE, MASTER_ADDR, MASTER_PORT muhit o'zgaruvchilarini o'rnatdi; skript ularni ko'rib NCCL guruhini boshladi. --standalone bayrog'i bitta tugun uchun rendezvous serverini avtomatik ko'taradi. Har bir GPU 128 tadan paket oladi, demak global paket 256 yoki 512 ga teng — bu kuchsiz masshtablash rejimi. Eng muhimi — DistributedSampler tufayli 10 000 tasvir GPU'lar orasida bo'lindi, shuning uchun epoxa vaqti deyarli N baravar qisqarishi kerak. Agar qisqarmasa, ko'pincha sabab DataLoader ishchilari (CPU) yoki disk tezligi bo'ladi: 4 GPU × 4 ishchi = 16 ta CPU jarayoni JPEG dekodlash bilan band bo'ladi.</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Jadvalda ncclKernel_AllReduce_ qatorlarining umumiy CUDA vaqti ko'rinadi. Uni T_step ga bo'lib kommunikatsiya ulushini topamiz. 4 × RTX 3090 (PCIe 4.0, NVLink yo'q) konfiguratsiyasida ResNet-18 uchun bu ulush odatda 8–15% ni tashkil qiladi; A100 NVLink'da 3–5% gacha tushadi. Agar ulush 30% dan oshsa — chelak hajmini oshirish yoki gradient to'plashni qo'llash kerak.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Jadvalda ncclKernel_AllReduce_ qatorlarining umumiy CUDA vaqti ko'rinadi. Uni T_step ga bo'lib kommunikatsiya ulushini topamiz. 4 × RTX 3090 (PCIe 4.0, NVLink yo'q) konfiguratsiyasida ResNet-18 uchun bu ulush odatda 8–15% ni tashkil qiladi; A100 NVLink'da 3–5% gacha tushadi. Agar ulush 30% dan oshsa — chelak hajmini oshirish yoki gradient to'plashni qo'llash kerak.</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Foydali muhit o'zgaruvchilari: NCCL_DEBUG=INFO (NCCL qaysi interfeys va algoritmni tanlaganini ko'rsatadi), NCCL_SOCKET_IFNAME=eth0 (to'g'ri tarmoq kartasini majburlash), NCCL_IB_DISABLE=1 (InfiniBand yo'q bo'lsa).</a:t>
            </a:r>
          </a:p>
          <a:p/>
          <a:p>
            <a:r>
              <a:t>Nima bo'ldi va nega. Endi world_size=4, lekin 2 ta GPU juftligi oddiy Ethernet orqali bog'langan. All-reduce'ning bir qismi tarmoq orqali o'tadi, shuning uchun samaradorlik sezilarli tushadi. 10 Gbit/s tarmoqda ResNet-18 (45 MB gradient) uchun qadam sayin ~70 ms kommunikatsiya qo'shiladi — bu hisoblash vaqtiga (~50 ms) yaqin, demak samaradorlik 50–60% gacha tushishi tabiiy. Bu natija «yomon» emas, u tarmoqning cheklovchi omil ekanini ko'rsatadi va hisobotda shunday talqin qilinishi kerak.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Ikki serverda (masalan, 10.10.0.71 va 10.10.0.72) bir xil kod va muhit bo'lsa:</a:t>
            </a:r>
          </a:p>
          <a:p/>
          <a:p>
            <a:r>
              <a:t>Foydali muhit o'zgaruvchilari: NCCL_DEBUG=INFO (NCCL qaysi interfeys va algoritmni tanlaganini ko'rsatadi), NCCL_SOCKET_IFNAME=eth0 (to'g'ri tarmoq kartasini majburlash), NCCL_IB_DISABLE=1 (InfiniBand yo'q bo'lsa).</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Inferensda gradient yo'q, demak qadam sayin all-reduce ham yo'q; yagona kommunikatsiya — oxirida natijalarni yig'ish. Shu sababli parallel inferens o'qitishga qaraganda ancha yaxshi masshtablanadi (90–98%). Lekin e'tibor bering: DistributedSampler ma'lumotlar soni world_size ga bo'linmasa, oxirgi namunalarni takrorlab to'ldiradi — aniqlik hisoblashda bu kichik xato beradi; ishlab chiqarishda indekslar bo'yicha deduplikatsiya qilinadi. Ikkinchi muhim kuzatuv: GPU'ni to'yintirish uchun paket 256 etarli, lekin so'rovlar bittadan keladigan onlayn xizmatda bunday paketlash mumkin emas — u holda dinamik paketlash (dynamic batching, Triton Inference Server) yoki Ray Serve replikalari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Inferensda gradient yo'q, demak qadam sayin all-reduce ham yo'q; yagona kommunikatsiya — oxirida natijalarni yig'ish. Shu sababli parallel inferens o'qitishga qaraganda ancha yaxshi masshtablanadi (90–98%). Lekin e'tibor bering: DistributedSampler ma'lumotlar soni world_size ga bo'linmasa, oxirgi namunalarni takrorlab to'ldiradi — aniqlik hisoblashda bu kichik xato beradi; ishlab chiqarishda indekslar bo'yicha deduplikatsiya qilinadi. Ikkinchi muhim kuzatuv: GPU'ni to'yintirish uchun paket 256 etarli, lekin so'rovlar bittadan keladigan onlayn xizmatda bunday paketlash mumkin emas — u holda dinamik paketlash (dynamic batching, Triton Inference Server) yoki Ray Serve replikalari ishlatiladi.</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Kod hajmi qisqardi: prepare_model va prepare_data_loader DDP o'rami, qurilmaga ko'chirish va DistributedSamplerni avtomatik qo'shdi; ScalingConfig ishchilar sonini bildiradi; ikki tugunli klaster uchun kodni o'zgartirish shart emas — faqat ray start --head / ray start --address=... buyruqlari bilan klaster yig'iladi. Evaziga Ray'ning o'z jarayonlari xotira oladi va birinchi ishga tushish 10–20 soniya sekinroq.</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Kod hajmi qisqardi: prepare_model va prepare_data_loader DDP o'rami, qurilmaga ko'chirish va DistributedSamplerni avtomatik qo'shdi; ScalingConfig ishchilar sonini bildiradi; ikki tugunli klaster uchun kodni o'zgartirish shart emas — faqat ray start --head / ray start --address=... buyruqlari bilan klaster yig'iladi. Evaziga Ray'ning o'z jarayonlari xotira oladi va birinchi ishga tushish 10–20 soniya sekinroq.</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jadval 4 × RTX 3090 (PCIe 4.0, NVLink yo'q), ResNet-18, CIFAR-10, paket 128/GPU, BF16 autocast konfiguratsiyasi uchun taxminiy kutilgan qiymatlardir; talaba o'z o'lchovlarini aynan shu shaklda keltiradi.</a:t>
            </a:r>
          </a:p>
          <a:p/>
          <a:p>
            <a:r>
              <a:t>Jadvalda tezlashish S(N) = T(1)/T(N) epoxa vaqtlari bo'yicha (kuchsiz masshtablash rejimida img/s nisbati bilan bir xil ma'noni beradi) hisoblangan.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jadval 4 × RTX 3090 (PCIe 4.0, NVLink yo'q), ResNet-18, CIFAR-10, paket 128/GPU, BF16 autocast konfiguratsiyasi uchun taxminiy kutilgan qiymatlardir; talaba o'z o'lchovlarini aynan shu shaklda keltiradi.</a:t>
            </a:r>
          </a:p>
          <a:p/>
          <a:p>
            <a:r>
              <a:t>Jadvalda tezlashish S(N) = T(1)/T(N) epoxa vaqtlari bo'yicha (kuchsiz masshtablash rejimida img/s nisbati bilan bir xil ma'noni beradi) hisoblangan.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Muhit tavsifi: GPU modeli va soni, ulanish topologiyasi (nvidia-smi topo -m chiqishi), drayver/CUDA/PyTorch versiyalari, tarmoq turi.</a:t>
            </a:r>
          </a:p>
          <a:p/>
          <a:p>
            <a:r>
              <a:t>Bajarilgan buyruqlar va skriptning o'zgartirilgan qismlari (to'liq kod ilovada).</a:t>
            </a:r>
          </a:p>
          <a:p/>
          <a:p>
            <a:r>
              <a:t>To'ldirilgan masshtablash jadvali (yuqoridagi shaklda) va img/s ni GPU soniga bog'liq grafigi (matplotlib).</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Profiler jadvali fragmenti va kommunikatsiya ulushi hisobi.</a:t>
            </a:r>
          </a:p>
          <a:p/>
          <a:p>
            <a:r>
              <a:t>Tahlil: samaradorlik pasayishining sabablari, bottleneck, kamida 2 ta takomillashtirish taklifi va ulardan bittasining sinovi.</a:t>
            </a:r>
          </a:p>
          <a:p/>
          <a:p>
            <a:r>
              <a:t>Xulosa va javob berilgan nazorat savollari (kamida 3 ta).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balldan past — qayta topshirish; 60–74 — qoniqarli; 75–89 — yaxshi; 90–100 — a'lo.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balldan past — qayta topshirish; 60–74 — qoniqarli; 75–89 — yaxshi; 90–100 — a'lo.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jadvaldagi raqamlar bir nechta muhim xulosaga olib keladi. Birinchidan, bitta tugun ichida DDP samaradorligi GPU soni ortishi bilan asta-sekin pasayadi (93% → 83%): bunga ikki omil sabab — all-reduce hajmining har GPU uchun o'zgarmasligi va PCIe orqali 4 ta GPU bir vaqtda almashinuvi (NVLink bo'lmaganda PCIe kommutatori umumiy o'tkazuvchanlikni bo'lib beradi). ResNet-18 kabi kichik model uchun kommunikatsiya ulushi nisbatan katta, chunki hisoblash juda tez; ResNet-50 yoki ViT-B kabi og'irroq modellarda hisoblash vaqti ortib, nisbiy kommunikatsiya ulushi kamayadi va samaradorlik aksincha yuqoriroq chiqadi — bu «kattaroq model yaxshiroq masshtablanadi» paradoksi.</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jadvaldagi raqamlar bir nechta muhim xulosaga olib keladi. Birinchidan, bitta tugun ichida DDP samaradorligi GPU soni ortishi bilan asta-sekin pasayadi (93% → 83%): bunga ikki omil sabab — all-reduce hajmining har GPU uchun o'zgarmasligi va PCIe orqali 4 ta GPU bir vaqtda almashinuvi (NVLink bo'lmaganda PCIe kommutatori umumiy o'tkazuvchanlikni bo'lib beradi). ResNet-18 kabi kichik model uchun kommunikatsiya ulushi nisbatan katta, chunki hisoblash juda tez; ResNet-50 yoki ViT-B kabi og'irroq modellarda hisoblash vaqti ortib, nisbiy kommunikatsiya ulushi kamayadi va samaradorlik aksincha yuqoriroq chiqadi — bu «kattaroq model yaxshiroq masshtablanadi» paradoksi.</a:t>
            </a:r>
          </a:p>
          <a:p/>
          <a:p>
            <a:r>
              <a:t>Ikkinchidan, tugunlararo konfiguratsiya 10 GbE tarmoqda samaradorlikni ikki baravar yo'qotadi. Bu natijadan «ko'p tugun foydasiz» degan xulosa chiqmaydi; to'g'ri xulosa — tarmoq o'tkazuvchanligi hisoblash tezligiga mos kelishi kerak. Sanoat klasterlarida har GPU uchun 200–400 Gbit/s InfiniBand yoki RoCE ajratiladi va NCCL GPUDirect RDMA orqali CPU'ni chetlab o'tadi. Agar tez tarmoq bo'lmasa, gradient to'plash (masalan, 4 mikro-paketdan keyin bitta all-reduce) kommunikatsiya chastotasini 4 baravar kamaytiradi va samaradorlikni 51% dan 75–80% gacha ko'tarishi mumkin — bu talabaning sinovdan o'tkazishi kerak bo'lgan takliflardan biri.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Uchinchidan, parallel inferens deyarli ideal masshtablanadi, chunki jarayonlar o'rtasida qadam sayin sinxronizatsiya yo'q. Bu «noqulay parallel» (embarrassingly parallel) masala sinfiga kiradi. Biroq real xizmatda cheklov boshqa joyda — so'rovlarning kelishi notekis, paketlash kechikishni oshiradi va modelni har GPU'da nusxalash xotirani isrof qiladi. Shuning uchun inferens tizimlari o'lchovida img/s bilan birga p50/p99 kechikish ham keltirilishi shart.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Cheklovlar va muqobillar: mashg'ulotda model bitta GPU'ga bemalol sig'adi, shuning uchun FSDP yoki tensor parallellik zaruriyati yuzaga kelmadi. Model 7B+ parametrga yetganda DDP ishlamay qoladi — har GPU'da to'liq nusxa saqlanmaydi — va FSDP (torch.distributed.fsdp.FullyShardedDataParallel) yoki DeepSpeed ZeRO-3 kerak bo'ladi; ular parametrlarni bo'lib saqlaydi, lekin har qatlam oldidan all-gather qilib, kommunikatsiyani 1.5 baravar oshiradi. Shuningdek, bu yerda sinxron SGD ishlatildi; asinxron usullar (parametr-server, mahalliy SGD) sekin ishchilarga chidamli, lekin yaqinlashish kafolati zaifroq.</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set_epoch chaqirilmaydi. Natijada har epoxada bir xil aralashtirish, model sifati sezilarli pasayadi, lekin hech qanday xato chiqmaydi. Har doim sampler.set_epoch(epoch) ni epoxa boshida chaqiring.</a:t>
            </a:r>
          </a:p>
          <a:p/>
          <a:p>
            <a:r>
              <a:t>O'rganish tezligi masshtablanmaydi. Global paket 4 baravar oshganda LR o'zgarmasa, yaqinlashish sekinlashadi; chiziqli qoida (lr  world_size) va 3–5 epoxali isitish standart amaliyot. Juda katta paketlarda (8k+) LARS/LAMB optimizatorlari kerak.</a:t>
            </a:r>
          </a:p>
          <a:p/>
          <a:p>
            <a:r>
              <a:t>Barcha ranklar fayl yozadi yoki log chiqaradi. Checkpoint faqat rank == 0 da saqlanishi, print va TensorBoard yozuvlari ham faqat bitta rankdan bo'lishi kerak; aks holda fayl buziladi va loglar 4 baravar takrorlanadi.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DDP o'ramidan keyin model.module unutiladi. model.state_dict() DDP o'ramida module. prefiksi bilan saqlanadi; yuklashda mos kelmaslik xatosi chiqadi. model.module.state_dict() ni saqlang yoki yuklashda prefiksni olib tashlang.</a:t>
            </a:r>
          </a:p>
          <a:p/>
          <a:p>
            <a:r>
              <a:t>GPU vaqtini time.time() bilan sinxronlashsiz o'lchash. CUDA asinxron — torch.cuda.synchronize() siz o'lchov faqat kernel navbatga qo'yilgan vaqtni ko'rsatadi. Barcha o'lchovlardan oldin va keyin sinxronlang, isitish iteratsiyalarini chiqarib tashlang.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Osilib qolgan (hang) jarayonlar. Bir rankda istisno chiqsa, boshqalar all-reduce'da abadiy kutadi. torchrun bu holatni aniqlab, barcha jarayonlarni to'xtatadi, lekin qo'lda mp.spawn ishlatganda timeout va NCCL_ASYNC_ERROR_HANDLING=1 sozlang. Shartli kod yo'llari (if rank == 0: dist.all_reduce(...)) hech qachon yozilmasin — kollektivlar barcha ranklarda chaqirilishi shart.</a:t>
            </a:r>
          </a:p>
          <a:p/>
          <a:p>
            <a:r>
              <a:t>NCCL noto'g'ri interfeysni tanlaydi. Ikki tugunli ishga tushirishda Docker ko'prigi yoki VPN interfeysi tanlansa, tezlik 100 baravar pasayadi. NCCL_DEBUG=INFO bilan tekshiring, NCCL_SOCKET_IFNAME ni aniq ko'rsating.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Ma'lumotlar quvuri bottleneck. GPU bandligi past bo'lsa, num_workers ni oshiring, tasvirlarni oldindan o'lchamini o'zgartirib saqlang, NVIDIA DALI yoki FFCV kabi tezlatilgan yuklovchilarni sinang. Taqsimlangan tizimda bu muammo GPU soniga proporsional kuchayadi.</a:t>
            </a:r>
          </a:p>
          <a:p/>
          <a:p>
            <a:r>
              <a:t>Takrorlanuvchanlik. Har o'lchovni kamida 3 marta takrorlang, median qiymatni keltiring; GPU chastotasi va harorati (nvidia-smi -q -d CLOCK) o'lchovlar orasida farq qilishi mumkin.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6900000" y="14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0000" y="19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00000" y="195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00000" y="1950000"/>
            <a:ext cx="1633333"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900000"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00000"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00000"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0000"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00000" y="1466666"/>
            <a:ext cx="1633333"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900000" y="2433333"/>
            <a:ext cx="1633333"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900000" y="43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900000" y="48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533333" y="1466666"/>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33333" y="4366666"/>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166666" y="14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166666" y="1466666"/>
            <a:ext cx="1633334"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166666" y="19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166666" y="2433333"/>
            <a:ext cx="1633334"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166666" y="195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166666" y="340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66666" y="43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0166666" y="1950000"/>
            <a:ext cx="1633334"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166666" y="3400000"/>
            <a:ext cx="1633334"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68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8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8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438333" y="13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38333" y="23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438333" y="3305000"/>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438333" y="4271666"/>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438333" y="5238333"/>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071666" y="1371666"/>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71666" y="2338333"/>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071666" y="330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071666" y="42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071666" y="52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7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7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7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700000" y="1350000"/>
            <a:ext cx="3600000" cy="3600000"/>
          </a:xfrm>
          <a:prstGeom prst="ellipse">
            <a:avLst/>
          </a:prstGeom>
          <a:noFill/>
          <a:ln w="381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550000" y="1200000"/>
            <a:ext cx="3900000" cy="3900000"/>
          </a:xfrm>
          <a:prstGeom prst="ellipse">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ac1ddc7e985ce9a3.jpg"/>
          <p:cNvPicPr>
            <a:picLocks noChangeAspect="1"/>
          </p:cNvPicPr>
          <p:nvPr/>
        </p:nvPicPr>
        <p:blipFill>
          <a:blip r:embed="rId2"/>
          <a:srcRect l="27045" r="27045"/>
          <a:stretch>
            <a:fillRect/>
          </a:stretch>
        </p:blipFill>
        <p:spPr>
          <a:xfrm>
            <a:off x="7850000" y="1500000"/>
            <a:ext cx="3300000" cy="3300000"/>
          </a:xfrm>
          <a:prstGeom prst="ellipse">
            <a:avLst/>
          </a:prstGeom>
          <a:ln w="19050">
            <a:solidFill>
              <a:srgbClr val="22D3EE"/>
            </a:solidFill>
          </a:ln>
        </p:spPr>
      </p:pic>
      <p:sp>
        <p:nvSpPr>
          <p:cNvPr id="57" name="TextBox 56"/>
          <p:cNvSpPr txBox="1"/>
          <p:nvPr/>
        </p:nvSpPr>
        <p:spPr>
          <a:xfrm>
            <a:off x="6900000" y="6350000"/>
            <a:ext cx="5000000" cy="260000"/>
          </a:xfrm>
          <a:prstGeom prst="rect">
            <a:avLst/>
          </a:prstGeom>
          <a:noFill/>
        </p:spPr>
        <p:txBody>
          <a:bodyPr wrap="square" anchor="t" lIns="50800" rIns="50800">
            <a:spAutoFit/>
          </a:bodyPr>
          <a:lstStyle/>
          <a:p>
            <a:pPr algn="r"/>
            <a:r>
              <a:rPr sz="800" b="0">
                <a:solidFill>
                  <a:srgbClr val="707EAA"/>
                </a:solidFill>
                <a:latin typeface="Segoe UI"/>
              </a:rPr>
              <a:t>Rasm: User de:User:FreeMO on de.wikipedia · Wikimedia Commons · Public domain</a:t>
            </a:r>
          </a:p>
        </p:txBody>
      </p:sp>
      <p:sp>
        <p:nvSpPr>
          <p:cNvPr id="58" name="Rounded Rectangle 57"/>
          <p:cNvSpPr/>
          <p:nvPr/>
        </p:nvSpPr>
        <p:spPr>
          <a:xfrm>
            <a:off x="700000" y="1250000"/>
            <a:ext cx="3400000" cy="400000"/>
          </a:xfrm>
          <a:prstGeom prst="round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2D3EE"/>
                </a:solidFill>
                <a:latin typeface="Segoe UI"/>
              </a:rPr>
              <a:t>LABORATORIYA ISHI · A5 · 2 soat</a:t>
            </a:r>
          </a:p>
        </p:txBody>
      </p:sp>
      <p:sp>
        <p:nvSpPr>
          <p:cNvPr id="59" name="TextBox 58"/>
          <p:cNvSpPr txBox="1"/>
          <p:nvPr/>
        </p:nvSpPr>
        <p:spPr>
          <a:xfrm>
            <a:off x="700000" y="650000"/>
            <a:ext cx="6400000" cy="500000"/>
          </a:xfrm>
          <a:prstGeom prst="rect">
            <a:avLst/>
          </a:prstGeom>
          <a:noFill/>
        </p:spPr>
        <p:txBody>
          <a:bodyPr wrap="square" anchor="t" lIns="50800" rIns="50800">
            <a:spAutoFit/>
          </a:bodyPr>
          <a:lstStyle/>
          <a:p>
            <a:pPr algn="l"/>
            <a:r>
              <a:rPr sz="1400" b="0">
                <a:solidFill>
                  <a:srgbClr val="AEBBD9"/>
                </a:solidFill>
                <a:latin typeface="Segoe UI"/>
              </a:rPr>
              <a:t>Sun'iy intellektga asoslangan kompyuter tizimlari muhandisligi</a:t>
            </a:r>
          </a:p>
        </p:txBody>
      </p:sp>
      <p:sp>
        <p:nvSpPr>
          <p:cNvPr id="60" name="TextBox 59"/>
          <p:cNvSpPr txBox="1"/>
          <p:nvPr/>
        </p:nvSpPr>
        <p:spPr>
          <a:xfrm>
            <a:off x="700000" y="1850000"/>
            <a:ext cx="6400000" cy="2700000"/>
          </a:xfrm>
          <a:prstGeom prst="rect">
            <a:avLst/>
          </a:prstGeom>
          <a:noFill/>
        </p:spPr>
        <p:txBody>
          <a:bodyPr wrap="square" anchor="t" lIns="50800" rIns="50800">
            <a:spAutoFit/>
          </a:bodyPr>
          <a:lstStyle/>
          <a:p>
            <a:pPr algn="l"/>
            <a:r>
              <a:rPr sz="3600" b="1">
                <a:solidFill>
                  <a:srgbClr val="E8EEFA"/>
                </a:solidFill>
                <a:latin typeface="Segoe UI"/>
              </a:rPr>
              <a:t>Taqsimlangan sun'iy intellekt tizimlarini ishlab chiqish</a:t>
            </a:r>
          </a:p>
        </p:txBody>
      </p:sp>
      <p:sp>
        <p:nvSpPr>
          <p:cNvPr id="61" name="Rectangle 60"/>
          <p:cNvSpPr/>
          <p:nvPr/>
        </p:nvSpPr>
        <p:spPr>
          <a:xfrm>
            <a:off x="760000" y="4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0000" y="4850000"/>
            <a:ext cx="6400000" cy="1200000"/>
          </a:xfrm>
          <a:prstGeom prst="rect">
            <a:avLst/>
          </a:prstGeom>
          <a:noFill/>
        </p:spPr>
        <p:txBody>
          <a:bodyPr wrap="square" anchor="t" lIns="50800" rIns="50800">
            <a:spAutoFit/>
          </a:bodyPr>
          <a:lstStyle/>
          <a:p>
            <a:pPr algn="l"/>
            <a:r>
              <a:rPr sz="1400" b="0">
                <a:solidFill>
                  <a:srgbClr val="AEBBD9"/>
                </a:solidFill>
                <a:latin typeface="Segoe UI"/>
              </a:rPr>
              <a:t>O‘qituvchi: S.Iskandarova, t.f.f.d. (PhD), dotsent</a:t>
            </a:r>
          </a:p>
          <a:p>
            <a:pPr algn="l"/>
            <a:r>
              <a:rPr sz="1400" b="0">
                <a:solidFill>
                  <a:srgbClr val="AEBBD9"/>
                </a:solidFill>
                <a:latin typeface="Segoe UI"/>
              </a:rPr>
              <a:t>2026-2027 o‘quv yili</a:t>
            </a:r>
          </a:p>
          <a:p>
            <a:pPr algn="l"/>
            <a:r>
              <a:rPr sz="1400" b="0">
                <a:solidFill>
                  <a:srgbClr val="AEBBD9"/>
                </a:solidFill>
                <a:latin typeface="Segoe U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200"/>
                            </p:stCondLst>
                            <p:childTnLst>
                              <p:par>
                                <p:cTn id="208" presetID="53" presetClass="entr" presetSubtype="16" fill="hold" grpId="0" nodeType="afterEffect">
                                  <p:stCondLst>
                                    <p:cond delay="0"/>
                                  </p:stCondLst>
                                  <p:childTnLst>
                                    <p:set>
                                      <p:cBhvr>
                                        <p:cTn id="209" dur="1" fill="hold">
                                          <p:stCondLst>
                                            <p:cond delay="0"/>
                                          </p:stCondLst>
                                        </p:cTn>
                                        <p:tgtEl>
                                          <p:spTgt spid="55"/>
                                        </p:tgtEl>
                                        <p:attrNameLst>
                                          <p:attrName>style.visibility</p:attrName>
                                        </p:attrNameLst>
                                      </p:cBhvr>
                                      <p:to>
                                        <p:strVal val="visible"/>
                                      </p:to>
                                    </p:set>
                                    <p:animEffect transition="in" filter="fade">
                                      <p:cBhvr>
                                        <p:cTn id="210" dur="550"/>
                                        <p:tgtEl>
                                          <p:spTgt spid="55"/>
                                        </p:tgtEl>
                                      </p:cBhvr>
                                    </p:animEffect>
                                    <p:anim calcmode="lin" valueType="num">
                                      <p:cBhvr additive="base">
                                        <p:cTn id="211" dur="550" fill="hold"/>
                                        <p:tgtEl>
                                          <p:spTgt spid="55"/>
                                        </p:tgtEl>
                                        <p:attrNameLst>
                                          <p:attrName>ppt_w</p:attrName>
                                        </p:attrNameLst>
                                      </p:cBhvr>
                                      <p:tavLst>
                                        <p:tav tm="0">
                                          <p:val>
                                            <p:strVal val="0"/>
                                          </p:val>
                                        </p:tav>
                                        <p:tav tm="100000">
                                          <p:val>
                                            <p:strVal val="#ppt_w"/>
                                          </p:val>
                                        </p:tav>
                                      </p:tavLst>
                                    </p:anim>
                                    <p:anim calcmode="lin" valueType="num">
                                      <p:cBhvr additive="base">
                                        <p:cTn id="212" dur="550" fill="hold"/>
                                        <p:tgtEl>
                                          <p:spTgt spid="55"/>
                                        </p:tgtEl>
                                        <p:attrNameLst>
                                          <p:attrName>ppt_h</p:attrName>
                                        </p:attrNameLst>
                                      </p:cBhvr>
                                      <p:tavLst>
                                        <p:tav tm="0">
                                          <p:val>
                                            <p:strVal val="0"/>
                                          </p:val>
                                        </p:tav>
                                        <p:tav tm="100000">
                                          <p:val>
                                            <p:strVal val="#ppt_h"/>
                                          </p:val>
                                        </p:tav>
                                      </p:tavLst>
                                    </p:anim>
                                  </p:childTnLst>
                                </p:cTn>
                              </p:par>
                            </p:childTnLst>
                          </p:cTn>
                        </p:par>
                        <p:par>
                          <p:cTn id="213" fill="hold">
                            <p:stCondLst>
                              <p:cond delay="200"/>
                            </p:stCondLst>
                            <p:childTnLst>
                              <p:par>
                                <p:cTn id="214" presetID="53" presetClass="entr" presetSubtype="16" fill="hold" grpId="0" nodeType="afterEffect">
                                  <p:stCondLst>
                                    <p:cond delay="0"/>
                                  </p:stCondLst>
                                  <p:childTnLst>
                                    <p:set>
                                      <p:cBhvr>
                                        <p:cTn id="215" dur="1" fill="hold">
                                          <p:stCondLst>
                                            <p:cond delay="0"/>
                                          </p:stCondLst>
                                        </p:cTn>
                                        <p:tgtEl>
                                          <p:spTgt spid="54"/>
                                        </p:tgtEl>
                                        <p:attrNameLst>
                                          <p:attrName>style.visibility</p:attrName>
                                        </p:attrNameLst>
                                      </p:cBhvr>
                                      <p:to>
                                        <p:strVal val="visible"/>
                                      </p:to>
                                    </p:set>
                                    <p:animEffect transition="in" filter="fade">
                                      <p:cBhvr>
                                        <p:cTn id="216" dur="550"/>
                                        <p:tgtEl>
                                          <p:spTgt spid="54"/>
                                        </p:tgtEl>
                                      </p:cBhvr>
                                    </p:animEffect>
                                    <p:anim calcmode="lin" valueType="num">
                                      <p:cBhvr additive="base">
                                        <p:cTn id="217" dur="550" fill="hold"/>
                                        <p:tgtEl>
                                          <p:spTgt spid="54"/>
                                        </p:tgtEl>
                                        <p:attrNameLst>
                                          <p:attrName>ppt_w</p:attrName>
                                        </p:attrNameLst>
                                      </p:cBhvr>
                                      <p:tavLst>
                                        <p:tav tm="0">
                                          <p:val>
                                            <p:strVal val="0"/>
                                          </p:val>
                                        </p:tav>
                                        <p:tav tm="100000">
                                          <p:val>
                                            <p:strVal val="#ppt_w"/>
                                          </p:val>
                                        </p:tav>
                                      </p:tavLst>
                                    </p:anim>
                                    <p:anim calcmode="lin" valueType="num">
                                      <p:cBhvr additive="base">
                                        <p:cTn id="218" dur="550" fill="hold"/>
                                        <p:tgtEl>
                                          <p:spTgt spid="54"/>
                                        </p:tgtEl>
                                        <p:attrNameLst>
                                          <p:attrName>ppt_h</p:attrName>
                                        </p:attrNameLst>
                                      </p:cBhvr>
                                      <p:tavLst>
                                        <p:tav tm="0">
                                          <p:val>
                                            <p:strVal val="0"/>
                                          </p:val>
                                        </p:tav>
                                        <p:tav tm="100000">
                                          <p:val>
                                            <p:strVal val="#ppt_h"/>
                                          </p:val>
                                        </p:tav>
                                      </p:tavLst>
                                    </p:anim>
                                  </p:childTnLst>
                                </p:cTn>
                              </p:par>
                            </p:childTnLst>
                          </p:cTn>
                        </p:par>
                        <p:par>
                          <p:cTn id="219" fill="hold">
                            <p:stCondLst>
                              <p:cond delay="200"/>
                            </p:stCondLst>
                            <p:childTnLst>
                              <p:par>
                                <p:cTn id="220" presetID="53" presetClass="entr" presetSubtype="16" fill="hold" grpId="0" nodeType="afterEffect">
                                  <p:stCondLst>
                                    <p:cond delay="0"/>
                                  </p:stCondLst>
                                  <p:childTnLst>
                                    <p:set>
                                      <p:cBhvr>
                                        <p:cTn id="221" dur="1" fill="hold">
                                          <p:stCondLst>
                                            <p:cond delay="0"/>
                                          </p:stCondLst>
                                        </p:cTn>
                                        <p:tgtEl>
                                          <p:spTgt spid="56"/>
                                        </p:tgtEl>
                                        <p:attrNameLst>
                                          <p:attrName>style.visibility</p:attrName>
                                        </p:attrNameLst>
                                      </p:cBhvr>
                                      <p:to>
                                        <p:strVal val="visible"/>
                                      </p:to>
                                    </p:set>
                                    <p:animEffect transition="in" filter="fade">
                                      <p:cBhvr>
                                        <p:cTn id="222" dur="550"/>
                                        <p:tgtEl>
                                          <p:spTgt spid="56"/>
                                        </p:tgtEl>
                                      </p:cBhvr>
                                    </p:animEffect>
                                    <p:anim calcmode="lin" valueType="num">
                                      <p:cBhvr additive="base">
                                        <p:cTn id="223" dur="550" fill="hold"/>
                                        <p:tgtEl>
                                          <p:spTgt spid="56"/>
                                        </p:tgtEl>
                                        <p:attrNameLst>
                                          <p:attrName>ppt_w</p:attrName>
                                        </p:attrNameLst>
                                      </p:cBhvr>
                                      <p:tavLst>
                                        <p:tav tm="0">
                                          <p:val>
                                            <p:strVal val="0"/>
                                          </p:val>
                                        </p:tav>
                                        <p:tav tm="100000">
                                          <p:val>
                                            <p:strVal val="#ppt_w"/>
                                          </p:val>
                                        </p:tav>
                                      </p:tavLst>
                                    </p:anim>
                                    <p:anim calcmode="lin" valueType="num">
                                      <p:cBhvr additive="base">
                                        <p:cTn id="224" dur="550" fill="hold"/>
                                        <p:tgtEl>
                                          <p:spTgt spid="56"/>
                                        </p:tgtEl>
                                        <p:attrNameLst>
                                          <p:attrName>ppt_h</p:attrName>
                                        </p:attrNameLst>
                                      </p:cBhvr>
                                      <p:tavLst>
                                        <p:tav tm="0">
                                          <p:val>
                                            <p:strVal val="0"/>
                                          </p:val>
                                        </p:tav>
                                        <p:tav tm="100000">
                                          <p:val>
                                            <p:strVal val="#ppt_h"/>
                                          </p:val>
                                        </p:tav>
                                      </p:tavLst>
                                    </p:anim>
                                  </p:childTnLst>
                                </p:cTn>
                              </p:par>
                            </p:childTnLst>
                          </p:cTn>
                        </p:par>
                        <p:par>
                          <p:cTn id="225" fill="hold">
                            <p:stCondLst>
                              <p:cond delay="200"/>
                            </p:stCondLst>
                            <p:childTnLst>
                              <p:par>
                                <p:cTn id="226" presetID="10" presetClass="entr" presetSubtype="0" fill="hold" grpId="0" nodeType="afterEffect">
                                  <p:stCondLst>
                                    <p:cond delay="0"/>
                                  </p:stCondLst>
                                  <p:childTnLst>
                                    <p:set>
                                      <p:cBhvr>
                                        <p:cTn id="227" dur="1" fill="hold">
                                          <p:stCondLst>
                                            <p:cond delay="0"/>
                                          </p:stCondLst>
                                        </p:cTn>
                                        <p:tgtEl>
                                          <p:spTgt spid="57"/>
                                        </p:tgtEl>
                                        <p:attrNameLst>
                                          <p:attrName>style.visibility</p:attrName>
                                        </p:attrNameLst>
                                      </p:cBhvr>
                                      <p:to>
                                        <p:strVal val="visible"/>
                                      </p:to>
                                    </p:set>
                                    <p:animEffect transition="in" filter="fade">
                                      <p:cBhvr>
                                        <p:cTn id="228" dur="550"/>
                                        <p:tgtEl>
                                          <p:spTgt spid="57"/>
                                        </p:tgtEl>
                                      </p:cBhvr>
                                    </p:animEffect>
                                  </p:childTnLst>
                                </p:cTn>
                              </p:par>
                            </p:childTnLst>
                          </p:cTn>
                        </p:par>
                        <p:par>
                          <p:cTn id="229" fill="hold">
                            <p:stCondLst>
                              <p:cond delay="350"/>
                            </p:stCondLst>
                            <p:childTnLst>
                              <p:par>
                                <p:cTn id="230" presetID="10" presetClass="entr" presetSubtype="0" fill="hold" grpId="0" nodeType="afterEffect">
                                  <p:stCondLst>
                                    <p:cond delay="0"/>
                                  </p:stCondLst>
                                  <p:childTnLst>
                                    <p:set>
                                      <p:cBhvr>
                                        <p:cTn id="231" dur="1" fill="hold">
                                          <p:stCondLst>
                                            <p:cond delay="0"/>
                                          </p:stCondLst>
                                        </p:cTn>
                                        <p:tgtEl>
                                          <p:spTgt spid="59"/>
                                        </p:tgtEl>
                                        <p:attrNameLst>
                                          <p:attrName>style.visibility</p:attrName>
                                        </p:attrNameLst>
                                      </p:cBhvr>
                                      <p:to>
                                        <p:strVal val="visible"/>
                                      </p:to>
                                    </p:set>
                                    <p:animEffect transition="in" filter="fade">
                                      <p:cBhvr>
                                        <p:cTn id="232" dur="550"/>
                                        <p:tgtEl>
                                          <p:spTgt spid="59"/>
                                        </p:tgtEl>
                                      </p:cBhvr>
                                    </p:animEffect>
                                  </p:childTnLst>
                                </p:cTn>
                              </p:par>
                            </p:childTnLst>
                          </p:cTn>
                        </p:par>
                        <p:par>
                          <p:cTn id="233" fill="hold">
                            <p:stCondLst>
                              <p:cond delay="500"/>
                            </p:stCondLst>
                            <p:childTnLst>
                              <p:par>
                                <p:cTn id="234" presetID="2" presetClass="entr" presetSubtype="8" fill="hold" grpId="0" nodeType="afterEffect">
                                  <p:stCondLst>
                                    <p:cond delay="0"/>
                                  </p:stCondLst>
                                  <p:childTnLst>
                                    <p:set>
                                      <p:cBhvr>
                                        <p:cTn id="235" dur="1" fill="hold">
                                          <p:stCondLst>
                                            <p:cond delay="0"/>
                                          </p:stCondLst>
                                        </p:cTn>
                                        <p:tgtEl>
                                          <p:spTgt spid="58"/>
                                        </p:tgtEl>
                                        <p:attrNameLst>
                                          <p:attrName>style.visibility</p:attrName>
                                        </p:attrNameLst>
                                      </p:cBhvr>
                                      <p:to>
                                        <p:strVal val="visible"/>
                                      </p:to>
                                    </p:set>
                                    <p:anim calcmode="lin" valueType="num">
                                      <p:cBhvr additive="base">
                                        <p:cTn id="237" dur="550" fill="hold"/>
                                        <p:tgtEl>
                                          <p:spTgt spid="58"/>
                                        </p:tgtEl>
                                        <p:attrNameLst>
                                          <p:attrName>ppt_x</p:attrName>
                                        </p:attrNameLst>
                                      </p:cBhvr>
                                      <p:tavLst>
                                        <p:tav tm="0">
                                          <p:val>
                                            <p:strVal val="0-#ppt_w/2"/>
                                          </p:val>
                                        </p:tav>
                                        <p:tav tm="100000">
                                          <p:val>
                                            <p:strVal val="#ppt_x"/>
                                          </p:val>
                                        </p:tav>
                                      </p:tavLst>
                                    </p:anim>
                                    <p:anim calcmode="lin" valueType="num">
                                      <p:cBhvr additive="base">
                                        <p:cTn id="238" dur="550" fill="hold"/>
                                        <p:tgtEl>
                                          <p:spTgt spid="58"/>
                                        </p:tgtEl>
                                        <p:attrNameLst>
                                          <p:attrName>ppt_y</p:attrName>
                                        </p:attrNameLst>
                                      </p:cBhvr>
                                      <p:tavLst>
                                        <p:tav tm="0">
                                          <p:val>
                                            <p:strVal val="#ppt_y"/>
                                          </p:val>
                                        </p:tav>
                                        <p:tav tm="100000">
                                          <p:val>
                                            <p:strVal val="#ppt_y"/>
                                          </p:val>
                                        </p:tav>
                                      </p:tavLst>
                                    </p:anim>
                                  </p:childTnLst>
                                </p:cTn>
                              </p:par>
                            </p:childTnLst>
                          </p:cTn>
                        </p:par>
                        <p:par>
                          <p:cTn id="239" fill="hold">
                            <p:stCondLst>
                              <p:cond delay="650"/>
                            </p:stCondLst>
                            <p:childTnLst>
                              <p:par>
                                <p:cTn id="240" presetID="42" presetClass="entr" presetSubtype="0" fill="hold" grpId="0" nodeType="afterEffect">
                                  <p:stCondLst>
                                    <p:cond delay="0"/>
                                  </p:stCondLst>
                                  <p:childTnLst>
                                    <p:set>
                                      <p:cBhvr>
                                        <p:cTn id="241" dur="1" fill="hold">
                                          <p:stCondLst>
                                            <p:cond delay="0"/>
                                          </p:stCondLst>
                                        </p:cTn>
                                        <p:tgtEl>
                                          <p:spTgt spid="60"/>
                                        </p:tgtEl>
                                        <p:attrNameLst>
                                          <p:attrName>style.visibility</p:attrName>
                                        </p:attrNameLst>
                                      </p:cBhvr>
                                      <p:to>
                                        <p:strVal val="visible"/>
                                      </p:to>
                                    </p:set>
                                    <p:animEffect transition="in" filter="fade">
                                      <p:cBhvr>
                                        <p:cTn id="242" dur="550"/>
                                        <p:tgtEl>
                                          <p:spTgt spid="60"/>
                                        </p:tgtEl>
                                      </p:cBhvr>
                                    </p:animEffect>
                                    <p:anim calcmode="lin" valueType="num">
                                      <p:cBhvr additive="base">
                                        <p:cTn id="243" dur="550" fill="hold"/>
                                        <p:tgtEl>
                                          <p:spTgt spid="60"/>
                                        </p:tgtEl>
                                        <p:attrNameLst>
                                          <p:attrName>ppt_x</p:attrName>
                                        </p:attrNameLst>
                                      </p:cBhvr>
                                      <p:tavLst>
                                        <p:tav tm="0">
                                          <p:val>
                                            <p:strVal val="#ppt_x"/>
                                          </p:val>
                                        </p:tav>
                                        <p:tav tm="100000">
                                          <p:val>
                                            <p:strVal val="#ppt_x"/>
                                          </p:val>
                                        </p:tav>
                                      </p:tavLst>
                                    </p:anim>
                                    <p:anim calcmode="lin" valueType="num">
                                      <p:cBhvr additive="base">
                                        <p:cTn id="244" dur="550" fill="hold"/>
                                        <p:tgtEl>
                                          <p:spTgt spid="60"/>
                                        </p:tgtEl>
                                        <p:attrNameLst>
                                          <p:attrName>ppt_y</p:attrName>
                                        </p:attrNameLst>
                                      </p:cBhvr>
                                      <p:tavLst>
                                        <p:tav tm="0">
                                          <p:val>
                                            <p:strVal val="#ppt_y+.08"/>
                                          </p:val>
                                        </p:tav>
                                        <p:tav tm="100000">
                                          <p:val>
                                            <p:strVal val="#ppt_y"/>
                                          </p:val>
                                        </p:tav>
                                      </p:tavLst>
                                    </p:anim>
                                  </p:childTnLst>
                                </p:cTn>
                              </p:par>
                            </p:childTnLst>
                          </p:cTn>
                        </p:par>
                        <p:par>
                          <p:cTn id="245" fill="hold">
                            <p:stCondLst>
                              <p:cond delay="800"/>
                            </p:stCondLst>
                            <p:childTnLst>
                              <p:par>
                                <p:cTn id="246" presetID="22" presetClass="entr" presetSubtype="8" fill="hold" grpId="0" nodeType="afterEffect">
                                  <p:stCondLst>
                                    <p:cond delay="0"/>
                                  </p:stCondLst>
                                  <p:childTnLst>
                                    <p:set>
                                      <p:cBhvr>
                                        <p:cTn id="247" dur="1" fill="hold">
                                          <p:stCondLst>
                                            <p:cond delay="0"/>
                                          </p:stCondLst>
                                        </p:cTn>
                                        <p:tgtEl>
                                          <p:spTgt spid="61"/>
                                        </p:tgtEl>
                                        <p:attrNameLst>
                                          <p:attrName>style.visibility</p:attrName>
                                        </p:attrNameLst>
                                      </p:cBhvr>
                                      <p:to>
                                        <p:strVal val="visible"/>
                                      </p:to>
                                    </p:set>
                                    <p:animEffect transition="in" filter="wipe(left)">
                                      <p:cBhvr>
                                        <p:cTn id="249" dur="800"/>
                                        <p:tgtEl>
                                          <p:spTgt spid="61"/>
                                        </p:tgtEl>
                                      </p:cBhvr>
                                    </p:animEffect>
                                  </p:childTnLst>
                                </p:cTn>
                              </p:par>
                            </p:childTnLst>
                          </p:cTn>
                        </p:par>
                        <p:par>
                          <p:cTn id="250" fill="hold">
                            <p:stCondLst>
                              <p:cond delay="950"/>
                            </p:stCondLst>
                            <p:childTnLst>
                              <p:par>
                                <p:cTn id="251" presetID="10" presetClass="entr" presetSubtype="0" fill="hold" grpId="0" nodeType="afterEffect">
                                  <p:stCondLst>
                                    <p:cond delay="0"/>
                                  </p:stCondLst>
                                  <p:childTnLst>
                                    <p:set>
                                      <p:cBhvr>
                                        <p:cTn id="252" dur="1" fill="hold">
                                          <p:stCondLst>
                                            <p:cond delay="0"/>
                                          </p:stCondLst>
                                        </p:cTn>
                                        <p:tgtEl>
                                          <p:spTgt spid="62"/>
                                        </p:tgtEl>
                                        <p:attrNameLst>
                                          <p:attrName>style.visibility</p:attrName>
                                        </p:attrNameLst>
                                      </p:cBhvr>
                                      <p:to>
                                        <p:strVal val="visible"/>
                                      </p:to>
                                    </p:set>
                                    <p:animEffect transition="in" filter="fade">
                                      <p:cBhvr>
                                        <p:cTn id="253" dur="5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5" grpId="0" animBg="1"/>
      <p:bldP spid="54" grpId="0" animBg="1"/>
      <p:bldP spid="57" grpId="0" animBg="1"/>
      <p:bldP spid="59" grpId="0" animBg="1"/>
      <p:bldP spid="58" grpId="0" animBg="1"/>
      <p:bldP spid="60" grpId="0" animBg="1"/>
      <p:bldP spid="61" grpId="0" animBg="1"/>
      <p:bldP spid="62"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LABORATORIYA REJASI</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Reja</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a:t>
            </a:r>
          </a:p>
        </p:txBody>
      </p:sp>
      <p:sp>
        <p:nvSpPr>
          <p:cNvPr id="23" name="Rounded Rectangle 22"/>
          <p:cNvSpPr/>
          <p:nvPr/>
        </p:nvSpPr>
        <p:spPr>
          <a:xfrm>
            <a:off x="550000" y="195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0000" y="2035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0000" y="2035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6" name="TextBox 25"/>
          <p:cNvSpPr txBox="1"/>
          <p:nvPr/>
        </p:nvSpPr>
        <p:spPr>
          <a:xfrm>
            <a:off x="1300000" y="1995000"/>
            <a:ext cx="10250000" cy="440000"/>
          </a:xfrm>
          <a:prstGeom prst="rect">
            <a:avLst/>
          </a:prstGeom>
          <a:noFill/>
        </p:spPr>
        <p:txBody>
          <a:bodyPr wrap="square" anchor="ctr">
            <a:spAutoFit/>
          </a:bodyPr>
          <a:lstStyle/>
          <a:p>
            <a:r>
              <a:rPr sz="1600" b="0">
                <a:solidFill>
                  <a:srgbClr val="E8EEFA"/>
                </a:solidFill>
                <a:latin typeface="Segoe UI"/>
              </a:rPr>
              <a:t>Mavzuning maqsadi va o'rganish natijalari</a:t>
            </a:r>
          </a:p>
        </p:txBody>
      </p:sp>
      <p:sp>
        <p:nvSpPr>
          <p:cNvPr id="27" name="Rounded Rectangle 26"/>
          <p:cNvSpPr/>
          <p:nvPr/>
        </p:nvSpPr>
        <p:spPr>
          <a:xfrm>
            <a:off x="550000" y="258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665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665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0" name="TextBox 29"/>
          <p:cNvSpPr txBox="1"/>
          <p:nvPr/>
        </p:nvSpPr>
        <p:spPr>
          <a:xfrm>
            <a:off x="1300000" y="2625000"/>
            <a:ext cx="10250000" cy="440000"/>
          </a:xfrm>
          <a:prstGeom prst="rect">
            <a:avLst/>
          </a:prstGeom>
          <a:noFill/>
        </p:spPr>
        <p:txBody>
          <a:bodyPr wrap="square" anchor="ctr">
            <a:spAutoFit/>
          </a:bodyPr>
          <a:lstStyle/>
          <a:p>
            <a:r>
              <a:rPr sz="1600" b="0">
                <a:solidFill>
                  <a:srgbClr val="E8EEFA"/>
                </a:solidFill>
                <a:latin typeface="Segoe UI"/>
              </a:rPr>
              <a:t>Kirish</a:t>
            </a:r>
          </a:p>
        </p:txBody>
      </p:sp>
      <p:sp>
        <p:nvSpPr>
          <p:cNvPr id="31" name="Rounded Rectangle 30"/>
          <p:cNvSpPr/>
          <p:nvPr/>
        </p:nvSpPr>
        <p:spPr>
          <a:xfrm>
            <a:off x="550000" y="321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295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295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4" name="TextBox 33"/>
          <p:cNvSpPr txBox="1"/>
          <p:nvPr/>
        </p:nvSpPr>
        <p:spPr>
          <a:xfrm>
            <a:off x="1300000" y="3255000"/>
            <a:ext cx="10250000" cy="440000"/>
          </a:xfrm>
          <a:prstGeom prst="rect">
            <a:avLst/>
          </a:prstGeom>
          <a:noFill/>
        </p:spPr>
        <p:txBody>
          <a:bodyPr wrap="square" anchor="ctr">
            <a:spAutoFit/>
          </a:bodyPr>
          <a:lstStyle/>
          <a:p>
            <a:r>
              <a:rPr sz="1600" b="0">
                <a:solidFill>
                  <a:srgbClr val="E8EEFA"/>
                </a:solidFill>
                <a:latin typeface="Segoe UI"/>
              </a:rPr>
              <a:t>Nazariy asoslar</a:t>
            </a:r>
          </a:p>
        </p:txBody>
      </p:sp>
      <p:sp>
        <p:nvSpPr>
          <p:cNvPr id="35" name="Rounded Rectangle 34"/>
          <p:cNvSpPr/>
          <p:nvPr/>
        </p:nvSpPr>
        <p:spPr>
          <a:xfrm>
            <a:off x="550000" y="384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0000" y="3925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0000" y="3925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8" name="TextBox 37"/>
          <p:cNvSpPr txBox="1"/>
          <p:nvPr/>
        </p:nvSpPr>
        <p:spPr>
          <a:xfrm>
            <a:off x="1300000" y="3885000"/>
            <a:ext cx="10250000" cy="440000"/>
          </a:xfrm>
          <a:prstGeom prst="rect">
            <a:avLst/>
          </a:prstGeom>
          <a:noFill/>
        </p:spPr>
        <p:txBody>
          <a:bodyPr wrap="square" anchor="ctr">
            <a:spAutoFit/>
          </a:bodyPr>
          <a:lstStyle/>
          <a:p>
            <a:r>
              <a:rPr sz="1600" b="0">
                <a:solidFill>
                  <a:srgbClr val="E8EEFA"/>
                </a:solidFill>
                <a:latin typeface="Segoe UI"/>
              </a:rPr>
              <a:t>Amaliy misol</a:t>
            </a:r>
          </a:p>
        </p:txBody>
      </p:sp>
      <p:sp>
        <p:nvSpPr>
          <p:cNvPr id="39" name="Rounded Rectangle 38"/>
          <p:cNvSpPr/>
          <p:nvPr/>
        </p:nvSpPr>
        <p:spPr>
          <a:xfrm>
            <a:off x="550000" y="447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50000" y="4555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60000" y="4555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42" name="TextBox 41"/>
          <p:cNvSpPr txBox="1"/>
          <p:nvPr/>
        </p:nvSpPr>
        <p:spPr>
          <a:xfrm>
            <a:off x="1300000" y="4515000"/>
            <a:ext cx="10250000" cy="440000"/>
          </a:xfrm>
          <a:prstGeom prst="rect">
            <a:avLst/>
          </a:prstGeom>
          <a:noFill/>
        </p:spPr>
        <p:txBody>
          <a:bodyPr wrap="square" anchor="ctr">
            <a:spAutoFit/>
          </a:bodyPr>
          <a:lstStyle/>
          <a:p>
            <a:r>
              <a:rPr sz="1600" b="0">
                <a:solidFill>
                  <a:srgbClr val="E8EEFA"/>
                </a:solidFill>
                <a:latin typeface="Segoe UI"/>
              </a:rPr>
              <a:t>Natijalarni tahlil qilish</a:t>
            </a:r>
          </a:p>
        </p:txBody>
      </p:sp>
      <p:sp>
        <p:nvSpPr>
          <p:cNvPr id="43" name="Rounded Rectangle 42"/>
          <p:cNvSpPr/>
          <p:nvPr/>
        </p:nvSpPr>
        <p:spPr>
          <a:xfrm>
            <a:off x="550000" y="510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50000" y="5185000"/>
            <a:ext cx="50000" cy="360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60000" y="5185000"/>
            <a:ext cx="360000" cy="36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46" name="TextBox 45"/>
          <p:cNvSpPr txBox="1"/>
          <p:nvPr/>
        </p:nvSpPr>
        <p:spPr>
          <a:xfrm>
            <a:off x="1300000" y="5145000"/>
            <a:ext cx="10250000" cy="440000"/>
          </a:xfrm>
          <a:prstGeom prst="rect">
            <a:avLst/>
          </a:prstGeom>
          <a:noFill/>
        </p:spPr>
        <p:txBody>
          <a:bodyPr wrap="square" anchor="ctr">
            <a:spAutoFit/>
          </a:bodyPr>
          <a:lstStyle/>
          <a:p>
            <a:r>
              <a:rPr sz="1600" b="0">
                <a:solidFill>
                  <a:srgbClr val="E8EEFA"/>
                </a:solidFill>
                <a:latin typeface="Segoe UI"/>
              </a:rPr>
              <a:t>Keng tarqalgan xatolar va amaliy tavsiyalar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ppt_x</p:attrName>
                                        </p:attrNameLst>
                                      </p:cBhvr>
                                      <p:tavLst>
                                        <p:tav tm="0">
                                          <p:val>
                                            <p:strVal val="#ppt_x"/>
                                          </p:val>
                                        </p:tav>
                                        <p:tav tm="100000">
                                          <p:val>
                                            <p:strVal val="#ppt_x"/>
                                          </p:val>
                                        </p:tav>
                                      </p:tavLst>
                                    </p:anim>
                                    <p:anim calcmode="lin" valueType="num">
                                      <p:cBhvr additive="base">
                                        <p:cTn id="17" dur="550" fill="hold"/>
                                        <p:tgtEl>
                                          <p:spTgt spid="23"/>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ppt_x</p:attrName>
                                        </p:attrNameLst>
                                      </p:cBhvr>
                                      <p:tavLst>
                                        <p:tav tm="0">
                                          <p:val>
                                            <p:strVal val="#ppt_x"/>
                                          </p:val>
                                        </p:tav>
                                        <p:tav tm="100000">
                                          <p:val>
                                            <p:strVal val="#ppt_x"/>
                                          </p:val>
                                        </p:tav>
                                      </p:tavLst>
                                    </p:anim>
                                    <p:anim calcmode="lin" valueType="num">
                                      <p:cBhvr additive="base">
                                        <p:cTn id="23" dur="550" fill="hold"/>
                                        <p:tgtEl>
                                          <p:spTgt spid="24"/>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anim calcmode="lin" valueType="num">
                                      <p:cBhvr additive="base">
                                        <p:cTn id="28" dur="550" fill="hold"/>
                                        <p:tgtEl>
                                          <p:spTgt spid="25"/>
                                        </p:tgtEl>
                                        <p:attrNameLst>
                                          <p:attrName>ppt_w</p:attrName>
                                        </p:attrNameLst>
                                      </p:cBhvr>
                                      <p:tavLst>
                                        <p:tav tm="0">
                                          <p:val>
                                            <p:strVal val="0"/>
                                          </p:val>
                                        </p:tav>
                                        <p:tav tm="100000">
                                          <p:val>
                                            <p:strVal val="#ppt_w"/>
                                          </p:val>
                                        </p:tav>
                                      </p:tavLst>
                                    </p:anim>
                                    <p:anim calcmode="lin" valueType="num">
                                      <p:cBhvr additive="base">
                                        <p:cTn id="29" dur="550" fill="hold"/>
                                        <p:tgtEl>
                                          <p:spTgt spid="25"/>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50"/>
                                        <p:tgtEl>
                                          <p:spTgt spid="26"/>
                                        </p:tgtEl>
                                      </p:cBhvr>
                                    </p:animEffect>
                                    <p:anim calcmode="lin" valueType="num">
                                      <p:cBhvr additive="base">
                                        <p:cTn id="34" dur="550" fill="hold"/>
                                        <p:tgtEl>
                                          <p:spTgt spid="26"/>
                                        </p:tgtEl>
                                        <p:attrNameLst>
                                          <p:attrName>ppt_x</p:attrName>
                                        </p:attrNameLst>
                                      </p:cBhvr>
                                      <p:tavLst>
                                        <p:tav tm="0">
                                          <p:val>
                                            <p:strVal val="#ppt_x"/>
                                          </p:val>
                                        </p:tav>
                                        <p:tav tm="100000">
                                          <p:val>
                                            <p:strVal val="#ppt_x"/>
                                          </p:val>
                                        </p:tav>
                                      </p:tavLst>
                                    </p:anim>
                                    <p:anim calcmode="lin" valueType="num">
                                      <p:cBhvr additive="base">
                                        <p:cTn id="35" dur="550" fill="hold"/>
                                        <p:tgtEl>
                                          <p:spTgt spid="26"/>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50"/>
                                        <p:tgtEl>
                                          <p:spTgt spid="27"/>
                                        </p:tgtEl>
                                      </p:cBhvr>
                                    </p:animEffect>
                                    <p:anim calcmode="lin" valueType="num">
                                      <p:cBhvr additive="base">
                                        <p:cTn id="40" dur="550" fill="hold"/>
                                        <p:tgtEl>
                                          <p:spTgt spid="27"/>
                                        </p:tgtEl>
                                        <p:attrNameLst>
                                          <p:attrName>ppt_x</p:attrName>
                                        </p:attrNameLst>
                                      </p:cBhvr>
                                      <p:tavLst>
                                        <p:tav tm="0">
                                          <p:val>
                                            <p:strVal val="#ppt_x"/>
                                          </p:val>
                                        </p:tav>
                                        <p:tav tm="100000">
                                          <p:val>
                                            <p:strVal val="#ppt_x"/>
                                          </p:val>
                                        </p:tav>
                                      </p:tavLst>
                                    </p:anim>
                                    <p:anim calcmode="lin" valueType="num">
                                      <p:cBhvr additive="base">
                                        <p:cTn id="41" dur="550" fill="hold"/>
                                        <p:tgtEl>
                                          <p:spTgt spid="27"/>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50"/>
                                        <p:tgtEl>
                                          <p:spTgt spid="28"/>
                                        </p:tgtEl>
                                      </p:cBhvr>
                                    </p:animEffect>
                                    <p:anim calcmode="lin" valueType="num">
                                      <p:cBhvr additive="base">
                                        <p:cTn id="46" dur="550" fill="hold"/>
                                        <p:tgtEl>
                                          <p:spTgt spid="28"/>
                                        </p:tgtEl>
                                        <p:attrNameLst>
                                          <p:attrName>ppt_x</p:attrName>
                                        </p:attrNameLst>
                                      </p:cBhvr>
                                      <p:tavLst>
                                        <p:tav tm="0">
                                          <p:val>
                                            <p:strVal val="#ppt_x"/>
                                          </p:val>
                                        </p:tav>
                                        <p:tav tm="100000">
                                          <p:val>
                                            <p:strVal val="#ppt_x"/>
                                          </p:val>
                                        </p:tav>
                                      </p:tavLst>
                                    </p:anim>
                                    <p:anim calcmode="lin" valueType="num">
                                      <p:cBhvr additive="base">
                                        <p:cTn id="47" dur="550" fill="hold"/>
                                        <p:tgtEl>
                                          <p:spTgt spid="28"/>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50"/>
                                        <p:tgtEl>
                                          <p:spTgt spid="29"/>
                                        </p:tgtEl>
                                      </p:cBhvr>
                                    </p:animEffect>
                                    <p:anim calcmode="lin" valueType="num">
                                      <p:cBhvr additive="base">
                                        <p:cTn id="52" dur="550" fill="hold"/>
                                        <p:tgtEl>
                                          <p:spTgt spid="29"/>
                                        </p:tgtEl>
                                        <p:attrNameLst>
                                          <p:attrName>ppt_w</p:attrName>
                                        </p:attrNameLst>
                                      </p:cBhvr>
                                      <p:tavLst>
                                        <p:tav tm="0">
                                          <p:val>
                                            <p:strVal val="0"/>
                                          </p:val>
                                        </p:tav>
                                        <p:tav tm="100000">
                                          <p:val>
                                            <p:strVal val="#ppt_w"/>
                                          </p:val>
                                        </p:tav>
                                      </p:tavLst>
                                    </p:anim>
                                    <p:anim calcmode="lin" valueType="num">
                                      <p:cBhvr additive="base">
                                        <p:cTn id="53" dur="550" fill="hold"/>
                                        <p:tgtEl>
                                          <p:spTgt spid="29"/>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50"/>
                                        <p:tgtEl>
                                          <p:spTgt spid="30"/>
                                        </p:tgtEl>
                                      </p:cBhvr>
                                    </p:animEffect>
                                    <p:anim calcmode="lin" valueType="num">
                                      <p:cBhvr additive="base">
                                        <p:cTn id="58" dur="550" fill="hold"/>
                                        <p:tgtEl>
                                          <p:spTgt spid="30"/>
                                        </p:tgtEl>
                                        <p:attrNameLst>
                                          <p:attrName>ppt_x</p:attrName>
                                        </p:attrNameLst>
                                      </p:cBhvr>
                                      <p:tavLst>
                                        <p:tav tm="0">
                                          <p:val>
                                            <p:strVal val="#ppt_x"/>
                                          </p:val>
                                        </p:tav>
                                        <p:tav tm="100000">
                                          <p:val>
                                            <p:strVal val="#ppt_x"/>
                                          </p:val>
                                        </p:tav>
                                      </p:tavLst>
                                    </p:anim>
                                    <p:anim calcmode="lin" valueType="num">
                                      <p:cBhvr additive="base">
                                        <p:cTn id="59" dur="550" fill="hold"/>
                                        <p:tgtEl>
                                          <p:spTgt spid="30"/>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50"/>
                                        <p:tgtEl>
                                          <p:spTgt spid="31"/>
                                        </p:tgtEl>
                                      </p:cBhvr>
                                    </p:animEffect>
                                    <p:anim calcmode="lin" valueType="num">
                                      <p:cBhvr additive="base">
                                        <p:cTn id="64" dur="550" fill="hold"/>
                                        <p:tgtEl>
                                          <p:spTgt spid="31"/>
                                        </p:tgtEl>
                                        <p:attrNameLst>
                                          <p:attrName>ppt_x</p:attrName>
                                        </p:attrNameLst>
                                      </p:cBhvr>
                                      <p:tavLst>
                                        <p:tav tm="0">
                                          <p:val>
                                            <p:strVal val="#ppt_x"/>
                                          </p:val>
                                        </p:tav>
                                        <p:tav tm="100000">
                                          <p:val>
                                            <p:strVal val="#ppt_x"/>
                                          </p:val>
                                        </p:tav>
                                      </p:tavLst>
                                    </p:anim>
                                    <p:anim calcmode="lin" valueType="num">
                                      <p:cBhvr additive="base">
                                        <p:cTn id="65" dur="550" fill="hold"/>
                                        <p:tgtEl>
                                          <p:spTgt spid="31"/>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50"/>
                                        <p:tgtEl>
                                          <p:spTgt spid="32"/>
                                        </p:tgtEl>
                                      </p:cBhvr>
                                    </p:animEffect>
                                    <p:anim calcmode="lin" valueType="num">
                                      <p:cBhvr additive="base">
                                        <p:cTn id="70" dur="550" fill="hold"/>
                                        <p:tgtEl>
                                          <p:spTgt spid="32"/>
                                        </p:tgtEl>
                                        <p:attrNameLst>
                                          <p:attrName>ppt_x</p:attrName>
                                        </p:attrNameLst>
                                      </p:cBhvr>
                                      <p:tavLst>
                                        <p:tav tm="0">
                                          <p:val>
                                            <p:strVal val="#ppt_x"/>
                                          </p:val>
                                        </p:tav>
                                        <p:tav tm="100000">
                                          <p:val>
                                            <p:strVal val="#ppt_x"/>
                                          </p:val>
                                        </p:tav>
                                      </p:tavLst>
                                    </p:anim>
                                    <p:anim calcmode="lin" valueType="num">
                                      <p:cBhvr additive="base">
                                        <p:cTn id="71" dur="550" fill="hold"/>
                                        <p:tgtEl>
                                          <p:spTgt spid="32"/>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50"/>
                                        <p:tgtEl>
                                          <p:spTgt spid="33"/>
                                        </p:tgtEl>
                                      </p:cBhvr>
                                    </p:animEffect>
                                    <p:anim calcmode="lin" valueType="num">
                                      <p:cBhvr additive="base">
                                        <p:cTn id="76" dur="550" fill="hold"/>
                                        <p:tgtEl>
                                          <p:spTgt spid="33"/>
                                        </p:tgtEl>
                                        <p:attrNameLst>
                                          <p:attrName>ppt_w</p:attrName>
                                        </p:attrNameLst>
                                      </p:cBhvr>
                                      <p:tavLst>
                                        <p:tav tm="0">
                                          <p:val>
                                            <p:strVal val="0"/>
                                          </p:val>
                                        </p:tav>
                                        <p:tav tm="100000">
                                          <p:val>
                                            <p:strVal val="#ppt_w"/>
                                          </p:val>
                                        </p:tav>
                                      </p:tavLst>
                                    </p:anim>
                                    <p:anim calcmode="lin" valueType="num">
                                      <p:cBhvr additive="base">
                                        <p:cTn id="77" dur="550" fill="hold"/>
                                        <p:tgtEl>
                                          <p:spTgt spid="33"/>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50"/>
                                        <p:tgtEl>
                                          <p:spTgt spid="34"/>
                                        </p:tgtEl>
                                      </p:cBhvr>
                                    </p:animEffect>
                                    <p:anim calcmode="lin" valueType="num">
                                      <p:cBhvr additive="base">
                                        <p:cTn id="82" dur="550" fill="hold"/>
                                        <p:tgtEl>
                                          <p:spTgt spid="34"/>
                                        </p:tgtEl>
                                        <p:attrNameLst>
                                          <p:attrName>ppt_x</p:attrName>
                                        </p:attrNameLst>
                                      </p:cBhvr>
                                      <p:tavLst>
                                        <p:tav tm="0">
                                          <p:val>
                                            <p:strVal val="#ppt_x"/>
                                          </p:val>
                                        </p:tav>
                                        <p:tav tm="100000">
                                          <p:val>
                                            <p:strVal val="#ppt_x"/>
                                          </p:val>
                                        </p:tav>
                                      </p:tavLst>
                                    </p:anim>
                                    <p:anim calcmode="lin" valueType="num">
                                      <p:cBhvr additive="base">
                                        <p:cTn id="83" dur="550" fill="hold"/>
                                        <p:tgtEl>
                                          <p:spTgt spid="34"/>
                                        </p:tgtEl>
                                        <p:attrNameLst>
                                          <p:attrName>ppt_y</p:attrName>
                                        </p:attrNameLst>
                                      </p:cBhvr>
                                      <p:tavLst>
                                        <p:tav tm="0">
                                          <p:val>
                                            <p:strVal val="#ppt_y+.08"/>
                                          </p:val>
                                        </p:tav>
                                        <p:tav tm="100000">
                                          <p:val>
                                            <p:strVal val="#ppt_y"/>
                                          </p:val>
                                        </p:tav>
                                      </p:tavLst>
                                    </p:anim>
                                  </p:childTnLst>
                                </p:cTn>
                              </p:par>
                            </p:childTnLst>
                          </p:cTn>
                        </p:par>
                        <p:par>
                          <p:cTn id="84" fill="hold">
                            <p:stCondLst>
                              <p:cond delay="800"/>
                            </p:stCondLst>
                            <p:childTnLst>
                              <p:par>
                                <p:cTn id="85" presetID="42" presetClass="entr" presetSubtype="0" fill="hold" grpId="0" nodeType="after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550"/>
                                        <p:tgtEl>
                                          <p:spTgt spid="35"/>
                                        </p:tgtEl>
                                      </p:cBhvr>
                                    </p:animEffect>
                                    <p:anim calcmode="lin" valueType="num">
                                      <p:cBhvr additive="base">
                                        <p:cTn id="88" dur="550" fill="hold"/>
                                        <p:tgtEl>
                                          <p:spTgt spid="35"/>
                                        </p:tgtEl>
                                        <p:attrNameLst>
                                          <p:attrName>ppt_x</p:attrName>
                                        </p:attrNameLst>
                                      </p:cBhvr>
                                      <p:tavLst>
                                        <p:tav tm="0">
                                          <p:val>
                                            <p:strVal val="#ppt_x"/>
                                          </p:val>
                                        </p:tav>
                                        <p:tav tm="100000">
                                          <p:val>
                                            <p:strVal val="#ppt_x"/>
                                          </p:val>
                                        </p:tav>
                                      </p:tavLst>
                                    </p:anim>
                                    <p:anim calcmode="lin" valueType="num">
                                      <p:cBhvr additive="base">
                                        <p:cTn id="89" dur="550" fill="hold"/>
                                        <p:tgtEl>
                                          <p:spTgt spid="35"/>
                                        </p:tgtEl>
                                        <p:attrNameLst>
                                          <p:attrName>ppt_y</p:attrName>
                                        </p:attrNameLst>
                                      </p:cBhvr>
                                      <p:tavLst>
                                        <p:tav tm="0">
                                          <p:val>
                                            <p:strVal val="#ppt_y+.08"/>
                                          </p:val>
                                        </p:tav>
                                        <p:tav tm="100000">
                                          <p:val>
                                            <p:strVal val="#ppt_y"/>
                                          </p:val>
                                        </p:tav>
                                      </p:tavLst>
                                    </p:anim>
                                  </p:childTnLst>
                                </p:cTn>
                              </p:par>
                            </p:childTnLst>
                          </p:cTn>
                        </p:par>
                        <p:par>
                          <p:cTn id="90" fill="hold">
                            <p:stCondLst>
                              <p:cond delay="800"/>
                            </p:stCondLst>
                            <p:childTnLst>
                              <p:par>
                                <p:cTn id="91" presetID="42" presetClass="entr" presetSubtype="0" fill="hold" grpId="0"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550"/>
                                        <p:tgtEl>
                                          <p:spTgt spid="36"/>
                                        </p:tgtEl>
                                      </p:cBhvr>
                                    </p:animEffect>
                                    <p:anim calcmode="lin" valueType="num">
                                      <p:cBhvr additive="base">
                                        <p:cTn id="94" dur="550" fill="hold"/>
                                        <p:tgtEl>
                                          <p:spTgt spid="36"/>
                                        </p:tgtEl>
                                        <p:attrNameLst>
                                          <p:attrName>ppt_x</p:attrName>
                                        </p:attrNameLst>
                                      </p:cBhvr>
                                      <p:tavLst>
                                        <p:tav tm="0">
                                          <p:val>
                                            <p:strVal val="#ppt_x"/>
                                          </p:val>
                                        </p:tav>
                                        <p:tav tm="100000">
                                          <p:val>
                                            <p:strVal val="#ppt_x"/>
                                          </p:val>
                                        </p:tav>
                                      </p:tavLst>
                                    </p:anim>
                                    <p:anim calcmode="lin" valueType="num">
                                      <p:cBhvr additive="base">
                                        <p:cTn id="95" dur="550" fill="hold"/>
                                        <p:tgtEl>
                                          <p:spTgt spid="36"/>
                                        </p:tgtEl>
                                        <p:attrNameLst>
                                          <p:attrName>ppt_y</p:attrName>
                                        </p:attrNameLst>
                                      </p:cBhvr>
                                      <p:tavLst>
                                        <p:tav tm="0">
                                          <p:val>
                                            <p:strVal val="#ppt_y+.08"/>
                                          </p:val>
                                        </p:tav>
                                        <p:tav tm="100000">
                                          <p:val>
                                            <p:strVal val="#ppt_y"/>
                                          </p:val>
                                        </p:tav>
                                      </p:tavLst>
                                    </p:anim>
                                  </p:childTnLst>
                                </p:cTn>
                              </p:par>
                            </p:childTnLst>
                          </p:cTn>
                        </p:par>
                        <p:par>
                          <p:cTn id="96" fill="hold">
                            <p:stCondLst>
                              <p:cond delay="800"/>
                            </p:stCondLst>
                            <p:childTnLst>
                              <p:par>
                                <p:cTn id="97" presetID="53" presetClass="entr" presetSubtype="16" fill="hold" grpId="0" nodeType="after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50"/>
                                        <p:tgtEl>
                                          <p:spTgt spid="37"/>
                                        </p:tgtEl>
                                      </p:cBhvr>
                                    </p:animEffect>
                                    <p:anim calcmode="lin" valueType="num">
                                      <p:cBhvr additive="base">
                                        <p:cTn id="100" dur="550" fill="hold"/>
                                        <p:tgtEl>
                                          <p:spTgt spid="37"/>
                                        </p:tgtEl>
                                        <p:attrNameLst>
                                          <p:attrName>ppt_w</p:attrName>
                                        </p:attrNameLst>
                                      </p:cBhvr>
                                      <p:tavLst>
                                        <p:tav tm="0">
                                          <p:val>
                                            <p:strVal val="0"/>
                                          </p:val>
                                        </p:tav>
                                        <p:tav tm="100000">
                                          <p:val>
                                            <p:strVal val="#ppt_w"/>
                                          </p:val>
                                        </p:tav>
                                      </p:tavLst>
                                    </p:anim>
                                    <p:anim calcmode="lin" valueType="num">
                                      <p:cBhvr additive="base">
                                        <p:cTn id="101" dur="550" fill="hold"/>
                                        <p:tgtEl>
                                          <p:spTgt spid="37"/>
                                        </p:tgtEl>
                                        <p:attrNameLst>
                                          <p:attrName>ppt_h</p:attrName>
                                        </p:attrNameLst>
                                      </p:cBhvr>
                                      <p:tavLst>
                                        <p:tav tm="0">
                                          <p:val>
                                            <p:strVal val="0"/>
                                          </p:val>
                                        </p:tav>
                                        <p:tav tm="100000">
                                          <p:val>
                                            <p:strVal val="#ppt_h"/>
                                          </p:val>
                                        </p:tav>
                                      </p:tavLst>
                                    </p:anim>
                                  </p:childTnLst>
                                </p:cTn>
                              </p:par>
                            </p:childTnLst>
                          </p:cTn>
                        </p:par>
                        <p:par>
                          <p:cTn id="102" fill="hold">
                            <p:stCondLst>
                              <p:cond delay="800"/>
                            </p:stCondLst>
                            <p:childTnLst>
                              <p:par>
                                <p:cTn id="103" presetID="42" presetClass="entr" presetSubtype="0" fill="hold" grpId="0" nodeType="after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550"/>
                                        <p:tgtEl>
                                          <p:spTgt spid="38"/>
                                        </p:tgtEl>
                                      </p:cBhvr>
                                    </p:animEffect>
                                    <p:anim calcmode="lin" valueType="num">
                                      <p:cBhvr additive="base">
                                        <p:cTn id="106" dur="550" fill="hold"/>
                                        <p:tgtEl>
                                          <p:spTgt spid="38"/>
                                        </p:tgtEl>
                                        <p:attrNameLst>
                                          <p:attrName>ppt_x</p:attrName>
                                        </p:attrNameLst>
                                      </p:cBhvr>
                                      <p:tavLst>
                                        <p:tav tm="0">
                                          <p:val>
                                            <p:strVal val="#ppt_x"/>
                                          </p:val>
                                        </p:tav>
                                        <p:tav tm="100000">
                                          <p:val>
                                            <p:strVal val="#ppt_x"/>
                                          </p:val>
                                        </p:tav>
                                      </p:tavLst>
                                    </p:anim>
                                    <p:anim calcmode="lin" valueType="num">
                                      <p:cBhvr additive="base">
                                        <p:cTn id="107" dur="550" fill="hold"/>
                                        <p:tgtEl>
                                          <p:spTgt spid="38"/>
                                        </p:tgtEl>
                                        <p:attrNameLst>
                                          <p:attrName>ppt_y</p:attrName>
                                        </p:attrNameLst>
                                      </p:cBhvr>
                                      <p:tavLst>
                                        <p:tav tm="0">
                                          <p:val>
                                            <p:strVal val="#ppt_y+.08"/>
                                          </p:val>
                                        </p:tav>
                                        <p:tav tm="100000">
                                          <p:val>
                                            <p:strVal val="#ppt_y"/>
                                          </p:val>
                                        </p:tav>
                                      </p:tavLst>
                                    </p:anim>
                                  </p:childTnLst>
                                </p:cTn>
                              </p:par>
                            </p:childTnLst>
                          </p:cTn>
                        </p:par>
                        <p:par>
                          <p:cTn id="108" fill="hold">
                            <p:stCondLst>
                              <p:cond delay="1000"/>
                            </p:stCondLst>
                            <p:childTnLst>
                              <p:par>
                                <p:cTn id="109" presetID="42" presetClass="entr" presetSubtype="0" fill="hold" grpId="0" nodeType="after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50"/>
                                        <p:tgtEl>
                                          <p:spTgt spid="39"/>
                                        </p:tgtEl>
                                      </p:cBhvr>
                                    </p:animEffect>
                                    <p:anim calcmode="lin" valueType="num">
                                      <p:cBhvr additive="base">
                                        <p:cTn id="112" dur="550" fill="hold"/>
                                        <p:tgtEl>
                                          <p:spTgt spid="39"/>
                                        </p:tgtEl>
                                        <p:attrNameLst>
                                          <p:attrName>ppt_x</p:attrName>
                                        </p:attrNameLst>
                                      </p:cBhvr>
                                      <p:tavLst>
                                        <p:tav tm="0">
                                          <p:val>
                                            <p:strVal val="#ppt_x"/>
                                          </p:val>
                                        </p:tav>
                                        <p:tav tm="100000">
                                          <p:val>
                                            <p:strVal val="#ppt_x"/>
                                          </p:val>
                                        </p:tav>
                                      </p:tavLst>
                                    </p:anim>
                                    <p:anim calcmode="lin" valueType="num">
                                      <p:cBhvr additive="base">
                                        <p:cTn id="113" dur="550" fill="hold"/>
                                        <p:tgtEl>
                                          <p:spTgt spid="39"/>
                                        </p:tgtEl>
                                        <p:attrNameLst>
                                          <p:attrName>ppt_y</p:attrName>
                                        </p:attrNameLst>
                                      </p:cBhvr>
                                      <p:tavLst>
                                        <p:tav tm="0">
                                          <p:val>
                                            <p:strVal val="#ppt_y+.08"/>
                                          </p:val>
                                        </p:tav>
                                        <p:tav tm="100000">
                                          <p:val>
                                            <p:strVal val="#ppt_y"/>
                                          </p:val>
                                        </p:tav>
                                      </p:tavLst>
                                    </p:anim>
                                  </p:childTnLst>
                                </p:cTn>
                              </p:par>
                            </p:childTnLst>
                          </p:cTn>
                        </p:par>
                        <p:par>
                          <p:cTn id="114" fill="hold">
                            <p:stCondLst>
                              <p:cond delay="1000"/>
                            </p:stCondLst>
                            <p:childTnLst>
                              <p:par>
                                <p:cTn id="115" presetID="42" presetClass="entr" presetSubtype="0" fill="hold" grpId="0" nodeType="after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50"/>
                                        <p:tgtEl>
                                          <p:spTgt spid="40"/>
                                        </p:tgtEl>
                                      </p:cBhvr>
                                    </p:animEffect>
                                    <p:anim calcmode="lin" valueType="num">
                                      <p:cBhvr additive="base">
                                        <p:cTn id="118" dur="550" fill="hold"/>
                                        <p:tgtEl>
                                          <p:spTgt spid="40"/>
                                        </p:tgtEl>
                                        <p:attrNameLst>
                                          <p:attrName>ppt_x</p:attrName>
                                        </p:attrNameLst>
                                      </p:cBhvr>
                                      <p:tavLst>
                                        <p:tav tm="0">
                                          <p:val>
                                            <p:strVal val="#ppt_x"/>
                                          </p:val>
                                        </p:tav>
                                        <p:tav tm="100000">
                                          <p:val>
                                            <p:strVal val="#ppt_x"/>
                                          </p:val>
                                        </p:tav>
                                      </p:tavLst>
                                    </p:anim>
                                    <p:anim calcmode="lin" valueType="num">
                                      <p:cBhvr additive="base">
                                        <p:cTn id="119" dur="550" fill="hold"/>
                                        <p:tgtEl>
                                          <p:spTgt spid="40"/>
                                        </p:tgtEl>
                                        <p:attrNameLst>
                                          <p:attrName>ppt_y</p:attrName>
                                        </p:attrNameLst>
                                      </p:cBhvr>
                                      <p:tavLst>
                                        <p:tav tm="0">
                                          <p:val>
                                            <p:strVal val="#ppt_y+.08"/>
                                          </p:val>
                                        </p:tav>
                                        <p:tav tm="100000">
                                          <p:val>
                                            <p:strVal val="#ppt_y"/>
                                          </p:val>
                                        </p:tav>
                                      </p:tavLst>
                                    </p:anim>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550"/>
                                        <p:tgtEl>
                                          <p:spTgt spid="41"/>
                                        </p:tgtEl>
                                      </p:cBhvr>
                                    </p:animEffect>
                                    <p:anim calcmode="lin" valueType="num">
                                      <p:cBhvr additive="base">
                                        <p:cTn id="124" dur="550" fill="hold"/>
                                        <p:tgtEl>
                                          <p:spTgt spid="41"/>
                                        </p:tgtEl>
                                        <p:attrNameLst>
                                          <p:attrName>ppt_w</p:attrName>
                                        </p:attrNameLst>
                                      </p:cBhvr>
                                      <p:tavLst>
                                        <p:tav tm="0">
                                          <p:val>
                                            <p:strVal val="0"/>
                                          </p:val>
                                        </p:tav>
                                        <p:tav tm="100000">
                                          <p:val>
                                            <p:strVal val="#ppt_w"/>
                                          </p:val>
                                        </p:tav>
                                      </p:tavLst>
                                    </p:anim>
                                    <p:anim calcmode="lin" valueType="num">
                                      <p:cBhvr additive="base">
                                        <p:cTn id="125" dur="550" fill="hold"/>
                                        <p:tgtEl>
                                          <p:spTgt spid="41"/>
                                        </p:tgtEl>
                                        <p:attrNameLst>
                                          <p:attrName>ppt_h</p:attrName>
                                        </p:attrNameLst>
                                      </p:cBhvr>
                                      <p:tavLst>
                                        <p:tav tm="0">
                                          <p:val>
                                            <p:strVal val="0"/>
                                          </p:val>
                                        </p:tav>
                                        <p:tav tm="100000">
                                          <p:val>
                                            <p:strVal val="#ppt_h"/>
                                          </p:val>
                                        </p:tav>
                                      </p:tavLst>
                                    </p:anim>
                                  </p:childTnLst>
                                </p:cTn>
                              </p:par>
                            </p:childTnLst>
                          </p:cTn>
                        </p:par>
                        <p:par>
                          <p:cTn id="126" fill="hold">
                            <p:stCondLst>
                              <p:cond delay="1000"/>
                            </p:stCondLst>
                            <p:childTnLst>
                              <p:par>
                                <p:cTn id="127" presetID="42" presetClass="entr" presetSubtype="0" fill="hold" grpId="0" nodeType="afterEffect">
                                  <p:stCondLst>
                                    <p:cond delay="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29" dur="550"/>
                                        <p:tgtEl>
                                          <p:spTgt spid="42"/>
                                        </p:tgtEl>
                                      </p:cBhvr>
                                    </p:animEffect>
                                    <p:anim calcmode="lin" valueType="num">
                                      <p:cBhvr additive="base">
                                        <p:cTn id="130" dur="550" fill="hold"/>
                                        <p:tgtEl>
                                          <p:spTgt spid="42"/>
                                        </p:tgtEl>
                                        <p:attrNameLst>
                                          <p:attrName>ppt_x</p:attrName>
                                        </p:attrNameLst>
                                      </p:cBhvr>
                                      <p:tavLst>
                                        <p:tav tm="0">
                                          <p:val>
                                            <p:strVal val="#ppt_x"/>
                                          </p:val>
                                        </p:tav>
                                        <p:tav tm="100000">
                                          <p:val>
                                            <p:strVal val="#ppt_x"/>
                                          </p:val>
                                        </p:tav>
                                      </p:tavLst>
                                    </p:anim>
                                    <p:anim calcmode="lin" valueType="num">
                                      <p:cBhvr additive="base">
                                        <p:cTn id="131" dur="550" fill="hold"/>
                                        <p:tgtEl>
                                          <p:spTgt spid="42"/>
                                        </p:tgtEl>
                                        <p:attrNameLst>
                                          <p:attrName>ppt_y</p:attrName>
                                        </p:attrNameLst>
                                      </p:cBhvr>
                                      <p:tavLst>
                                        <p:tav tm="0">
                                          <p:val>
                                            <p:strVal val="#ppt_y+.08"/>
                                          </p:val>
                                        </p:tav>
                                        <p:tav tm="100000">
                                          <p:val>
                                            <p:strVal val="#ppt_y"/>
                                          </p:val>
                                        </p:tav>
                                      </p:tavLst>
                                    </p:anim>
                                  </p:childTnLst>
                                </p:cTn>
                              </p:par>
                            </p:childTnLst>
                          </p:cTn>
                        </p:par>
                        <p:par>
                          <p:cTn id="132" fill="hold">
                            <p:stCondLst>
                              <p:cond delay="1200"/>
                            </p:stCondLst>
                            <p:childTnLst>
                              <p:par>
                                <p:cTn id="133" presetID="42" presetClass="entr" presetSubtype="0" fill="hold" grpId="0" nodeType="after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550"/>
                                        <p:tgtEl>
                                          <p:spTgt spid="43"/>
                                        </p:tgtEl>
                                      </p:cBhvr>
                                    </p:animEffect>
                                    <p:anim calcmode="lin" valueType="num">
                                      <p:cBhvr additive="base">
                                        <p:cTn id="136" dur="550" fill="hold"/>
                                        <p:tgtEl>
                                          <p:spTgt spid="43"/>
                                        </p:tgtEl>
                                        <p:attrNameLst>
                                          <p:attrName>ppt_x</p:attrName>
                                        </p:attrNameLst>
                                      </p:cBhvr>
                                      <p:tavLst>
                                        <p:tav tm="0">
                                          <p:val>
                                            <p:strVal val="#ppt_x"/>
                                          </p:val>
                                        </p:tav>
                                        <p:tav tm="100000">
                                          <p:val>
                                            <p:strVal val="#ppt_x"/>
                                          </p:val>
                                        </p:tav>
                                      </p:tavLst>
                                    </p:anim>
                                    <p:anim calcmode="lin" valueType="num">
                                      <p:cBhvr additive="base">
                                        <p:cTn id="137" dur="550" fill="hold"/>
                                        <p:tgtEl>
                                          <p:spTgt spid="43"/>
                                        </p:tgtEl>
                                        <p:attrNameLst>
                                          <p:attrName>ppt_y</p:attrName>
                                        </p:attrNameLst>
                                      </p:cBhvr>
                                      <p:tavLst>
                                        <p:tav tm="0">
                                          <p:val>
                                            <p:strVal val="#ppt_y+.08"/>
                                          </p:val>
                                        </p:tav>
                                        <p:tav tm="100000">
                                          <p:val>
                                            <p:strVal val="#ppt_y"/>
                                          </p:val>
                                        </p:tav>
                                      </p:tavLst>
                                    </p:anim>
                                  </p:childTnLst>
                                </p:cTn>
                              </p:par>
                            </p:childTnLst>
                          </p:cTn>
                        </p:par>
                        <p:par>
                          <p:cTn id="138" fill="hold">
                            <p:stCondLst>
                              <p:cond delay="1200"/>
                            </p:stCondLst>
                            <p:childTnLst>
                              <p:par>
                                <p:cTn id="139" presetID="42" presetClass="entr" presetSubtype="0" fill="hold" grpId="0" nodeType="afterEffect">
                                  <p:stCondLst>
                                    <p:cond delay="0"/>
                                  </p:stCondLst>
                                  <p:childTnLst>
                                    <p:set>
                                      <p:cBhvr>
                                        <p:cTn id="140" dur="1" fill="hold">
                                          <p:stCondLst>
                                            <p:cond delay="0"/>
                                          </p:stCondLst>
                                        </p:cTn>
                                        <p:tgtEl>
                                          <p:spTgt spid="44"/>
                                        </p:tgtEl>
                                        <p:attrNameLst>
                                          <p:attrName>style.visibility</p:attrName>
                                        </p:attrNameLst>
                                      </p:cBhvr>
                                      <p:to>
                                        <p:strVal val="visible"/>
                                      </p:to>
                                    </p:set>
                                    <p:animEffect transition="in" filter="fade">
                                      <p:cBhvr>
                                        <p:cTn id="141" dur="550"/>
                                        <p:tgtEl>
                                          <p:spTgt spid="44"/>
                                        </p:tgtEl>
                                      </p:cBhvr>
                                    </p:animEffect>
                                    <p:anim calcmode="lin" valueType="num">
                                      <p:cBhvr additive="base">
                                        <p:cTn id="142" dur="550" fill="hold"/>
                                        <p:tgtEl>
                                          <p:spTgt spid="44"/>
                                        </p:tgtEl>
                                        <p:attrNameLst>
                                          <p:attrName>ppt_x</p:attrName>
                                        </p:attrNameLst>
                                      </p:cBhvr>
                                      <p:tavLst>
                                        <p:tav tm="0">
                                          <p:val>
                                            <p:strVal val="#ppt_x"/>
                                          </p:val>
                                        </p:tav>
                                        <p:tav tm="100000">
                                          <p:val>
                                            <p:strVal val="#ppt_x"/>
                                          </p:val>
                                        </p:tav>
                                      </p:tavLst>
                                    </p:anim>
                                    <p:anim calcmode="lin" valueType="num">
                                      <p:cBhvr additive="base">
                                        <p:cTn id="143" dur="550" fill="hold"/>
                                        <p:tgtEl>
                                          <p:spTgt spid="44"/>
                                        </p:tgtEl>
                                        <p:attrNameLst>
                                          <p:attrName>ppt_y</p:attrName>
                                        </p:attrNameLst>
                                      </p:cBhvr>
                                      <p:tavLst>
                                        <p:tav tm="0">
                                          <p:val>
                                            <p:strVal val="#ppt_y+.08"/>
                                          </p:val>
                                        </p:tav>
                                        <p:tav tm="100000">
                                          <p:val>
                                            <p:strVal val="#ppt_y"/>
                                          </p:val>
                                        </p:tav>
                                      </p:tavLst>
                                    </p:anim>
                                  </p:childTnLst>
                                </p:cTn>
                              </p:par>
                            </p:childTnLst>
                          </p:cTn>
                        </p:par>
                        <p:par>
                          <p:cTn id="144" fill="hold">
                            <p:stCondLst>
                              <p:cond delay="1200"/>
                            </p:stCondLst>
                            <p:childTnLst>
                              <p:par>
                                <p:cTn id="145" presetID="53" presetClass="entr" presetSubtype="16" fill="hold" grpId="0" nodeType="after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550"/>
                                        <p:tgtEl>
                                          <p:spTgt spid="45"/>
                                        </p:tgtEl>
                                      </p:cBhvr>
                                    </p:animEffect>
                                    <p:anim calcmode="lin" valueType="num">
                                      <p:cBhvr additive="base">
                                        <p:cTn id="148" dur="550" fill="hold"/>
                                        <p:tgtEl>
                                          <p:spTgt spid="45"/>
                                        </p:tgtEl>
                                        <p:attrNameLst>
                                          <p:attrName>ppt_w</p:attrName>
                                        </p:attrNameLst>
                                      </p:cBhvr>
                                      <p:tavLst>
                                        <p:tav tm="0">
                                          <p:val>
                                            <p:strVal val="0"/>
                                          </p:val>
                                        </p:tav>
                                        <p:tav tm="100000">
                                          <p:val>
                                            <p:strVal val="#ppt_w"/>
                                          </p:val>
                                        </p:tav>
                                      </p:tavLst>
                                    </p:anim>
                                    <p:anim calcmode="lin" valueType="num">
                                      <p:cBhvr additive="base">
                                        <p:cTn id="149" dur="550" fill="hold"/>
                                        <p:tgtEl>
                                          <p:spTgt spid="45"/>
                                        </p:tgtEl>
                                        <p:attrNameLst>
                                          <p:attrName>ppt_h</p:attrName>
                                        </p:attrNameLst>
                                      </p:cBhvr>
                                      <p:tavLst>
                                        <p:tav tm="0">
                                          <p:val>
                                            <p:strVal val="0"/>
                                          </p:val>
                                        </p:tav>
                                        <p:tav tm="100000">
                                          <p:val>
                                            <p:strVal val="#ppt_h"/>
                                          </p:val>
                                        </p:tav>
                                      </p:tavLst>
                                    </p:anim>
                                  </p:childTnLst>
                                </p:cTn>
                              </p:par>
                            </p:childTnLst>
                          </p:cTn>
                        </p:par>
                        <p:par>
                          <p:cTn id="150" fill="hold">
                            <p:stCondLst>
                              <p:cond delay="1200"/>
                            </p:stCondLst>
                            <p:childTnLst>
                              <p:par>
                                <p:cTn id="151" presetID="42" presetClass="entr" presetSubtype="0" fill="hold" grpId="0" nodeType="afterEffect">
                                  <p:stCondLst>
                                    <p:cond delay="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3" dur="550"/>
                                        <p:tgtEl>
                                          <p:spTgt spid="46"/>
                                        </p:tgtEl>
                                      </p:cBhvr>
                                    </p:animEffect>
                                    <p:anim calcmode="lin" valueType="num">
                                      <p:cBhvr additive="base">
                                        <p:cTn id="154" dur="550" fill="hold"/>
                                        <p:tgtEl>
                                          <p:spTgt spid="46"/>
                                        </p:tgtEl>
                                        <p:attrNameLst>
                                          <p:attrName>ppt_x</p:attrName>
                                        </p:attrNameLst>
                                      </p:cBhvr>
                                      <p:tavLst>
                                        <p:tav tm="0">
                                          <p:val>
                                            <p:strVal val="#ppt_x"/>
                                          </p:val>
                                        </p:tav>
                                        <p:tav tm="100000">
                                          <p:val>
                                            <p:strVal val="#ppt_x"/>
                                          </p:val>
                                        </p:tav>
                                      </p:tavLst>
                                    </p:anim>
                                    <p:anim calcmode="lin" valueType="num">
                                      <p:cBhvr additive="base">
                                        <p:cTn id="155" dur="550" fill="hold"/>
                                        <p:tgtEl>
                                          <p:spTgt spid="4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5b12c50fbc01189.jpg"/>
          <p:cNvPicPr>
            <a:picLocks noChangeAspect="1"/>
          </p:cNvPicPr>
          <p:nvPr/>
        </p:nvPicPr>
        <p:blipFill>
          <a:blip r:embed="rId2"/>
          <a:srcRect l="9848" r="9848"/>
          <a:stretch>
            <a:fillRect/>
          </a:stretch>
        </p:blipFill>
        <p:spPr>
          <a:xfrm>
            <a:off x="6300000" y="800000"/>
            <a:ext cx="5300000" cy="4950000"/>
          </a:xfrm>
          <a:prstGeom prst="roundRect">
            <a:avLst/>
          </a:prstGeom>
          <a:ln w="19050">
            <a:solidFill>
              <a:srgbClr val="22D3EE"/>
            </a:solidFill>
          </a:ln>
        </p:spPr>
      </p:pic>
      <p:sp>
        <p:nvSpPr>
          <p:cNvPr id="45" name="TextBox 44"/>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The original uploader was Kaewkasi at  Wikipedia. · Wikimedia Commons · CC BY-SA 3.0</a:t>
            </a:r>
          </a:p>
        </p:txBody>
      </p:sp>
      <p:sp>
        <p:nvSpPr>
          <p:cNvPr id="46" name="TextBox 45"/>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01</a:t>
            </a:r>
          </a:p>
        </p:txBody>
      </p:sp>
      <p:sp>
        <p:nvSpPr>
          <p:cNvPr id="47" name="TextBox 46"/>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8" name="TextBox 47"/>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Mavzuning maqsadi va o'rganish natijalari</a:t>
            </a:r>
          </a:p>
        </p:txBody>
      </p:sp>
      <p:sp>
        <p:nvSpPr>
          <p:cNvPr id="49" name="Rectangle 48"/>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0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150"/>
                            </p:stCondLst>
                            <p:childTnLst>
                              <p:par>
                                <p:cTn id="164" presetID="53" presetClass="entr" presetSubtype="16"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anim calcmode="lin" valueType="num">
                                      <p:cBhvr additive="base">
                                        <p:cTn id="167" dur="550" fill="hold"/>
                                        <p:tgtEl>
                                          <p:spTgt spid="43"/>
                                        </p:tgtEl>
                                        <p:attrNameLst>
                                          <p:attrName>ppt_w</p:attrName>
                                        </p:attrNameLst>
                                      </p:cBhvr>
                                      <p:tavLst>
                                        <p:tav tm="0">
                                          <p:val>
                                            <p:strVal val="0"/>
                                          </p:val>
                                        </p:tav>
                                        <p:tav tm="100000">
                                          <p:val>
                                            <p:strVal val="#ppt_w"/>
                                          </p:val>
                                        </p:tav>
                                      </p:tavLst>
                                    </p:anim>
                                    <p:anim calcmode="lin" valueType="num">
                                      <p:cBhvr additive="base">
                                        <p:cTn id="168" dur="550" fill="hold"/>
                                        <p:tgtEl>
                                          <p:spTgt spid="43"/>
                                        </p:tgtEl>
                                        <p:attrNameLst>
                                          <p:attrName>ppt_h</p:attrName>
                                        </p:attrNameLst>
                                      </p:cBhvr>
                                      <p:tavLst>
                                        <p:tav tm="0">
                                          <p:val>
                                            <p:strVal val="0"/>
                                          </p:val>
                                        </p:tav>
                                        <p:tav tm="100000">
                                          <p:val>
                                            <p:strVal val="#ppt_h"/>
                                          </p:val>
                                        </p:tav>
                                      </p:tavLst>
                                    </p:anim>
                                  </p:childTnLst>
                                </p:cTn>
                              </p:par>
                            </p:childTnLst>
                          </p:cTn>
                        </p:par>
                        <p:par>
                          <p:cTn id="169" fill="hold">
                            <p:stCondLst>
                              <p:cond delay="150"/>
                            </p:stCondLst>
                            <p:childTnLst>
                              <p:par>
                                <p:cTn id="170" presetID="53" presetClass="entr" presetSubtype="16" fill="hold" grpId="0" nodeType="afterEffect">
                                  <p:stCondLst>
                                    <p:cond delay="0"/>
                                  </p:stCondLst>
                                  <p:childTnLst>
                                    <p:set>
                                      <p:cBhvr>
                                        <p:cTn id="171" dur="1" fill="hold">
                                          <p:stCondLst>
                                            <p:cond delay="0"/>
                                          </p:stCondLst>
                                        </p:cTn>
                                        <p:tgtEl>
                                          <p:spTgt spid="44"/>
                                        </p:tgtEl>
                                        <p:attrNameLst>
                                          <p:attrName>style.visibility</p:attrName>
                                        </p:attrNameLst>
                                      </p:cBhvr>
                                      <p:to>
                                        <p:strVal val="visible"/>
                                      </p:to>
                                    </p:set>
                                    <p:animEffect transition="in" filter="fade">
                                      <p:cBhvr>
                                        <p:cTn id="172" dur="550"/>
                                        <p:tgtEl>
                                          <p:spTgt spid="44"/>
                                        </p:tgtEl>
                                      </p:cBhvr>
                                    </p:animEffect>
                                    <p:anim calcmode="lin" valueType="num">
                                      <p:cBhvr additive="base">
                                        <p:cTn id="173" dur="550" fill="hold"/>
                                        <p:tgtEl>
                                          <p:spTgt spid="44"/>
                                        </p:tgtEl>
                                        <p:attrNameLst>
                                          <p:attrName>ppt_w</p:attrName>
                                        </p:attrNameLst>
                                      </p:cBhvr>
                                      <p:tavLst>
                                        <p:tav tm="0">
                                          <p:val>
                                            <p:strVal val="0"/>
                                          </p:val>
                                        </p:tav>
                                        <p:tav tm="100000">
                                          <p:val>
                                            <p:strVal val="#ppt_w"/>
                                          </p:val>
                                        </p:tav>
                                      </p:tavLst>
                                    </p:anim>
                                    <p:anim calcmode="lin" valueType="num">
                                      <p:cBhvr additive="base">
                                        <p:cTn id="174" dur="550" fill="hold"/>
                                        <p:tgtEl>
                                          <p:spTgt spid="44"/>
                                        </p:tgtEl>
                                        <p:attrNameLst>
                                          <p:attrName>ppt_h</p:attrName>
                                        </p:attrNameLst>
                                      </p:cBhvr>
                                      <p:tavLst>
                                        <p:tav tm="0">
                                          <p:val>
                                            <p:strVal val="0"/>
                                          </p:val>
                                        </p:tav>
                                        <p:tav tm="100000">
                                          <p:val>
                                            <p:strVal val="#ppt_h"/>
                                          </p:val>
                                        </p:tav>
                                      </p:tavLst>
                                    </p:anim>
                                  </p:childTnLst>
                                </p:cTn>
                              </p:par>
                            </p:childTnLst>
                          </p:cTn>
                        </p:par>
                        <p:par>
                          <p:cTn id="175" fill="hold">
                            <p:stCondLst>
                              <p:cond delay="150"/>
                            </p:stCondLst>
                            <p:childTnLst>
                              <p:par>
                                <p:cTn id="176" presetID="10" presetClass="entr" presetSubtype="0" fill="hold" grpId="0" nodeType="afterEffect">
                                  <p:stCondLst>
                                    <p:cond delay="0"/>
                                  </p:stCondLst>
                                  <p:childTnLst>
                                    <p:set>
                                      <p:cBhvr>
                                        <p:cTn id="177" dur="1" fill="hold">
                                          <p:stCondLst>
                                            <p:cond delay="0"/>
                                          </p:stCondLst>
                                        </p:cTn>
                                        <p:tgtEl>
                                          <p:spTgt spid="45"/>
                                        </p:tgtEl>
                                        <p:attrNameLst>
                                          <p:attrName>style.visibility</p:attrName>
                                        </p:attrNameLst>
                                      </p:cBhvr>
                                      <p:to>
                                        <p:strVal val="visible"/>
                                      </p:to>
                                    </p:set>
                                    <p:animEffect transition="in" filter="fade">
                                      <p:cBhvr>
                                        <p:cTn id="178" dur="550"/>
                                        <p:tgtEl>
                                          <p:spTgt spid="45"/>
                                        </p:tgtEl>
                                      </p:cBhvr>
                                    </p:animEffect>
                                  </p:childTnLst>
                                </p:cTn>
                              </p:par>
                            </p:childTnLst>
                          </p:cTn>
                        </p:par>
                        <p:par>
                          <p:cTn id="179" fill="hold">
                            <p:stCondLst>
                              <p:cond delay="350"/>
                            </p:stCondLst>
                            <p:childTnLst>
                              <p:par>
                                <p:cTn id="180" presetID="53" presetClass="entr" presetSubtype="16" fill="hold" grpId="0" nodeType="afterEffect">
                                  <p:stCondLst>
                                    <p:cond delay="0"/>
                                  </p:stCondLst>
                                  <p:childTnLst>
                                    <p:set>
                                      <p:cBhvr>
                                        <p:cTn id="181" dur="1" fill="hold">
                                          <p:stCondLst>
                                            <p:cond delay="0"/>
                                          </p:stCondLst>
                                        </p:cTn>
                                        <p:tgtEl>
                                          <p:spTgt spid="46"/>
                                        </p:tgtEl>
                                        <p:attrNameLst>
                                          <p:attrName>style.visibility</p:attrName>
                                        </p:attrNameLst>
                                      </p:cBhvr>
                                      <p:to>
                                        <p:strVal val="visible"/>
                                      </p:to>
                                    </p:set>
                                    <p:animEffect transition="in" filter="fade">
                                      <p:cBhvr>
                                        <p:cTn id="182" dur="550"/>
                                        <p:tgtEl>
                                          <p:spTgt spid="46"/>
                                        </p:tgtEl>
                                      </p:cBhvr>
                                    </p:animEffect>
                                    <p:anim calcmode="lin" valueType="num">
                                      <p:cBhvr additive="base">
                                        <p:cTn id="183" dur="550" fill="hold"/>
                                        <p:tgtEl>
                                          <p:spTgt spid="46"/>
                                        </p:tgtEl>
                                        <p:attrNameLst>
                                          <p:attrName>ppt_w</p:attrName>
                                        </p:attrNameLst>
                                      </p:cBhvr>
                                      <p:tavLst>
                                        <p:tav tm="0">
                                          <p:val>
                                            <p:strVal val="0"/>
                                          </p:val>
                                        </p:tav>
                                        <p:tav tm="100000">
                                          <p:val>
                                            <p:strVal val="#ppt_w"/>
                                          </p:val>
                                        </p:tav>
                                      </p:tavLst>
                                    </p:anim>
                                    <p:anim calcmode="lin" valueType="num">
                                      <p:cBhvr additive="base">
                                        <p:cTn id="184" dur="550" fill="hold"/>
                                        <p:tgtEl>
                                          <p:spTgt spid="46"/>
                                        </p:tgtEl>
                                        <p:attrNameLst>
                                          <p:attrName>ppt_h</p:attrName>
                                        </p:attrNameLst>
                                      </p:cBhvr>
                                      <p:tavLst>
                                        <p:tav tm="0">
                                          <p:val>
                                            <p:strVal val="0"/>
                                          </p:val>
                                        </p:tav>
                                        <p:tav tm="100000">
                                          <p:val>
                                            <p:strVal val="#ppt_h"/>
                                          </p:val>
                                        </p:tav>
                                      </p:tavLst>
                                    </p:anim>
                                  </p:childTnLst>
                                </p:cTn>
                              </p:par>
                            </p:childTnLst>
                          </p:cTn>
                        </p:par>
                        <p:par>
                          <p:cTn id="185" fill="hold">
                            <p:stCondLst>
                              <p:cond delay="450"/>
                            </p:stCondLst>
                            <p:childTnLst>
                              <p:par>
                                <p:cTn id="186" presetID="10" presetClass="entr" presetSubtype="0" fill="hold" grpId="0" nodeType="afterEffect">
                                  <p:stCondLst>
                                    <p:cond delay="0"/>
                                  </p:stCondLst>
                                  <p:childTnLst>
                                    <p:set>
                                      <p:cBhvr>
                                        <p:cTn id="187" dur="1" fill="hold">
                                          <p:stCondLst>
                                            <p:cond delay="0"/>
                                          </p:stCondLst>
                                        </p:cTn>
                                        <p:tgtEl>
                                          <p:spTgt spid="47"/>
                                        </p:tgtEl>
                                        <p:attrNameLst>
                                          <p:attrName>style.visibility</p:attrName>
                                        </p:attrNameLst>
                                      </p:cBhvr>
                                      <p:to>
                                        <p:strVal val="visible"/>
                                      </p:to>
                                    </p:set>
                                    <p:animEffect transition="in" filter="fade">
                                      <p:cBhvr>
                                        <p:cTn id="188" dur="550"/>
                                        <p:tgtEl>
                                          <p:spTgt spid="47"/>
                                        </p:tgtEl>
                                      </p:cBhvr>
                                    </p:animEffect>
                                  </p:childTnLst>
                                </p:cTn>
                              </p:par>
                            </p:childTnLst>
                          </p:cTn>
                        </p:par>
                        <p:par>
                          <p:cTn id="189" fill="hold">
                            <p:stCondLst>
                              <p:cond delay="550"/>
                            </p:stCondLst>
                            <p:childTnLst>
                              <p:par>
                                <p:cTn id="190" presetID="2" presetClass="entr" presetSubtype="8" fill="hold" grpId="0" nodeType="afterEffect">
                                  <p:stCondLst>
                                    <p:cond delay="0"/>
                                  </p:stCondLst>
                                  <p:childTnLst>
                                    <p:set>
                                      <p:cBhvr>
                                        <p:cTn id="191" dur="1" fill="hold">
                                          <p:stCondLst>
                                            <p:cond delay="0"/>
                                          </p:stCondLst>
                                        </p:cTn>
                                        <p:tgtEl>
                                          <p:spTgt spid="48"/>
                                        </p:tgtEl>
                                        <p:attrNameLst>
                                          <p:attrName>style.visibility</p:attrName>
                                        </p:attrNameLst>
                                      </p:cBhvr>
                                      <p:to>
                                        <p:strVal val="visible"/>
                                      </p:to>
                                    </p:set>
                                    <p:anim calcmode="lin" valueType="num">
                                      <p:cBhvr additive="base">
                                        <p:cTn id="193" dur="550" fill="hold"/>
                                        <p:tgtEl>
                                          <p:spTgt spid="48"/>
                                        </p:tgtEl>
                                        <p:attrNameLst>
                                          <p:attrName>ppt_x</p:attrName>
                                        </p:attrNameLst>
                                      </p:cBhvr>
                                      <p:tavLst>
                                        <p:tav tm="0">
                                          <p:val>
                                            <p:strVal val="0-#ppt_w/2"/>
                                          </p:val>
                                        </p:tav>
                                        <p:tav tm="100000">
                                          <p:val>
                                            <p:strVal val="#ppt_x"/>
                                          </p:val>
                                        </p:tav>
                                      </p:tavLst>
                                    </p:anim>
                                    <p:anim calcmode="lin" valueType="num">
                                      <p:cBhvr additive="base">
                                        <p:cTn id="194" dur="550" fill="hold"/>
                                        <p:tgtEl>
                                          <p:spTgt spid="48"/>
                                        </p:tgtEl>
                                        <p:attrNameLst>
                                          <p:attrName>ppt_y</p:attrName>
                                        </p:attrNameLst>
                                      </p:cBhvr>
                                      <p:tavLst>
                                        <p:tav tm="0">
                                          <p:val>
                                            <p:strVal val="#ppt_y"/>
                                          </p:val>
                                        </p:tav>
                                        <p:tav tm="100000">
                                          <p:val>
                                            <p:strVal val="#ppt_y"/>
                                          </p:val>
                                        </p:tav>
                                      </p:tavLst>
                                    </p:anim>
                                  </p:childTnLst>
                                </p:cTn>
                              </p:par>
                            </p:childTnLst>
                          </p:cTn>
                        </p:par>
                        <p:par>
                          <p:cTn id="195" fill="hold">
                            <p:stCondLst>
                              <p:cond delay="650"/>
                            </p:stCondLst>
                            <p:childTnLst>
                              <p:par>
                                <p:cTn id="196" presetID="22" presetClass="entr" presetSubtype="8" fill="hold" grpId="0" nodeType="afterEffect">
                                  <p:stCondLst>
                                    <p:cond delay="0"/>
                                  </p:stCondLst>
                                  <p:childTnLst>
                                    <p:set>
                                      <p:cBhvr>
                                        <p:cTn id="197" dur="1" fill="hold">
                                          <p:stCondLst>
                                            <p:cond delay="0"/>
                                          </p:stCondLst>
                                        </p:cTn>
                                        <p:tgtEl>
                                          <p:spTgt spid="49"/>
                                        </p:tgtEl>
                                        <p:attrNameLst>
                                          <p:attrName>style.visibility</p:attrName>
                                        </p:attrNameLst>
                                      </p:cBhvr>
                                      <p:to>
                                        <p:strVal val="visible"/>
                                      </p:to>
                                    </p:set>
                                    <p:animEffect transition="in" filter="wipe(left)">
                                      <p:cBhvr>
                                        <p:cTn id="199" dur="8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5" grpId="0" animBg="1"/>
      <p:bldP spid="46" grpId="0" animBg="1"/>
      <p:bldP spid="47" grpId="0" animBg="1"/>
      <p:bldP spid="48" grpId="0" animBg="1"/>
      <p:bldP spid="49"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Mavzuning maqsadi va o'rganish natijalari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076824"/>
            <a:ext cx="50000" cy="157817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66591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2036824"/>
            <a:ext cx="5900000" cy="1658176"/>
          </a:xfrm>
          <a:prstGeom prst="rect">
            <a:avLst/>
          </a:prstGeom>
          <a:noFill/>
        </p:spPr>
        <p:txBody>
          <a:bodyPr wrap="square" anchor="ctr">
            <a:spAutoFit/>
          </a:bodyPr>
          <a:lstStyle/>
          <a:p>
            <a:r>
              <a:rPr sz="1500" b="1">
                <a:solidFill>
                  <a:srgbClr val="E8EEFA"/>
                </a:solidFill>
                <a:latin typeface="Segoe UI"/>
              </a:rPr>
              <a:t>Ushbu amaliy mashg'ulotning maqsadi — magistrantlarda bitta hisoblash qurilmasi doirasidan chiqib, bir nechta GPU yoki bir nechta tugun (node) ustida ishlaydigan taqsimlangan sun'iy intellekt tizimini mustaqil yig'ish, ishga tushirish va uning samaradorligini…</a:t>
            </a:r>
          </a:p>
          <a:p>
            <a:pPr>
              <a:spcBef>
                <a:spcPts val="400"/>
              </a:spcBef>
            </a:pPr>
            <a:r>
              <a:rPr sz="1400">
                <a:solidFill>
                  <a:srgbClr val="AEBBD9"/>
                </a:solidFill>
                <a:latin typeface="Segoe UI"/>
              </a:rPr>
              <a:t>Mashg'ulot yakunida talaba quyidagilarga qodir bo'ladi:</a:t>
            </a:r>
          </a:p>
        </p:txBody>
      </p:sp>
      <p:sp>
        <p:nvSpPr>
          <p:cNvPr id="31" name="Rounded Rectangle 30"/>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5781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51408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1658176"/>
          </a:xfrm>
          <a:prstGeom prst="rect">
            <a:avLst/>
          </a:prstGeom>
          <a:noFill/>
        </p:spPr>
        <p:txBody>
          <a:bodyPr wrap="square" anchor="ctr">
            <a:spAutoFit/>
          </a:bodyPr>
          <a:lstStyle/>
          <a:p>
            <a:r>
              <a:rPr sz="1400" b="0">
                <a:solidFill>
                  <a:srgbClr val="E8EEFA"/>
                </a:solidFill>
                <a:latin typeface="Segoe UI"/>
              </a:rPr>
              <a:t>PyTorch Distributed (torch.distributed) kutubxonasi va torchrun ishga tushirgichi yordamida ma'lumotlar parallelligi (Distributed Data Parallel, DDP) asosida ko'p GPU'li o'qitish skriptini yozish, jarayonlar guruhini (process group) to'g'ri boshlash va yakunlash.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Mavzuning maqsadi va o'rganish natijalari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42478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504780"/>
            <a:ext cx="50000" cy="134348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197652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0" name="TextBox 29"/>
          <p:cNvSpPr txBox="1"/>
          <p:nvPr/>
        </p:nvSpPr>
        <p:spPr>
          <a:xfrm>
            <a:off x="1300000" y="1464780"/>
            <a:ext cx="5900000" cy="1423480"/>
          </a:xfrm>
          <a:prstGeom prst="rect">
            <a:avLst/>
          </a:prstGeom>
          <a:noFill/>
        </p:spPr>
        <p:txBody>
          <a:bodyPr wrap="square" anchor="ctr">
            <a:spAutoFit/>
          </a:bodyPr>
          <a:lstStyle/>
          <a:p>
            <a:r>
              <a:rPr sz="1400" b="0">
                <a:solidFill>
                  <a:srgbClr val="E8EEFA"/>
                </a:solidFill>
                <a:latin typeface="Segoe UI"/>
              </a:rPr>
              <a:t>Ray va MPI (Message Passing Interface) yondashuvlarining DDP'dan farqini tushuntirish va berilgan masala uchun qaysi birini tanlashni asoslash.</a:t>
            </a:r>
          </a:p>
        </p:txBody>
      </p:sp>
      <p:sp>
        <p:nvSpPr>
          <p:cNvPr id="31" name="Rounded Rectangle 30"/>
          <p:cNvSpPr/>
          <p:nvPr/>
        </p:nvSpPr>
        <p:spPr>
          <a:xfrm>
            <a:off x="550000" y="303826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118260"/>
            <a:ext cx="50000" cy="13434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4" name="TextBox 33"/>
          <p:cNvSpPr txBox="1"/>
          <p:nvPr/>
        </p:nvSpPr>
        <p:spPr>
          <a:xfrm>
            <a:off x="1300000" y="3078260"/>
            <a:ext cx="5900000" cy="1423480"/>
          </a:xfrm>
          <a:prstGeom prst="rect">
            <a:avLst/>
          </a:prstGeom>
          <a:noFill/>
        </p:spPr>
        <p:txBody>
          <a:bodyPr wrap="square" anchor="ctr">
            <a:spAutoFit/>
          </a:bodyPr>
          <a:lstStyle/>
          <a:p>
            <a:r>
              <a:rPr sz="1400" b="0">
                <a:solidFill>
                  <a:srgbClr val="E8EEFA"/>
                </a:solidFill>
                <a:latin typeface="Segoe UI"/>
              </a:rPr>
              <a:t>Kuchli va kuchsiz masshtablash (strong/weak scaling) tushunchalarini ajratish, masshtablash samaradorligi (scaling efficiency) koeffitsiyentini hisoblash va natijalarni jadval ko'rinishida rasmiylashtirish.</a:t>
            </a:r>
          </a:p>
        </p:txBody>
      </p:sp>
      <p:sp>
        <p:nvSpPr>
          <p:cNvPr id="35" name="Rounded Rectangle 34"/>
          <p:cNvSpPr/>
          <p:nvPr/>
        </p:nvSpPr>
        <p:spPr>
          <a:xfrm>
            <a:off x="550000" y="465174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0000" y="4731740"/>
            <a:ext cx="50000" cy="13434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0000" y="520348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8" name="TextBox 37"/>
          <p:cNvSpPr txBox="1"/>
          <p:nvPr/>
        </p:nvSpPr>
        <p:spPr>
          <a:xfrm>
            <a:off x="1300000" y="4691740"/>
            <a:ext cx="5900000" cy="1423480"/>
          </a:xfrm>
          <a:prstGeom prst="rect">
            <a:avLst/>
          </a:prstGeom>
          <a:noFill/>
        </p:spPr>
        <p:txBody>
          <a:bodyPr wrap="square" anchor="ctr">
            <a:spAutoFit/>
          </a:bodyPr>
          <a:lstStyle/>
          <a:p>
            <a:r>
              <a:rPr sz="1400" b="0">
                <a:solidFill>
                  <a:srgbClr val="E8EEFA"/>
                </a:solidFill>
                <a:latin typeface="Segoe UI"/>
              </a:rPr>
              <a:t>Taqsimlangan inferens (parallel inference) uchun ma'lumotlarni bo'lib yuborish (sharding) va natijalarni yig'ish (all-gather) sxemasini amalga oshirish, o'tkazuvchanlik (throughput) va kechikish (latency) ko'rsatkichlarini o'lchash.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par>
                          <p:cTn id="80" fill="hold">
                            <p:stCondLst>
                              <p:cond delay="750"/>
                            </p:stCondLst>
                            <p:childTnLst>
                              <p:par>
                                <p:cTn id="81" presetID="42"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50"/>
                                        <p:tgtEl>
                                          <p:spTgt spid="35"/>
                                        </p:tgtEl>
                                      </p:cBhvr>
                                    </p:animEffect>
                                    <p:anim calcmode="lin" valueType="num">
                                      <p:cBhvr additive="base">
                                        <p:cTn id="84" dur="550" fill="hold"/>
                                        <p:tgtEl>
                                          <p:spTgt spid="35"/>
                                        </p:tgtEl>
                                        <p:attrNameLst>
                                          <p:attrName>ppt_x</p:attrName>
                                        </p:attrNameLst>
                                      </p:cBhvr>
                                      <p:tavLst>
                                        <p:tav tm="0">
                                          <p:val>
                                            <p:strVal val="#ppt_x"/>
                                          </p:val>
                                        </p:tav>
                                        <p:tav tm="100000">
                                          <p:val>
                                            <p:strVal val="#ppt_x"/>
                                          </p:val>
                                        </p:tav>
                                      </p:tavLst>
                                    </p:anim>
                                    <p:anim calcmode="lin" valueType="num">
                                      <p:cBhvr additive="base">
                                        <p:cTn id="85" dur="550" fill="hold"/>
                                        <p:tgtEl>
                                          <p:spTgt spid="35"/>
                                        </p:tgtEl>
                                        <p:attrNameLst>
                                          <p:attrName>ppt_y</p:attrName>
                                        </p:attrNameLst>
                                      </p:cBhvr>
                                      <p:tavLst>
                                        <p:tav tm="0">
                                          <p:val>
                                            <p:strVal val="#ppt_y+.08"/>
                                          </p:val>
                                        </p:tav>
                                        <p:tav tm="100000">
                                          <p:val>
                                            <p:strVal val="#ppt_y"/>
                                          </p:val>
                                        </p:tav>
                                      </p:tavLst>
                                    </p:anim>
                                  </p:childTnLst>
                                </p:cTn>
                              </p:par>
                            </p:childTnLst>
                          </p:cTn>
                        </p:par>
                        <p:par>
                          <p:cTn id="86" fill="hold">
                            <p:stCondLst>
                              <p:cond delay="750"/>
                            </p:stCondLst>
                            <p:childTnLst>
                              <p:par>
                                <p:cTn id="87" presetID="42" presetClass="entr" presetSubtype="0" fill="hold" grpId="0" nodeType="after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50"/>
                                        <p:tgtEl>
                                          <p:spTgt spid="36"/>
                                        </p:tgtEl>
                                      </p:cBhvr>
                                    </p:animEffect>
                                    <p:anim calcmode="lin" valueType="num">
                                      <p:cBhvr additive="base">
                                        <p:cTn id="90" dur="550" fill="hold"/>
                                        <p:tgtEl>
                                          <p:spTgt spid="36"/>
                                        </p:tgtEl>
                                        <p:attrNameLst>
                                          <p:attrName>ppt_x</p:attrName>
                                        </p:attrNameLst>
                                      </p:cBhvr>
                                      <p:tavLst>
                                        <p:tav tm="0">
                                          <p:val>
                                            <p:strVal val="#ppt_x"/>
                                          </p:val>
                                        </p:tav>
                                        <p:tav tm="100000">
                                          <p:val>
                                            <p:strVal val="#ppt_x"/>
                                          </p:val>
                                        </p:tav>
                                      </p:tavLst>
                                    </p:anim>
                                    <p:anim calcmode="lin" valueType="num">
                                      <p:cBhvr additive="base">
                                        <p:cTn id="91" dur="550" fill="hold"/>
                                        <p:tgtEl>
                                          <p:spTgt spid="36"/>
                                        </p:tgtEl>
                                        <p:attrNameLst>
                                          <p:attrName>ppt_y</p:attrName>
                                        </p:attrNameLst>
                                      </p:cBhvr>
                                      <p:tavLst>
                                        <p:tav tm="0">
                                          <p:val>
                                            <p:strVal val="#ppt_y+.08"/>
                                          </p:val>
                                        </p:tav>
                                        <p:tav tm="100000">
                                          <p:val>
                                            <p:strVal val="#ppt_y"/>
                                          </p:val>
                                        </p:tav>
                                      </p:tavLst>
                                    </p:anim>
                                  </p:childTnLst>
                                </p:cTn>
                              </p:par>
                            </p:childTnLst>
                          </p:cTn>
                        </p:par>
                        <p:par>
                          <p:cTn id="92" fill="hold">
                            <p:stCondLst>
                              <p:cond delay="750"/>
                            </p:stCondLst>
                            <p:childTnLst>
                              <p:par>
                                <p:cTn id="93" presetID="53" presetClass="entr" presetSubtype="16" fill="hold" grpId="0" nodeType="after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50"/>
                                        <p:tgtEl>
                                          <p:spTgt spid="37"/>
                                        </p:tgtEl>
                                      </p:cBhvr>
                                    </p:animEffect>
                                    <p:anim calcmode="lin" valueType="num">
                                      <p:cBhvr additive="base">
                                        <p:cTn id="96" dur="550" fill="hold"/>
                                        <p:tgtEl>
                                          <p:spTgt spid="37"/>
                                        </p:tgtEl>
                                        <p:attrNameLst>
                                          <p:attrName>ppt_w</p:attrName>
                                        </p:attrNameLst>
                                      </p:cBhvr>
                                      <p:tavLst>
                                        <p:tav tm="0">
                                          <p:val>
                                            <p:strVal val="0"/>
                                          </p:val>
                                        </p:tav>
                                        <p:tav tm="100000">
                                          <p:val>
                                            <p:strVal val="#ppt_w"/>
                                          </p:val>
                                        </p:tav>
                                      </p:tavLst>
                                    </p:anim>
                                    <p:anim calcmode="lin" valueType="num">
                                      <p:cBhvr additive="base">
                                        <p:cTn id="97" dur="550" fill="hold"/>
                                        <p:tgtEl>
                                          <p:spTgt spid="37"/>
                                        </p:tgtEl>
                                        <p:attrNameLst>
                                          <p:attrName>ppt_h</p:attrName>
                                        </p:attrNameLst>
                                      </p:cBhvr>
                                      <p:tavLst>
                                        <p:tav tm="0">
                                          <p:val>
                                            <p:strVal val="0"/>
                                          </p:val>
                                        </p:tav>
                                        <p:tav tm="100000">
                                          <p:val>
                                            <p:strVal val="#ppt_h"/>
                                          </p:val>
                                        </p:tav>
                                      </p:tavLst>
                                    </p:anim>
                                  </p:childTnLst>
                                </p:cTn>
                              </p:par>
                            </p:childTnLst>
                          </p:cTn>
                        </p:par>
                        <p:par>
                          <p:cTn id="98" fill="hold">
                            <p:stCondLst>
                              <p:cond delay="750"/>
                            </p:stCondLst>
                            <p:childTnLst>
                              <p:par>
                                <p:cTn id="99" presetID="42" presetClass="entr" presetSubtype="0" fill="hold" grpId="0" nodeType="after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50"/>
                                        <p:tgtEl>
                                          <p:spTgt spid="38"/>
                                        </p:tgtEl>
                                      </p:cBhvr>
                                    </p:animEffect>
                                    <p:anim calcmode="lin" valueType="num">
                                      <p:cBhvr additive="base">
                                        <p:cTn id="102" dur="550" fill="hold"/>
                                        <p:tgtEl>
                                          <p:spTgt spid="38"/>
                                        </p:tgtEl>
                                        <p:attrNameLst>
                                          <p:attrName>ppt_x</p:attrName>
                                        </p:attrNameLst>
                                      </p:cBhvr>
                                      <p:tavLst>
                                        <p:tav tm="0">
                                          <p:val>
                                            <p:strVal val="#ppt_x"/>
                                          </p:val>
                                        </p:tav>
                                        <p:tav tm="100000">
                                          <p:val>
                                            <p:strVal val="#ppt_x"/>
                                          </p:val>
                                        </p:tav>
                                      </p:tavLst>
                                    </p:anim>
                                    <p:anim calcmode="lin" valueType="num">
                                      <p:cBhvr additive="base">
                                        <p:cTn id="103" dur="550" fill="hold"/>
                                        <p:tgtEl>
                                          <p:spTgt spid="3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Mavzuning maqsadi va o'rganish natijalari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048a68667d252f9.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Anthere · Wikimedia Commons · CC BY-SA 4.0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795656"/>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875656"/>
            <a:ext cx="50000" cy="177934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565328"/>
            <a:ext cx="400000" cy="40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33" name="TextBox 32"/>
          <p:cNvSpPr txBox="1"/>
          <p:nvPr/>
        </p:nvSpPr>
        <p:spPr>
          <a:xfrm>
            <a:off x="1300000" y="1835656"/>
            <a:ext cx="5900000" cy="1859344"/>
          </a:xfrm>
          <a:prstGeom prst="rect">
            <a:avLst/>
          </a:prstGeom>
          <a:noFill/>
        </p:spPr>
        <p:txBody>
          <a:bodyPr wrap="square" anchor="ctr">
            <a:spAutoFit/>
          </a:bodyPr>
          <a:lstStyle/>
          <a:p>
            <a:r>
              <a:rPr sz="1600" b="0">
                <a:solidFill>
                  <a:srgbClr val="E8EEFA"/>
                </a:solidFill>
                <a:latin typeface="Segoe UI"/>
              </a:rPr>
              <a:t>Kommunikatsiya xarajatlari, sinxronizatsiya nuqtalari va to'g'ri bo'lmagan konfiguratsiya tufayli yuzaga keladigan tipik muammolarni aniqlash va bartaraf etish.</a:t>
            </a:r>
          </a:p>
        </p:txBody>
      </p:sp>
      <p:sp>
        <p:nvSpPr>
          <p:cNvPr id="34" name="Rounded Rectangle 33"/>
          <p:cNvSpPr/>
          <p:nvPr/>
        </p:nvSpPr>
        <p:spPr>
          <a:xfrm>
            <a:off x="550000" y="3845000"/>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177934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6146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07</a:t>
            </a:r>
          </a:p>
        </p:txBody>
      </p:sp>
      <p:sp>
        <p:nvSpPr>
          <p:cNvPr id="37" name="TextBox 36"/>
          <p:cNvSpPr txBox="1"/>
          <p:nvPr/>
        </p:nvSpPr>
        <p:spPr>
          <a:xfrm>
            <a:off x="1300000" y="3885000"/>
            <a:ext cx="5900000" cy="1859344"/>
          </a:xfrm>
          <a:prstGeom prst="rect">
            <a:avLst/>
          </a:prstGeom>
          <a:noFill/>
        </p:spPr>
        <p:txBody>
          <a:bodyPr wrap="square" anchor="ctr">
            <a:spAutoFit/>
          </a:bodyPr>
          <a:lstStyle/>
          <a:p>
            <a:r>
              <a:rPr sz="1600" b="0">
                <a:solidFill>
                  <a:srgbClr val="E8EEFA"/>
                </a:solidFill>
                <a:latin typeface="Segoe UI"/>
              </a:rPr>
              <a:t>Mavzu fanning TN3 (parallel va taqsimlangan hisoblash texnologiyalarini qo'llash), TN5 (AI tizimlarini bulutli va klasterli infratuzilmaga joylashtirish) va TN6 (unumdorlikni o'lchash, tahlil qilish va optimallashtirish) o'rganish natijalariga bevosita xizmat…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99a9d797ecdbcf11.jpg"/>
          <p:cNvPicPr>
            <a:picLocks noChangeAspect="1"/>
          </p:cNvPicPr>
          <p:nvPr/>
        </p:nvPicPr>
        <p:blipFill>
          <a:blip r:embed="rId2"/>
          <a:srcRect l="17962" r="17962"/>
          <a:stretch>
            <a:fillRect/>
          </a:stretch>
        </p:blipFill>
        <p:spPr>
          <a:xfrm>
            <a:off x="6300000" y="800000"/>
            <a:ext cx="5300000" cy="4950000"/>
          </a:xfrm>
          <a:prstGeom prst="roundRect">
            <a:avLst/>
          </a:prstGeom>
          <a:ln w="19050">
            <a:solidFill>
              <a:srgbClr val="22D3EE"/>
            </a:solidFill>
          </a:ln>
        </p:spPr>
      </p:pic>
      <p:sp>
        <p:nvSpPr>
          <p:cNvPr id="42" name="TextBox 41"/>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Dennis van Zuijlekom · Wikimedia Commons · CC BY-SA 2.0</a:t>
            </a:r>
          </a:p>
        </p:txBody>
      </p:sp>
      <p:sp>
        <p:nvSpPr>
          <p:cNvPr id="43" name="TextBox 42"/>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02</a:t>
            </a:r>
          </a:p>
        </p:txBody>
      </p:sp>
      <p:sp>
        <p:nvSpPr>
          <p:cNvPr id="44" name="TextBox 43"/>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5" name="TextBox 44"/>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Kirish</a:t>
            </a:r>
          </a:p>
        </p:txBody>
      </p:sp>
      <p:sp>
        <p:nvSpPr>
          <p:cNvPr id="46" name="Rectangle 45"/>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150"/>
                            </p:stCondLst>
                            <p:childTnLst>
                              <p:par>
                                <p:cTn id="152" presetID="53" presetClass="entr" presetSubtype="16"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anim calcmode="lin" valueType="num">
                                      <p:cBhvr additive="base">
                                        <p:cTn id="155" dur="550" fill="hold"/>
                                        <p:tgtEl>
                                          <p:spTgt spid="40"/>
                                        </p:tgtEl>
                                        <p:attrNameLst>
                                          <p:attrName>ppt_w</p:attrName>
                                        </p:attrNameLst>
                                      </p:cBhvr>
                                      <p:tavLst>
                                        <p:tav tm="0">
                                          <p:val>
                                            <p:strVal val="0"/>
                                          </p:val>
                                        </p:tav>
                                        <p:tav tm="100000">
                                          <p:val>
                                            <p:strVal val="#ppt_w"/>
                                          </p:val>
                                        </p:tav>
                                      </p:tavLst>
                                    </p:anim>
                                    <p:anim calcmode="lin" valueType="num">
                                      <p:cBhvr additive="base">
                                        <p:cTn id="156" dur="550" fill="hold"/>
                                        <p:tgtEl>
                                          <p:spTgt spid="40"/>
                                        </p:tgtEl>
                                        <p:attrNameLst>
                                          <p:attrName>ppt_h</p:attrName>
                                        </p:attrNameLst>
                                      </p:cBhvr>
                                      <p:tavLst>
                                        <p:tav tm="0">
                                          <p:val>
                                            <p:strVal val="0"/>
                                          </p:val>
                                        </p:tav>
                                        <p:tav tm="100000">
                                          <p:val>
                                            <p:strVal val="#ppt_h"/>
                                          </p:val>
                                        </p:tav>
                                      </p:tavLst>
                                    </p:anim>
                                  </p:childTnLst>
                                </p:cTn>
                              </p:par>
                            </p:childTnLst>
                          </p:cTn>
                        </p:par>
                        <p:par>
                          <p:cTn id="157" fill="hold">
                            <p:stCondLst>
                              <p:cond delay="150"/>
                            </p:stCondLst>
                            <p:childTnLst>
                              <p:par>
                                <p:cTn id="158" presetID="53" presetClass="entr" presetSubtype="16" fill="hold" grpId="0" nodeType="afterEffect">
                                  <p:stCondLst>
                                    <p:cond delay="0"/>
                                  </p:stCondLst>
                                  <p:childTnLst>
                                    <p:set>
                                      <p:cBhvr>
                                        <p:cTn id="159" dur="1" fill="hold">
                                          <p:stCondLst>
                                            <p:cond delay="0"/>
                                          </p:stCondLst>
                                        </p:cTn>
                                        <p:tgtEl>
                                          <p:spTgt spid="41"/>
                                        </p:tgtEl>
                                        <p:attrNameLst>
                                          <p:attrName>style.visibility</p:attrName>
                                        </p:attrNameLst>
                                      </p:cBhvr>
                                      <p:to>
                                        <p:strVal val="visible"/>
                                      </p:to>
                                    </p:set>
                                    <p:animEffect transition="in" filter="fade">
                                      <p:cBhvr>
                                        <p:cTn id="160" dur="550"/>
                                        <p:tgtEl>
                                          <p:spTgt spid="41"/>
                                        </p:tgtEl>
                                      </p:cBhvr>
                                    </p:animEffect>
                                    <p:anim calcmode="lin" valueType="num">
                                      <p:cBhvr additive="base">
                                        <p:cTn id="161" dur="550" fill="hold"/>
                                        <p:tgtEl>
                                          <p:spTgt spid="41"/>
                                        </p:tgtEl>
                                        <p:attrNameLst>
                                          <p:attrName>ppt_w</p:attrName>
                                        </p:attrNameLst>
                                      </p:cBhvr>
                                      <p:tavLst>
                                        <p:tav tm="0">
                                          <p:val>
                                            <p:strVal val="0"/>
                                          </p:val>
                                        </p:tav>
                                        <p:tav tm="100000">
                                          <p:val>
                                            <p:strVal val="#ppt_w"/>
                                          </p:val>
                                        </p:tav>
                                      </p:tavLst>
                                    </p:anim>
                                    <p:anim calcmode="lin" valueType="num">
                                      <p:cBhvr additive="base">
                                        <p:cTn id="162" dur="550" fill="hold"/>
                                        <p:tgtEl>
                                          <p:spTgt spid="41"/>
                                        </p:tgtEl>
                                        <p:attrNameLst>
                                          <p:attrName>ppt_h</p:attrName>
                                        </p:attrNameLst>
                                      </p:cBhvr>
                                      <p:tavLst>
                                        <p:tav tm="0">
                                          <p:val>
                                            <p:strVal val="0"/>
                                          </p:val>
                                        </p:tav>
                                        <p:tav tm="100000">
                                          <p:val>
                                            <p:strVal val="#ppt_h"/>
                                          </p:val>
                                        </p:tav>
                                      </p:tavLst>
                                    </p:anim>
                                  </p:childTnLst>
                                </p:cTn>
                              </p:par>
                            </p:childTnLst>
                          </p:cTn>
                        </p:par>
                        <p:par>
                          <p:cTn id="163" fill="hold">
                            <p:stCondLst>
                              <p:cond delay="150"/>
                            </p:stCondLst>
                            <p:childTnLst>
                              <p:par>
                                <p:cTn id="164" presetID="10" presetClass="entr" presetSubtype="0"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childTnLst>
                                </p:cTn>
                              </p:par>
                            </p:childTnLst>
                          </p:cTn>
                        </p:par>
                        <p:par>
                          <p:cTn id="167" fill="hold">
                            <p:stCondLst>
                              <p:cond delay="350"/>
                            </p:stCondLst>
                            <p:childTnLst>
                              <p:par>
                                <p:cTn id="168" presetID="53" presetClass="entr" presetSubtype="16"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anim calcmode="lin" valueType="num">
                                      <p:cBhvr additive="base">
                                        <p:cTn id="171" dur="550" fill="hold"/>
                                        <p:tgtEl>
                                          <p:spTgt spid="43"/>
                                        </p:tgtEl>
                                        <p:attrNameLst>
                                          <p:attrName>ppt_w</p:attrName>
                                        </p:attrNameLst>
                                      </p:cBhvr>
                                      <p:tavLst>
                                        <p:tav tm="0">
                                          <p:val>
                                            <p:strVal val="0"/>
                                          </p:val>
                                        </p:tav>
                                        <p:tav tm="100000">
                                          <p:val>
                                            <p:strVal val="#ppt_w"/>
                                          </p:val>
                                        </p:tav>
                                      </p:tavLst>
                                    </p:anim>
                                    <p:anim calcmode="lin" valueType="num">
                                      <p:cBhvr additive="base">
                                        <p:cTn id="172" dur="550" fill="hold"/>
                                        <p:tgtEl>
                                          <p:spTgt spid="43"/>
                                        </p:tgtEl>
                                        <p:attrNameLst>
                                          <p:attrName>ppt_h</p:attrName>
                                        </p:attrNameLst>
                                      </p:cBhvr>
                                      <p:tavLst>
                                        <p:tav tm="0">
                                          <p:val>
                                            <p:strVal val="0"/>
                                          </p:val>
                                        </p:tav>
                                        <p:tav tm="100000">
                                          <p:val>
                                            <p:strVal val="#ppt_h"/>
                                          </p:val>
                                        </p:tav>
                                      </p:tavLst>
                                    </p:anim>
                                  </p:childTnLst>
                                </p:cTn>
                              </p:par>
                            </p:childTnLst>
                          </p:cTn>
                        </p:par>
                        <p:par>
                          <p:cTn id="173" fill="hold">
                            <p:stCondLst>
                              <p:cond delay="450"/>
                            </p:stCondLst>
                            <p:childTnLst>
                              <p:par>
                                <p:cTn id="174" presetID="10" presetClass="entr" presetSubtype="0"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Effect transition="in" filter="fade">
                                      <p:cBhvr>
                                        <p:cTn id="176" dur="550"/>
                                        <p:tgtEl>
                                          <p:spTgt spid="44"/>
                                        </p:tgtEl>
                                      </p:cBhvr>
                                    </p:animEffect>
                                  </p:childTnLst>
                                </p:cTn>
                              </p:par>
                            </p:childTnLst>
                          </p:cTn>
                        </p:par>
                        <p:par>
                          <p:cTn id="177" fill="hold">
                            <p:stCondLst>
                              <p:cond delay="550"/>
                            </p:stCondLst>
                            <p:childTnLst>
                              <p:par>
                                <p:cTn id="178" presetID="2" presetClass="entr" presetSubtype="8"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1" dur="550" fill="hold"/>
                                        <p:tgtEl>
                                          <p:spTgt spid="45"/>
                                        </p:tgtEl>
                                        <p:attrNameLst>
                                          <p:attrName>ppt_x</p:attrName>
                                        </p:attrNameLst>
                                      </p:cBhvr>
                                      <p:tavLst>
                                        <p:tav tm="0">
                                          <p:val>
                                            <p:strVal val="0-#ppt_w/2"/>
                                          </p:val>
                                        </p:tav>
                                        <p:tav tm="100000">
                                          <p:val>
                                            <p:strVal val="#ppt_x"/>
                                          </p:val>
                                        </p:tav>
                                      </p:tavLst>
                                    </p:anim>
                                    <p:anim calcmode="lin" valueType="num">
                                      <p:cBhvr additive="base">
                                        <p:cTn id="182" dur="550" fill="hold"/>
                                        <p:tgtEl>
                                          <p:spTgt spid="45"/>
                                        </p:tgtEl>
                                        <p:attrNameLst>
                                          <p:attrName>ppt_y</p:attrName>
                                        </p:attrNameLst>
                                      </p:cBhvr>
                                      <p:tavLst>
                                        <p:tav tm="0">
                                          <p:val>
                                            <p:strVal val="#ppt_y"/>
                                          </p:val>
                                        </p:tav>
                                        <p:tav tm="100000">
                                          <p:val>
                                            <p:strVal val="#ppt_y"/>
                                          </p:val>
                                        </p:tav>
                                      </p:tavLst>
                                    </p:anim>
                                  </p:childTnLst>
                                </p:cTn>
                              </p:par>
                            </p:childTnLst>
                          </p:cTn>
                        </p:par>
                        <p:par>
                          <p:cTn id="183" fill="hold">
                            <p:stCondLst>
                              <p:cond delay="650"/>
                            </p:stCondLst>
                            <p:childTnLst>
                              <p:par>
                                <p:cTn id="184" presetID="22" presetClass="entr" presetSubtype="8" fill="hold" grpId="0" nodeType="afterEffect">
                                  <p:stCondLst>
                                    <p:cond delay="0"/>
                                  </p:stCondLst>
                                  <p:childTnLst>
                                    <p:set>
                                      <p:cBhvr>
                                        <p:cTn id="185" dur="1" fill="hold">
                                          <p:stCondLst>
                                            <p:cond delay="0"/>
                                          </p:stCondLst>
                                        </p:cTn>
                                        <p:tgtEl>
                                          <p:spTgt spid="46"/>
                                        </p:tgtEl>
                                        <p:attrNameLst>
                                          <p:attrName>style.visibility</p:attrName>
                                        </p:attrNameLst>
                                      </p:cBhvr>
                                      <p:to>
                                        <p:strVal val="visible"/>
                                      </p:to>
                                    </p:set>
                                    <p:animEffect transition="in" filter="wipe(left)">
                                      <p:cBhvr>
                                        <p:cTn id="187" dur="8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8</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9b07e9321548e59b.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Jasper Reichardt · Wikimedia Commons · CC BY-SA 4.0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2497992"/>
            <a:ext cx="50000" cy="258401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Zamonaviy chuqur o'rganish modellarining o'lchami va o'quv to'plamlarining hajmi bitta tezlatkich (accelerator) imkoniyatlaridan ancha oshib ketdi.</a:t>
            </a:r>
          </a:p>
          <a:p>
            <a:pPr>
              <a:spcBef>
                <a:spcPts val="400"/>
              </a:spcBef>
            </a:pPr>
            <a:r>
              <a:rPr sz="1600">
                <a:solidFill>
                  <a:srgbClr val="AEBBD9"/>
                </a:solidFill>
                <a:latin typeface="Segoe UI"/>
              </a:rPr>
              <a:t>Masalan, ImageNet-1k ustida ResNet-50 modelini 90 epoxa davomida bitta NVIDIA A100 GPU'da o'qitish taxminan 20–24 soat vaqt oladi; 8 ta GPU'li bitta DGX serverida esa bu vaqt 3 soat atrofiga tushadi, 256 GPU'li klasterda bir necha daqiqa ichida bajariladi.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9</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8058ee55edef2eb4.jpg"/>
          <p:cNvPicPr>
            <a:picLocks noChangeAspect="1"/>
          </p:cNvPicPr>
          <p:nvPr/>
        </p:nvPicPr>
        <p:blipFill>
          <a:blip r:embed="rId2"/>
          <a:srcRect t="15021" b="15021"/>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32104"/>
            <a:ext cx="50000" cy="23157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1" name="TextBox 30"/>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Katta til modellari (Large Language Models, LLM) uchun taqsimlangan o'qitish umuman muqobilsiz: 70 milliard parametrli modelning faqat og'irliklari FP16 aniqlikda 140 GB xotira talab qiladi, bu esa hatto 80 GB'li H100 ga ham sig'maydi.</a:t>
            </a:r>
          </a:p>
          <a:p>
            <a:pPr>
              <a:spcBef>
                <a:spcPts val="400"/>
              </a:spcBef>
            </a:pPr>
            <a:r>
              <a:rPr sz="1600">
                <a:solidFill>
                  <a:srgbClr val="AEBBD9"/>
                </a:solidFill>
                <a:latin typeface="Segoe UI"/>
              </a:rPr>
              <a:t>Shuning uchun taqsimlangan hisoblash bugun «qo'shimcha optimizatsiya» emas, balki sun'iy intellekt tizimlari muhandisining tayanch ko'nikmasidir.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10</a:t>
            </a:r>
          </a:p>
        </p:txBody>
      </p:sp>
      <p:sp>
        <p:nvSpPr>
          <p:cNvPr id="21" name="Rounded Rectangle 20"/>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3" name="TextBox 22"/>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4" name="Rounded Rectangle 23"/>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5" name="Rounded Rectangle 24"/>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1607432"/>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2431216"/>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28" name="TextBox 27"/>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Sanoat kontekstida taqsimlangan AI tizimlari uchta asosiy ko'rinishda uchraydi.</a:t>
            </a:r>
          </a:p>
          <a:p>
            <a:pPr>
              <a:spcBef>
                <a:spcPts val="400"/>
              </a:spcBef>
            </a:pPr>
            <a:r>
              <a:rPr sz="1400">
                <a:solidFill>
                  <a:srgbClr val="AEBBD9"/>
                </a:solidFill>
                <a:latin typeface="Segoe UI"/>
              </a:rPr>
              <a:t>Birinchisi — taqsimlangan o'qitish (distributed training), bunda modelni o'qitish ishi ko'plab GPU'lar orasida bo'linadi va har bir qadamda gradientlar sinxronlashtiriladi. Ikkinchisi — parallel inferens (parallel inference), bunda bir xil model nusxalari ko'plab so'rovlarni bir vaqtda qayta ishlaydi yoki bitta katta model bir nechta qurilmaga bo'linadi.</a:t>
            </a:r>
          </a:p>
        </p:txBody>
      </p:sp>
      <p:sp>
        <p:nvSpPr>
          <p:cNvPr id="29" name="Rounded Rectangle 28"/>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925000"/>
            <a:ext cx="50000" cy="20475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4748784"/>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2" name="TextBox 31"/>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Uchinchisi — taqsimlangan ma'lumot tayyorlash (data preprocessing), bunda Ray Data yoki Spark kabi vositalar terabaytlab xom ma'lumotni parallel ravishda tozalaydi va tokenlaydi.</a:t>
            </a:r>
          </a:p>
          <a:p>
            <a:pPr>
              <a:spcBef>
                <a:spcPts val="400"/>
              </a:spcBef>
            </a:pPr>
            <a:r>
              <a:rPr sz="1400">
                <a:solidFill>
                  <a:srgbClr val="AEBBD9"/>
                </a:solidFill>
                <a:latin typeface="Segoe UI"/>
              </a:rPr>
              <a:t>Ushbu amaliy mashg'ulotda dastlabki ikkita ko'rinish bilan amaliy ishlaymiz.</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50"/>
                                        <p:tgtEl>
                                          <p:spTgt spid="21"/>
                                        </p:tgtEl>
                                      </p:cBhvr>
                                    </p:animEffect>
                                    <p:anim calcmode="lin" valueType="num">
                                      <p:cBhvr additive="base">
                                        <p:cTn id="16" dur="550" fill="hold"/>
                                        <p:tgtEl>
                                          <p:spTgt spid="21"/>
                                        </p:tgtEl>
                                        <p:attrNameLst>
                                          <p:attrName>ppt_w</p:attrName>
                                        </p:attrNameLst>
                                      </p:cBhvr>
                                      <p:tavLst>
                                        <p:tav tm="0">
                                          <p:val>
                                            <p:strVal val="0"/>
                                          </p:val>
                                        </p:tav>
                                        <p:tav tm="100000">
                                          <p:val>
                                            <p:strVal val="#ppt_w"/>
                                          </p:val>
                                        </p:tav>
                                      </p:tavLst>
                                    </p:anim>
                                    <p:anim calcmode="lin" valueType="num">
                                      <p:cBhvr additive="base">
                                        <p:cTn id="17" dur="550" fill="hold"/>
                                        <p:tgtEl>
                                          <p:spTgt spid="21"/>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50"/>
                                        <p:tgtEl>
                                          <p:spTgt spid="22"/>
                                        </p:tgtEl>
                                      </p:cBhvr>
                                    </p:animEffect>
                                    <p:anim calcmode="lin" valueType="num">
                                      <p:cBhvr additive="base">
                                        <p:cTn id="22" dur="550" fill="hold"/>
                                        <p:tgtEl>
                                          <p:spTgt spid="22"/>
                                        </p:tgtEl>
                                        <p:attrNameLst>
                                          <p:attrName>ppt_w</p:attrName>
                                        </p:attrNameLst>
                                      </p:cBhvr>
                                      <p:tavLst>
                                        <p:tav tm="0">
                                          <p:val>
                                            <p:strVal val="0"/>
                                          </p:val>
                                        </p:tav>
                                        <p:tav tm="100000">
                                          <p:val>
                                            <p:strVal val="#ppt_w"/>
                                          </p:val>
                                        </p:tav>
                                      </p:tavLst>
                                    </p:anim>
                                    <p:anim calcmode="lin" valueType="num">
                                      <p:cBhvr additive="base">
                                        <p:cTn id="23" dur="550" fill="hold"/>
                                        <p:tgtEl>
                                          <p:spTgt spid="22"/>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50"/>
                                        <p:tgtEl>
                                          <p:spTgt spid="24"/>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50"/>
                                        <p:tgtEl>
                                          <p:spTgt spid="23"/>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50"/>
                                        <p:tgtEl>
                                          <p:spTgt spid="25"/>
                                        </p:tgtEl>
                                      </p:cBhvr>
                                    </p:animEffect>
                                    <p:anim calcmode="lin" valueType="num">
                                      <p:cBhvr additive="base">
                                        <p:cTn id="36" dur="550" fill="hold"/>
                                        <p:tgtEl>
                                          <p:spTgt spid="25"/>
                                        </p:tgtEl>
                                        <p:attrNameLst>
                                          <p:attrName>ppt_x</p:attrName>
                                        </p:attrNameLst>
                                      </p:cBhvr>
                                      <p:tavLst>
                                        <p:tav tm="0">
                                          <p:val>
                                            <p:strVal val="#ppt_x"/>
                                          </p:val>
                                        </p:tav>
                                        <p:tav tm="100000">
                                          <p:val>
                                            <p:strVal val="#ppt_x"/>
                                          </p:val>
                                        </p:tav>
                                      </p:tavLst>
                                    </p:anim>
                                    <p:anim calcmode="lin" valueType="num">
                                      <p:cBhvr additive="base">
                                        <p:cTn id="37" dur="550" fill="hold"/>
                                        <p:tgtEl>
                                          <p:spTgt spid="25"/>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50"/>
                                        <p:tgtEl>
                                          <p:spTgt spid="26"/>
                                        </p:tgtEl>
                                      </p:cBhvr>
                                    </p:animEffect>
                                    <p:anim calcmode="lin" valueType="num">
                                      <p:cBhvr additive="base">
                                        <p:cTn id="42" dur="550" fill="hold"/>
                                        <p:tgtEl>
                                          <p:spTgt spid="26"/>
                                        </p:tgtEl>
                                        <p:attrNameLst>
                                          <p:attrName>ppt_x</p:attrName>
                                        </p:attrNameLst>
                                      </p:cBhvr>
                                      <p:tavLst>
                                        <p:tav tm="0">
                                          <p:val>
                                            <p:strVal val="#ppt_x"/>
                                          </p:val>
                                        </p:tav>
                                        <p:tav tm="100000">
                                          <p:val>
                                            <p:strVal val="#ppt_x"/>
                                          </p:val>
                                        </p:tav>
                                      </p:tavLst>
                                    </p:anim>
                                    <p:anim calcmode="lin" valueType="num">
                                      <p:cBhvr additive="base">
                                        <p:cTn id="43" dur="550" fill="hold"/>
                                        <p:tgtEl>
                                          <p:spTgt spid="26"/>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50"/>
                                        <p:tgtEl>
                                          <p:spTgt spid="27"/>
                                        </p:tgtEl>
                                      </p:cBhvr>
                                    </p:animEffect>
                                    <p:anim calcmode="lin" valueType="num">
                                      <p:cBhvr additive="base">
                                        <p:cTn id="48" dur="550" fill="hold"/>
                                        <p:tgtEl>
                                          <p:spTgt spid="27"/>
                                        </p:tgtEl>
                                        <p:attrNameLst>
                                          <p:attrName>ppt_w</p:attrName>
                                        </p:attrNameLst>
                                      </p:cBhvr>
                                      <p:tavLst>
                                        <p:tav tm="0">
                                          <p:val>
                                            <p:strVal val="0"/>
                                          </p:val>
                                        </p:tav>
                                        <p:tav tm="100000">
                                          <p:val>
                                            <p:strVal val="#ppt_w"/>
                                          </p:val>
                                        </p:tav>
                                      </p:tavLst>
                                    </p:anim>
                                    <p:anim calcmode="lin" valueType="num">
                                      <p:cBhvr additive="base">
                                        <p:cTn id="49" dur="550" fill="hold"/>
                                        <p:tgtEl>
                                          <p:spTgt spid="27"/>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50"/>
                                        <p:tgtEl>
                                          <p:spTgt spid="28"/>
                                        </p:tgtEl>
                                      </p:cBhvr>
                                    </p:animEffect>
                                    <p:anim calcmode="lin" valueType="num">
                                      <p:cBhvr additive="base">
                                        <p:cTn id="54" dur="550" fill="hold"/>
                                        <p:tgtEl>
                                          <p:spTgt spid="28"/>
                                        </p:tgtEl>
                                        <p:attrNameLst>
                                          <p:attrName>ppt_x</p:attrName>
                                        </p:attrNameLst>
                                      </p:cBhvr>
                                      <p:tavLst>
                                        <p:tav tm="0">
                                          <p:val>
                                            <p:strVal val="#ppt_x"/>
                                          </p:val>
                                        </p:tav>
                                        <p:tav tm="100000">
                                          <p:val>
                                            <p:strVal val="#ppt_x"/>
                                          </p:val>
                                        </p:tav>
                                      </p:tavLst>
                                    </p:anim>
                                    <p:anim calcmode="lin" valueType="num">
                                      <p:cBhvr additive="base">
                                        <p:cTn id="55" dur="550" fill="hold"/>
                                        <p:tgtEl>
                                          <p:spTgt spid="28"/>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50"/>
                                        <p:tgtEl>
                                          <p:spTgt spid="29"/>
                                        </p:tgtEl>
                                      </p:cBhvr>
                                    </p:animEffect>
                                    <p:anim calcmode="lin" valueType="num">
                                      <p:cBhvr additive="base">
                                        <p:cTn id="60" dur="550" fill="hold"/>
                                        <p:tgtEl>
                                          <p:spTgt spid="29"/>
                                        </p:tgtEl>
                                        <p:attrNameLst>
                                          <p:attrName>ppt_x</p:attrName>
                                        </p:attrNameLst>
                                      </p:cBhvr>
                                      <p:tavLst>
                                        <p:tav tm="0">
                                          <p:val>
                                            <p:strVal val="#ppt_x"/>
                                          </p:val>
                                        </p:tav>
                                        <p:tav tm="100000">
                                          <p:val>
                                            <p:strVal val="#ppt_x"/>
                                          </p:val>
                                        </p:tav>
                                      </p:tavLst>
                                    </p:anim>
                                    <p:anim calcmode="lin" valueType="num">
                                      <p:cBhvr additive="base">
                                        <p:cTn id="61" dur="550" fill="hold"/>
                                        <p:tgtEl>
                                          <p:spTgt spid="29"/>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50"/>
                                        <p:tgtEl>
                                          <p:spTgt spid="30"/>
                                        </p:tgtEl>
                                      </p:cBhvr>
                                    </p:animEffect>
                                    <p:anim calcmode="lin" valueType="num">
                                      <p:cBhvr additive="base">
                                        <p:cTn id="66" dur="550" fill="hold"/>
                                        <p:tgtEl>
                                          <p:spTgt spid="30"/>
                                        </p:tgtEl>
                                        <p:attrNameLst>
                                          <p:attrName>ppt_x</p:attrName>
                                        </p:attrNameLst>
                                      </p:cBhvr>
                                      <p:tavLst>
                                        <p:tav tm="0">
                                          <p:val>
                                            <p:strVal val="#ppt_x"/>
                                          </p:val>
                                        </p:tav>
                                        <p:tav tm="100000">
                                          <p:val>
                                            <p:strVal val="#ppt_x"/>
                                          </p:val>
                                        </p:tav>
                                      </p:tavLst>
                                    </p:anim>
                                    <p:anim calcmode="lin" valueType="num">
                                      <p:cBhvr additive="base">
                                        <p:cTn id="67" dur="550" fill="hold"/>
                                        <p:tgtEl>
                                          <p:spTgt spid="30"/>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50"/>
                                        <p:tgtEl>
                                          <p:spTgt spid="31"/>
                                        </p:tgtEl>
                                      </p:cBhvr>
                                    </p:animEffect>
                                    <p:anim calcmode="lin" valueType="num">
                                      <p:cBhvr additive="base">
                                        <p:cTn id="72" dur="550" fill="hold"/>
                                        <p:tgtEl>
                                          <p:spTgt spid="31"/>
                                        </p:tgtEl>
                                        <p:attrNameLst>
                                          <p:attrName>ppt_w</p:attrName>
                                        </p:attrNameLst>
                                      </p:cBhvr>
                                      <p:tavLst>
                                        <p:tav tm="0">
                                          <p:val>
                                            <p:strVal val="0"/>
                                          </p:val>
                                        </p:tav>
                                        <p:tav tm="100000">
                                          <p:val>
                                            <p:strVal val="#ppt_w"/>
                                          </p:val>
                                        </p:tav>
                                      </p:tavLst>
                                    </p:anim>
                                    <p:anim calcmode="lin" valueType="num">
                                      <p:cBhvr additive="base">
                                        <p:cTn id="73" dur="550" fill="hold"/>
                                        <p:tgtEl>
                                          <p:spTgt spid="31"/>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50"/>
                                        <p:tgtEl>
                                          <p:spTgt spid="32"/>
                                        </p:tgtEl>
                                      </p:cBhvr>
                                    </p:animEffect>
                                    <p:anim calcmode="lin" valueType="num">
                                      <p:cBhvr additive="base">
                                        <p:cTn id="78" dur="550" fill="hold"/>
                                        <p:tgtEl>
                                          <p:spTgt spid="32"/>
                                        </p:tgtEl>
                                        <p:attrNameLst>
                                          <p:attrName>ppt_x</p:attrName>
                                        </p:attrNameLst>
                                      </p:cBhvr>
                                      <p:tavLst>
                                        <p:tav tm="0">
                                          <p:val>
                                            <p:strVal val="#ppt_x"/>
                                          </p:val>
                                        </p:tav>
                                        <p:tav tm="100000">
                                          <p:val>
                                            <p:strVal val="#ppt_x"/>
                                          </p:val>
                                        </p:tav>
                                      </p:tavLst>
                                    </p:anim>
                                    <p:anim calcmode="lin" valueType="num">
                                      <p:cBhvr additive="base">
                                        <p:cTn id="79"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4" grpId="0" animBg="1"/>
      <p:bldP spid="23"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11</a:t>
            </a:r>
          </a:p>
        </p:txBody>
      </p:sp>
      <p:sp>
        <p:nvSpPr>
          <p:cNvPr id="21" name="Rounded Rectangle 20"/>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3" name="TextBox 22"/>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4" name="Rounded Rectangle 23"/>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5" name="Rounded Rectangle 24"/>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2497992"/>
            <a:ext cx="50000" cy="2584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28" name="TextBox 27"/>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Taqsimlangan tizimni ishlab chiqishdagi asosiy muhandislik muammosi — hisoblash va kommunikatsiya o'rtasidagi muvozanat.</a:t>
            </a:r>
          </a:p>
          <a:p>
            <a:pPr>
              <a:spcBef>
                <a:spcPts val="400"/>
              </a:spcBef>
            </a:pPr>
            <a:r>
              <a:rPr sz="1600">
                <a:solidFill>
                  <a:srgbClr val="AEBBD9"/>
                </a:solidFill>
                <a:latin typeface="Segoe UI"/>
              </a:rPr>
              <a:t>Qancha ko'p GPU qo'shsak, har bir GPU'ga to'g'ri keladigan hisoblash ulushi kamayadi, lekin ular orasidagi gradient almashinuvi hajmi o'zgarmaydi yoki hatto o'sadi. Natijada ma'lum bir nuqtadan keyin qo'shimcha GPU'lar deyarli foyda bermaydi — bu Amdal qonunining (Amdahl's law) amaliy ko'rinishi.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50"/>
                                        <p:tgtEl>
                                          <p:spTgt spid="21"/>
                                        </p:tgtEl>
                                      </p:cBhvr>
                                    </p:animEffect>
                                    <p:anim calcmode="lin" valueType="num">
                                      <p:cBhvr additive="base">
                                        <p:cTn id="16" dur="550" fill="hold"/>
                                        <p:tgtEl>
                                          <p:spTgt spid="21"/>
                                        </p:tgtEl>
                                        <p:attrNameLst>
                                          <p:attrName>ppt_w</p:attrName>
                                        </p:attrNameLst>
                                      </p:cBhvr>
                                      <p:tavLst>
                                        <p:tav tm="0">
                                          <p:val>
                                            <p:strVal val="0"/>
                                          </p:val>
                                        </p:tav>
                                        <p:tav tm="100000">
                                          <p:val>
                                            <p:strVal val="#ppt_w"/>
                                          </p:val>
                                        </p:tav>
                                      </p:tavLst>
                                    </p:anim>
                                    <p:anim calcmode="lin" valueType="num">
                                      <p:cBhvr additive="base">
                                        <p:cTn id="17" dur="550" fill="hold"/>
                                        <p:tgtEl>
                                          <p:spTgt spid="21"/>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50"/>
                                        <p:tgtEl>
                                          <p:spTgt spid="22"/>
                                        </p:tgtEl>
                                      </p:cBhvr>
                                    </p:animEffect>
                                    <p:anim calcmode="lin" valueType="num">
                                      <p:cBhvr additive="base">
                                        <p:cTn id="22" dur="550" fill="hold"/>
                                        <p:tgtEl>
                                          <p:spTgt spid="22"/>
                                        </p:tgtEl>
                                        <p:attrNameLst>
                                          <p:attrName>ppt_w</p:attrName>
                                        </p:attrNameLst>
                                      </p:cBhvr>
                                      <p:tavLst>
                                        <p:tav tm="0">
                                          <p:val>
                                            <p:strVal val="0"/>
                                          </p:val>
                                        </p:tav>
                                        <p:tav tm="100000">
                                          <p:val>
                                            <p:strVal val="#ppt_w"/>
                                          </p:val>
                                        </p:tav>
                                      </p:tavLst>
                                    </p:anim>
                                    <p:anim calcmode="lin" valueType="num">
                                      <p:cBhvr additive="base">
                                        <p:cTn id="23" dur="550" fill="hold"/>
                                        <p:tgtEl>
                                          <p:spTgt spid="22"/>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50"/>
                                        <p:tgtEl>
                                          <p:spTgt spid="24"/>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50"/>
                                        <p:tgtEl>
                                          <p:spTgt spid="23"/>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50"/>
                                        <p:tgtEl>
                                          <p:spTgt spid="25"/>
                                        </p:tgtEl>
                                      </p:cBhvr>
                                    </p:animEffect>
                                    <p:anim calcmode="lin" valueType="num">
                                      <p:cBhvr additive="base">
                                        <p:cTn id="36" dur="550" fill="hold"/>
                                        <p:tgtEl>
                                          <p:spTgt spid="25"/>
                                        </p:tgtEl>
                                        <p:attrNameLst>
                                          <p:attrName>ppt_x</p:attrName>
                                        </p:attrNameLst>
                                      </p:cBhvr>
                                      <p:tavLst>
                                        <p:tav tm="0">
                                          <p:val>
                                            <p:strVal val="#ppt_x"/>
                                          </p:val>
                                        </p:tav>
                                        <p:tav tm="100000">
                                          <p:val>
                                            <p:strVal val="#ppt_x"/>
                                          </p:val>
                                        </p:tav>
                                      </p:tavLst>
                                    </p:anim>
                                    <p:anim calcmode="lin" valueType="num">
                                      <p:cBhvr additive="base">
                                        <p:cTn id="37" dur="550" fill="hold"/>
                                        <p:tgtEl>
                                          <p:spTgt spid="25"/>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50"/>
                                        <p:tgtEl>
                                          <p:spTgt spid="26"/>
                                        </p:tgtEl>
                                      </p:cBhvr>
                                    </p:animEffect>
                                    <p:anim calcmode="lin" valueType="num">
                                      <p:cBhvr additive="base">
                                        <p:cTn id="42" dur="550" fill="hold"/>
                                        <p:tgtEl>
                                          <p:spTgt spid="26"/>
                                        </p:tgtEl>
                                        <p:attrNameLst>
                                          <p:attrName>ppt_x</p:attrName>
                                        </p:attrNameLst>
                                      </p:cBhvr>
                                      <p:tavLst>
                                        <p:tav tm="0">
                                          <p:val>
                                            <p:strVal val="#ppt_x"/>
                                          </p:val>
                                        </p:tav>
                                        <p:tav tm="100000">
                                          <p:val>
                                            <p:strVal val="#ppt_x"/>
                                          </p:val>
                                        </p:tav>
                                      </p:tavLst>
                                    </p:anim>
                                    <p:anim calcmode="lin" valueType="num">
                                      <p:cBhvr additive="base">
                                        <p:cTn id="43" dur="550" fill="hold"/>
                                        <p:tgtEl>
                                          <p:spTgt spid="26"/>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50"/>
                                        <p:tgtEl>
                                          <p:spTgt spid="27"/>
                                        </p:tgtEl>
                                      </p:cBhvr>
                                    </p:animEffect>
                                    <p:anim calcmode="lin" valueType="num">
                                      <p:cBhvr additive="base">
                                        <p:cTn id="48" dur="550" fill="hold"/>
                                        <p:tgtEl>
                                          <p:spTgt spid="27"/>
                                        </p:tgtEl>
                                        <p:attrNameLst>
                                          <p:attrName>ppt_w</p:attrName>
                                        </p:attrNameLst>
                                      </p:cBhvr>
                                      <p:tavLst>
                                        <p:tav tm="0">
                                          <p:val>
                                            <p:strVal val="0"/>
                                          </p:val>
                                        </p:tav>
                                        <p:tav tm="100000">
                                          <p:val>
                                            <p:strVal val="#ppt_w"/>
                                          </p:val>
                                        </p:tav>
                                      </p:tavLst>
                                    </p:anim>
                                    <p:anim calcmode="lin" valueType="num">
                                      <p:cBhvr additive="base">
                                        <p:cTn id="49" dur="550" fill="hold"/>
                                        <p:tgtEl>
                                          <p:spTgt spid="27"/>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50"/>
                                        <p:tgtEl>
                                          <p:spTgt spid="28"/>
                                        </p:tgtEl>
                                      </p:cBhvr>
                                    </p:animEffect>
                                    <p:anim calcmode="lin" valueType="num">
                                      <p:cBhvr additive="base">
                                        <p:cTn id="54" dur="550" fill="hold"/>
                                        <p:tgtEl>
                                          <p:spTgt spid="28"/>
                                        </p:tgtEl>
                                        <p:attrNameLst>
                                          <p:attrName>ppt_x</p:attrName>
                                        </p:attrNameLst>
                                      </p:cBhvr>
                                      <p:tavLst>
                                        <p:tav tm="0">
                                          <p:val>
                                            <p:strVal val="#ppt_x"/>
                                          </p:val>
                                        </p:tav>
                                        <p:tav tm="100000">
                                          <p:val>
                                            <p:strVal val="#ppt_x"/>
                                          </p:val>
                                        </p:tav>
                                      </p:tavLst>
                                    </p:anim>
                                    <p:anim calcmode="lin" valueType="num">
                                      <p:cBhvr additive="base">
                                        <p:cTn id="55"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4" grpId="0" animBg="1"/>
      <p:bldP spid="23" grpId="0" animBg="1"/>
      <p:bldP spid="25" grpId="0" animBg="1"/>
      <p:bldP spid="26" grpId="0" animBg="1"/>
      <p:bldP spid="27" grpId="0" animBg="1"/>
      <p:bldP spid="28"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12</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632104"/>
            <a:ext cx="50000" cy="23157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30" name="TextBox 29"/>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Shu sababli taqsimlangan tizim muhandisining vazifasi faqat «ishlashiga erishish» emas, balki masshtablash samaradorligini o'lchash va uni cheklovchi omilni (bottleneck) aniqlashdir.</a:t>
            </a:r>
          </a:p>
          <a:p>
            <a:pPr>
              <a:spcBef>
                <a:spcPts val="400"/>
              </a:spcBef>
            </a:pPr>
            <a:r>
              <a:rPr sz="1600">
                <a:solidFill>
                  <a:srgbClr val="AEBBD9"/>
                </a:solidFill>
                <a:latin typeface="Segoe UI"/>
              </a:rPr>
              <a:t>Mashg'ulot davomida aynan shu o'lchov madaniyatini shakllantiramiz: har bir konfiguratsiya uchun o'tkazuvchanlik, tezlashish (speedup) va samaradorlik koeffitsiyenti hisoblanadi va jadvalga kiritiladi.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e5444aa4f2bf4a3c.jpg"/>
          <p:cNvPicPr>
            <a:picLocks noChangeAspect="1"/>
          </p:cNvPicPr>
          <p:nvPr/>
        </p:nvPicPr>
        <p:blipFill>
          <a:blip r:embed="rId2"/>
          <a:srcRect l="19886" r="19886"/>
          <a:stretch>
            <a:fillRect/>
          </a:stretch>
        </p:blipFill>
        <p:spPr>
          <a:xfrm>
            <a:off x="6300000" y="800000"/>
            <a:ext cx="5300000" cy="4950000"/>
          </a:xfrm>
          <a:prstGeom prst="roundRect">
            <a:avLst/>
          </a:prstGeom>
          <a:ln w="19050">
            <a:solidFill>
              <a:srgbClr val="22D3EE"/>
            </a:solidFill>
          </a:ln>
        </p:spPr>
      </p:pic>
      <p:sp>
        <p:nvSpPr>
          <p:cNvPr id="38" name="TextBox 37"/>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Levin Holtkamp · Wikimedia Commons · CC BY-SA 4.0</a:t>
            </a:r>
          </a:p>
        </p:txBody>
      </p:sp>
      <p:sp>
        <p:nvSpPr>
          <p:cNvPr id="39" name="TextBox 38"/>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03</a:t>
            </a:r>
          </a:p>
        </p:txBody>
      </p:sp>
      <p:sp>
        <p:nvSpPr>
          <p:cNvPr id="40" name="TextBox 39"/>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1" name="TextBox 40"/>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Nazariy asoslar</a:t>
            </a:r>
          </a:p>
        </p:txBody>
      </p:sp>
      <p:sp>
        <p:nvSpPr>
          <p:cNvPr id="42" name="Rectangle 41"/>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7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150"/>
                            </p:stCondLst>
                            <p:childTnLst>
                              <p:par>
                                <p:cTn id="136" presetID="53" presetClass="entr" presetSubtype="16"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anim calcmode="lin" valueType="num">
                                      <p:cBhvr additive="base">
                                        <p:cTn id="139" dur="550" fill="hold"/>
                                        <p:tgtEl>
                                          <p:spTgt spid="36"/>
                                        </p:tgtEl>
                                        <p:attrNameLst>
                                          <p:attrName>ppt_w</p:attrName>
                                        </p:attrNameLst>
                                      </p:cBhvr>
                                      <p:tavLst>
                                        <p:tav tm="0">
                                          <p:val>
                                            <p:strVal val="0"/>
                                          </p:val>
                                        </p:tav>
                                        <p:tav tm="100000">
                                          <p:val>
                                            <p:strVal val="#ppt_w"/>
                                          </p:val>
                                        </p:tav>
                                      </p:tavLst>
                                    </p:anim>
                                    <p:anim calcmode="lin" valueType="num">
                                      <p:cBhvr additive="base">
                                        <p:cTn id="140" dur="550" fill="hold"/>
                                        <p:tgtEl>
                                          <p:spTgt spid="36"/>
                                        </p:tgtEl>
                                        <p:attrNameLst>
                                          <p:attrName>ppt_h</p:attrName>
                                        </p:attrNameLst>
                                      </p:cBhvr>
                                      <p:tavLst>
                                        <p:tav tm="0">
                                          <p:val>
                                            <p:strVal val="0"/>
                                          </p:val>
                                        </p:tav>
                                        <p:tav tm="100000">
                                          <p:val>
                                            <p:strVal val="#ppt_h"/>
                                          </p:val>
                                        </p:tav>
                                      </p:tavLst>
                                    </p:anim>
                                  </p:childTnLst>
                                </p:cTn>
                              </p:par>
                            </p:childTnLst>
                          </p:cTn>
                        </p:par>
                        <p:par>
                          <p:cTn id="141" fill="hold">
                            <p:stCondLst>
                              <p:cond delay="150"/>
                            </p:stCondLst>
                            <p:childTnLst>
                              <p:par>
                                <p:cTn id="142" presetID="53" presetClass="entr" presetSubtype="16" fill="hold" grpId="0" nodeType="afterEffect">
                                  <p:stCondLst>
                                    <p:cond delay="0"/>
                                  </p:stCondLst>
                                  <p:childTnLst>
                                    <p:set>
                                      <p:cBhvr>
                                        <p:cTn id="143" dur="1" fill="hold">
                                          <p:stCondLst>
                                            <p:cond delay="0"/>
                                          </p:stCondLst>
                                        </p:cTn>
                                        <p:tgtEl>
                                          <p:spTgt spid="37"/>
                                        </p:tgtEl>
                                        <p:attrNameLst>
                                          <p:attrName>style.visibility</p:attrName>
                                        </p:attrNameLst>
                                      </p:cBhvr>
                                      <p:to>
                                        <p:strVal val="visible"/>
                                      </p:to>
                                    </p:set>
                                    <p:animEffect transition="in" filter="fade">
                                      <p:cBhvr>
                                        <p:cTn id="144" dur="550"/>
                                        <p:tgtEl>
                                          <p:spTgt spid="37"/>
                                        </p:tgtEl>
                                      </p:cBhvr>
                                    </p:animEffect>
                                    <p:anim calcmode="lin" valueType="num">
                                      <p:cBhvr additive="base">
                                        <p:cTn id="145" dur="550" fill="hold"/>
                                        <p:tgtEl>
                                          <p:spTgt spid="37"/>
                                        </p:tgtEl>
                                        <p:attrNameLst>
                                          <p:attrName>ppt_w</p:attrName>
                                        </p:attrNameLst>
                                      </p:cBhvr>
                                      <p:tavLst>
                                        <p:tav tm="0">
                                          <p:val>
                                            <p:strVal val="0"/>
                                          </p:val>
                                        </p:tav>
                                        <p:tav tm="100000">
                                          <p:val>
                                            <p:strVal val="#ppt_w"/>
                                          </p:val>
                                        </p:tav>
                                      </p:tavLst>
                                    </p:anim>
                                    <p:anim calcmode="lin" valueType="num">
                                      <p:cBhvr additive="base">
                                        <p:cTn id="146" dur="550" fill="hold"/>
                                        <p:tgtEl>
                                          <p:spTgt spid="37"/>
                                        </p:tgtEl>
                                        <p:attrNameLst>
                                          <p:attrName>ppt_h</p:attrName>
                                        </p:attrNameLst>
                                      </p:cBhvr>
                                      <p:tavLst>
                                        <p:tav tm="0">
                                          <p:val>
                                            <p:strVal val="0"/>
                                          </p:val>
                                        </p:tav>
                                        <p:tav tm="100000">
                                          <p:val>
                                            <p:strVal val="#ppt_h"/>
                                          </p:val>
                                        </p:tav>
                                      </p:tavLst>
                                    </p:anim>
                                  </p:childTnLst>
                                </p:cTn>
                              </p:par>
                            </p:childTnLst>
                          </p:cTn>
                        </p:par>
                        <p:par>
                          <p:cTn id="147" fill="hold">
                            <p:stCondLst>
                              <p:cond delay="150"/>
                            </p:stCondLst>
                            <p:childTnLst>
                              <p:par>
                                <p:cTn id="148" presetID="10" presetClass="entr" presetSubtype="0" fill="hold" grpId="0" nodeType="after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550"/>
                                        <p:tgtEl>
                                          <p:spTgt spid="38"/>
                                        </p:tgtEl>
                                      </p:cBhvr>
                                    </p:animEffect>
                                  </p:childTnLst>
                                </p:cTn>
                              </p:par>
                            </p:childTnLst>
                          </p:cTn>
                        </p:par>
                        <p:par>
                          <p:cTn id="151" fill="hold">
                            <p:stCondLst>
                              <p:cond delay="350"/>
                            </p:stCondLst>
                            <p:childTnLst>
                              <p:par>
                                <p:cTn id="152" presetID="53" presetClass="entr" presetSubtype="16" fill="hold" grpId="0" nodeType="after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fade">
                                      <p:cBhvr>
                                        <p:cTn id="154" dur="550"/>
                                        <p:tgtEl>
                                          <p:spTgt spid="39"/>
                                        </p:tgtEl>
                                      </p:cBhvr>
                                    </p:animEffect>
                                    <p:anim calcmode="lin" valueType="num">
                                      <p:cBhvr additive="base">
                                        <p:cTn id="155" dur="550" fill="hold"/>
                                        <p:tgtEl>
                                          <p:spTgt spid="39"/>
                                        </p:tgtEl>
                                        <p:attrNameLst>
                                          <p:attrName>ppt_w</p:attrName>
                                        </p:attrNameLst>
                                      </p:cBhvr>
                                      <p:tavLst>
                                        <p:tav tm="0">
                                          <p:val>
                                            <p:strVal val="0"/>
                                          </p:val>
                                        </p:tav>
                                        <p:tav tm="100000">
                                          <p:val>
                                            <p:strVal val="#ppt_w"/>
                                          </p:val>
                                        </p:tav>
                                      </p:tavLst>
                                    </p:anim>
                                    <p:anim calcmode="lin" valueType="num">
                                      <p:cBhvr additive="base">
                                        <p:cTn id="156" dur="550" fill="hold"/>
                                        <p:tgtEl>
                                          <p:spTgt spid="39"/>
                                        </p:tgtEl>
                                        <p:attrNameLst>
                                          <p:attrName>ppt_h</p:attrName>
                                        </p:attrNameLst>
                                      </p:cBhvr>
                                      <p:tavLst>
                                        <p:tav tm="0">
                                          <p:val>
                                            <p:strVal val="0"/>
                                          </p:val>
                                        </p:tav>
                                        <p:tav tm="100000">
                                          <p:val>
                                            <p:strVal val="#ppt_h"/>
                                          </p:val>
                                        </p:tav>
                                      </p:tavLst>
                                    </p:anim>
                                  </p:childTnLst>
                                </p:cTn>
                              </p:par>
                            </p:childTnLst>
                          </p:cTn>
                        </p:par>
                        <p:par>
                          <p:cTn id="157" fill="hold">
                            <p:stCondLst>
                              <p:cond delay="450"/>
                            </p:stCondLst>
                            <p:childTnLst>
                              <p:par>
                                <p:cTn id="158" presetID="10" presetClass="entr" presetSubtype="0" fill="hold" grpId="0" nodeType="afterEffect">
                                  <p:stCondLst>
                                    <p:cond delay="0"/>
                                  </p:stCondLst>
                                  <p:childTnLst>
                                    <p:set>
                                      <p:cBhvr>
                                        <p:cTn id="159" dur="1" fill="hold">
                                          <p:stCondLst>
                                            <p:cond delay="0"/>
                                          </p:stCondLst>
                                        </p:cTn>
                                        <p:tgtEl>
                                          <p:spTgt spid="40"/>
                                        </p:tgtEl>
                                        <p:attrNameLst>
                                          <p:attrName>style.visibility</p:attrName>
                                        </p:attrNameLst>
                                      </p:cBhvr>
                                      <p:to>
                                        <p:strVal val="visible"/>
                                      </p:to>
                                    </p:set>
                                    <p:animEffect transition="in" filter="fade">
                                      <p:cBhvr>
                                        <p:cTn id="160" dur="550"/>
                                        <p:tgtEl>
                                          <p:spTgt spid="40"/>
                                        </p:tgtEl>
                                      </p:cBhvr>
                                    </p:animEffect>
                                  </p:childTnLst>
                                </p:cTn>
                              </p:par>
                            </p:childTnLst>
                          </p:cTn>
                        </p:par>
                        <p:par>
                          <p:cTn id="161" fill="hold">
                            <p:stCondLst>
                              <p:cond delay="550"/>
                            </p:stCondLst>
                            <p:childTnLst>
                              <p:par>
                                <p:cTn id="162" presetID="2" presetClass="entr" presetSubtype="8" fill="hold" grpId="0" nodeType="afterEffect">
                                  <p:stCondLst>
                                    <p:cond delay="0"/>
                                  </p:stCondLst>
                                  <p:childTnLst>
                                    <p:set>
                                      <p:cBhvr>
                                        <p:cTn id="163" dur="1" fill="hold">
                                          <p:stCondLst>
                                            <p:cond delay="0"/>
                                          </p:stCondLst>
                                        </p:cTn>
                                        <p:tgtEl>
                                          <p:spTgt spid="41"/>
                                        </p:tgtEl>
                                        <p:attrNameLst>
                                          <p:attrName>style.visibility</p:attrName>
                                        </p:attrNameLst>
                                      </p:cBhvr>
                                      <p:to>
                                        <p:strVal val="visible"/>
                                      </p:to>
                                    </p:set>
                                    <p:anim calcmode="lin" valueType="num">
                                      <p:cBhvr additive="base">
                                        <p:cTn id="165" dur="550" fill="hold"/>
                                        <p:tgtEl>
                                          <p:spTgt spid="41"/>
                                        </p:tgtEl>
                                        <p:attrNameLst>
                                          <p:attrName>ppt_x</p:attrName>
                                        </p:attrNameLst>
                                      </p:cBhvr>
                                      <p:tavLst>
                                        <p:tav tm="0">
                                          <p:val>
                                            <p:strVal val="0-#ppt_w/2"/>
                                          </p:val>
                                        </p:tav>
                                        <p:tav tm="100000">
                                          <p:val>
                                            <p:strVal val="#ppt_x"/>
                                          </p:val>
                                        </p:tav>
                                      </p:tavLst>
                                    </p:anim>
                                    <p:anim calcmode="lin" valueType="num">
                                      <p:cBhvr additive="base">
                                        <p:cTn id="166" dur="550" fill="hold"/>
                                        <p:tgtEl>
                                          <p:spTgt spid="41"/>
                                        </p:tgtEl>
                                        <p:attrNameLst>
                                          <p:attrName>ppt_y</p:attrName>
                                        </p:attrNameLst>
                                      </p:cBhvr>
                                      <p:tavLst>
                                        <p:tav tm="0">
                                          <p:val>
                                            <p:strVal val="#ppt_y"/>
                                          </p:val>
                                        </p:tav>
                                        <p:tav tm="100000">
                                          <p:val>
                                            <p:strVal val="#ppt_y"/>
                                          </p:val>
                                        </p:tav>
                                      </p:tavLst>
                                    </p:anim>
                                  </p:childTnLst>
                                </p:cTn>
                              </p:par>
                            </p:childTnLst>
                          </p:cTn>
                        </p:par>
                        <p:par>
                          <p:cTn id="167" fill="hold">
                            <p:stCondLst>
                              <p:cond delay="650"/>
                            </p:stCondLst>
                            <p:childTnLst>
                              <p:par>
                                <p:cTn id="168" presetID="22" presetClass="entr" presetSubtype="8" fill="hold" grpId="0" nodeType="afterEffect">
                                  <p:stCondLst>
                                    <p:cond delay="0"/>
                                  </p:stCondLst>
                                  <p:childTnLst>
                                    <p:set>
                                      <p:cBhvr>
                                        <p:cTn id="169" dur="1" fill="hold">
                                          <p:stCondLst>
                                            <p:cond delay="0"/>
                                          </p:stCondLst>
                                        </p:cTn>
                                        <p:tgtEl>
                                          <p:spTgt spid="42"/>
                                        </p:tgtEl>
                                        <p:attrNameLst>
                                          <p:attrName>style.visibility</p:attrName>
                                        </p:attrNameLst>
                                      </p:cBhvr>
                                      <p:to>
                                        <p:strVal val="visible"/>
                                      </p:to>
                                    </p:set>
                                    <p:animEffect transition="in" filter="wipe(left)">
                                      <p:cBhvr>
                                        <p:cTn id="171" dur="8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5" name="TextBox 14"/>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Parallellik turlari va ularning qo'llanish sohalari</a:t>
            </a:r>
          </a:p>
        </p:txBody>
      </p:sp>
      <p:sp>
        <p:nvSpPr>
          <p:cNvPr id="16" name="Rectangle 15"/>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18" name="Rounded Rectangle 17"/>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14</a:t>
            </a:r>
          </a:p>
        </p:txBody>
      </p:sp>
      <p:sp>
        <p:nvSpPr>
          <p:cNvPr id="19" name="Rounded Rectangle 18"/>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048a68667d252f9.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1" name="TextBox 20"/>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Anthere · Wikimedia Commons · CC BY-SA 4.0</a:t>
            </a:r>
          </a:p>
        </p:txBody>
      </p:sp>
      <p:sp>
        <p:nvSpPr>
          <p:cNvPr id="22" name="Rounded Rectangle 21"/>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3" name="Rounded Rectangle 22"/>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0000" y="2497992"/>
            <a:ext cx="50000" cy="258401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6" name="TextBox 25"/>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Taqsimlangan o'qitishda to'rtta asosiy parallellik turi farqlanadi.</a:t>
            </a:r>
          </a:p>
          <a:p>
            <a:pPr>
              <a:spcBef>
                <a:spcPts val="400"/>
              </a:spcBef>
            </a:pPr>
            <a:r>
              <a:rPr sz="1600">
                <a:solidFill>
                  <a:srgbClr val="AEBBD9"/>
                </a:solidFill>
                <a:latin typeface="Segoe UI"/>
              </a:rPr>
              <a:t>Ma'lumotlar parallelligi (data parallelism) — eng keng tarqalgan usul: modelning to'liq nusxasi har bir GPU'da saqlanadi, global mini-paket (batch) GPU'lar soniga teng bo'laklarga bo'linadi, har bir GPU o'z bo'lagida oldinga va orqaga o'tishni (forward/backward) hisoblaydi, so'ngra gradientlar barcha GPU'lar orasida o'rtachalashtiriladi.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550"/>
                                        <p:tgtEl>
                                          <p:spTgt spid="15"/>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1" dur="800"/>
                                        <p:tgtEl>
                                          <p:spTgt spid="16"/>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50"/>
                                        <p:tgtEl>
                                          <p:spTgt spid="19"/>
                                        </p:tgtEl>
                                      </p:cBhvr>
                                    </p:animEffect>
                                    <p:anim calcmode="lin" valueType="num">
                                      <p:cBhvr additive="base">
                                        <p:cTn id="16" dur="550" fill="hold"/>
                                        <p:tgtEl>
                                          <p:spTgt spid="19"/>
                                        </p:tgtEl>
                                        <p:attrNameLst>
                                          <p:attrName>ppt_w</p:attrName>
                                        </p:attrNameLst>
                                      </p:cBhvr>
                                      <p:tavLst>
                                        <p:tav tm="0">
                                          <p:val>
                                            <p:strVal val="0"/>
                                          </p:val>
                                        </p:tav>
                                        <p:tav tm="100000">
                                          <p:val>
                                            <p:strVal val="#ppt_w"/>
                                          </p:val>
                                        </p:tav>
                                      </p:tavLst>
                                    </p:anim>
                                    <p:anim calcmode="lin" valueType="num">
                                      <p:cBhvr additive="base">
                                        <p:cTn id="17" dur="550" fill="hold"/>
                                        <p:tgtEl>
                                          <p:spTgt spid="19"/>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50"/>
                                        <p:tgtEl>
                                          <p:spTgt spid="20"/>
                                        </p:tgtEl>
                                      </p:cBhvr>
                                    </p:animEffect>
                                    <p:anim calcmode="lin" valueType="num">
                                      <p:cBhvr additive="base">
                                        <p:cTn id="22" dur="550" fill="hold"/>
                                        <p:tgtEl>
                                          <p:spTgt spid="20"/>
                                        </p:tgtEl>
                                        <p:attrNameLst>
                                          <p:attrName>ppt_w</p:attrName>
                                        </p:attrNameLst>
                                      </p:cBhvr>
                                      <p:tavLst>
                                        <p:tav tm="0">
                                          <p:val>
                                            <p:strVal val="0"/>
                                          </p:val>
                                        </p:tav>
                                        <p:tav tm="100000">
                                          <p:val>
                                            <p:strVal val="#ppt_w"/>
                                          </p:val>
                                        </p:tav>
                                      </p:tavLst>
                                    </p:anim>
                                    <p:anim calcmode="lin" valueType="num">
                                      <p:cBhvr additive="base">
                                        <p:cTn id="23" dur="550" fill="hold"/>
                                        <p:tgtEl>
                                          <p:spTgt spid="20"/>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50"/>
                                        <p:tgtEl>
                                          <p:spTgt spid="22"/>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50"/>
                                        <p:tgtEl>
                                          <p:spTgt spid="21"/>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50"/>
                                        <p:tgtEl>
                                          <p:spTgt spid="23"/>
                                        </p:tgtEl>
                                      </p:cBhvr>
                                    </p:animEffect>
                                    <p:anim calcmode="lin" valueType="num">
                                      <p:cBhvr additive="base">
                                        <p:cTn id="36" dur="550" fill="hold"/>
                                        <p:tgtEl>
                                          <p:spTgt spid="23"/>
                                        </p:tgtEl>
                                        <p:attrNameLst>
                                          <p:attrName>ppt_x</p:attrName>
                                        </p:attrNameLst>
                                      </p:cBhvr>
                                      <p:tavLst>
                                        <p:tav tm="0">
                                          <p:val>
                                            <p:strVal val="#ppt_x"/>
                                          </p:val>
                                        </p:tav>
                                        <p:tav tm="100000">
                                          <p:val>
                                            <p:strVal val="#ppt_x"/>
                                          </p:val>
                                        </p:tav>
                                      </p:tavLst>
                                    </p:anim>
                                    <p:anim calcmode="lin" valueType="num">
                                      <p:cBhvr additive="base">
                                        <p:cTn id="37" dur="550" fill="hold"/>
                                        <p:tgtEl>
                                          <p:spTgt spid="23"/>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50"/>
                                        <p:tgtEl>
                                          <p:spTgt spid="24"/>
                                        </p:tgtEl>
                                      </p:cBhvr>
                                    </p:animEffect>
                                    <p:anim calcmode="lin" valueType="num">
                                      <p:cBhvr additive="base">
                                        <p:cTn id="42" dur="550" fill="hold"/>
                                        <p:tgtEl>
                                          <p:spTgt spid="24"/>
                                        </p:tgtEl>
                                        <p:attrNameLst>
                                          <p:attrName>ppt_x</p:attrName>
                                        </p:attrNameLst>
                                      </p:cBhvr>
                                      <p:tavLst>
                                        <p:tav tm="0">
                                          <p:val>
                                            <p:strVal val="#ppt_x"/>
                                          </p:val>
                                        </p:tav>
                                        <p:tav tm="100000">
                                          <p:val>
                                            <p:strVal val="#ppt_x"/>
                                          </p:val>
                                        </p:tav>
                                      </p:tavLst>
                                    </p:anim>
                                    <p:anim calcmode="lin" valueType="num">
                                      <p:cBhvr additive="base">
                                        <p:cTn id="43" dur="550" fill="hold"/>
                                        <p:tgtEl>
                                          <p:spTgt spid="24"/>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50"/>
                                        <p:tgtEl>
                                          <p:spTgt spid="25"/>
                                        </p:tgtEl>
                                      </p:cBhvr>
                                    </p:animEffect>
                                    <p:anim calcmode="lin" valueType="num">
                                      <p:cBhvr additive="base">
                                        <p:cTn id="48" dur="550" fill="hold"/>
                                        <p:tgtEl>
                                          <p:spTgt spid="25"/>
                                        </p:tgtEl>
                                        <p:attrNameLst>
                                          <p:attrName>ppt_w</p:attrName>
                                        </p:attrNameLst>
                                      </p:cBhvr>
                                      <p:tavLst>
                                        <p:tav tm="0">
                                          <p:val>
                                            <p:strVal val="0"/>
                                          </p:val>
                                        </p:tav>
                                        <p:tav tm="100000">
                                          <p:val>
                                            <p:strVal val="#ppt_w"/>
                                          </p:val>
                                        </p:tav>
                                      </p:tavLst>
                                    </p:anim>
                                    <p:anim calcmode="lin" valueType="num">
                                      <p:cBhvr additive="base">
                                        <p:cTn id="49" dur="550" fill="hold"/>
                                        <p:tgtEl>
                                          <p:spTgt spid="25"/>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50"/>
                                        <p:tgtEl>
                                          <p:spTgt spid="26"/>
                                        </p:tgtEl>
                                      </p:cBhvr>
                                    </p:animEffect>
                                    <p:anim calcmode="lin" valueType="num">
                                      <p:cBhvr additive="base">
                                        <p:cTn id="54" dur="550" fill="hold"/>
                                        <p:tgtEl>
                                          <p:spTgt spid="26"/>
                                        </p:tgtEl>
                                        <p:attrNameLst>
                                          <p:attrName>ppt_x</p:attrName>
                                        </p:attrNameLst>
                                      </p:cBhvr>
                                      <p:tavLst>
                                        <p:tav tm="0">
                                          <p:val>
                                            <p:strVal val="#ppt_x"/>
                                          </p:val>
                                        </p:tav>
                                        <p:tav tm="100000">
                                          <p:val>
                                            <p:strVal val="#ppt_x"/>
                                          </p:val>
                                        </p:tav>
                                      </p:tavLst>
                                    </p:anim>
                                    <p:anim calcmode="lin" valueType="num">
                                      <p:cBhvr additive="base">
                                        <p:cTn id="55" dur="550" fill="hold"/>
                                        <p:tgtEl>
                                          <p:spTgt spid="2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2" grpId="0" animBg="1"/>
      <p:bldP spid="21" grpId="0" animBg="1"/>
      <p:bldP spid="23" grpId="0" animBg="1"/>
      <p:bldP spid="24" grpId="0" animBg="1"/>
      <p:bldP spid="25" grpId="0" animBg="1"/>
      <p:bldP spid="26"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Parallellik turlari va ularning qo'llanish sohalari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15</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9b07e9321548e59b.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Jasper Reichardt · Wikimedia Commons · CC BY-SA 4.0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1607432"/>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43121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Model parallelligi (model parallelism) — model qatlamlari turli qurilmalarga joylashtiriladi; bu model bitta GPU xotirasiga sig'maganda zarur.</a:t>
            </a:r>
          </a:p>
          <a:p>
            <a:pPr>
              <a:spcBef>
                <a:spcPts val="400"/>
              </a:spcBef>
            </a:pPr>
            <a:r>
              <a:rPr sz="1400">
                <a:solidFill>
                  <a:srgbClr val="AEBBD9"/>
                </a:solidFill>
                <a:latin typeface="Segoe UI"/>
              </a:rPr>
              <a:t>Tensor parallelligi (tensor parallelism) — bitta katta matritsali ko'paytirish bir nechta GPU'ga ustunlar yoki satrlar bo'yicha bo'linadi (Megatron-LM yondashuvi). Quvur (pipeline) parallelligi — qatlamlar bosqichlarga guruhlanadi va mikro-paketlar konveyer tarzida o'tkaziladi (GPipe, PipeDream).</a:t>
            </a:r>
          </a:p>
        </p:txBody>
      </p:sp>
      <p:sp>
        <p:nvSpPr>
          <p:cNvPr id="33" name="Rounded Rectangle 32"/>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748784"/>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6" name="TextBox 35"/>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Ushbu mashg'ulotda asosiy e'tibor DDP'ga qaratiladi, chunki u eng ko'p qo'llaniladi va boshqa usullarni tushunish uchun poydevor bo'ladi.</a:t>
            </a:r>
          </a:p>
          <a:p>
            <a:pPr>
              <a:spcBef>
                <a:spcPts val="400"/>
              </a:spcBef>
            </a:pPr>
            <a:r>
              <a:rPr sz="1400">
                <a:solidFill>
                  <a:srgbClr val="AEBBD9"/>
                </a:solidFill>
                <a:latin typeface="Segoe UI"/>
              </a:rPr>
              <a:t>Fully Sharded Data Parallel (FSDP) haqida esa qo'shimcha topshiriqda so'z yuritiladi.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Parallellik turlari va ularning qo'llanish sohalari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16</a:t>
            </a:r>
          </a:p>
        </p:txBody>
      </p:sp>
      <p:graphicFrame>
        <p:nvGraphicFramePr>
          <p:cNvPr id="23" name="Table 22"/>
          <p:cNvGraphicFramePr>
            <a:graphicFrameLocks noGrp="1"/>
          </p:cNvGraphicFramePr>
          <p:nvPr/>
        </p:nvGraphicFramePr>
        <p:xfrm>
          <a:off x="550000" y="1400000"/>
          <a:ext cx="11100000" cy="260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200" b="1">
                          <a:solidFill>
                            <a:srgbClr val="22D3EE"/>
                          </a:solidFill>
                          <a:latin typeface="Segoe UI"/>
                        </a:rPr>
                        <a:t>Parallellik turi</a:t>
                      </a:r>
                    </a:p>
                  </a:txBody>
                  <a:tcPr>
                    <a:solidFill>
                      <a:srgbClr val="1C2755"/>
                    </a:solidFill>
                  </a:tcPr>
                </a:tc>
                <a:tc>
                  <a:txBody>
                    <a:bodyPr/>
                    <a:lstStyle/>
                    <a:p>
                      <a:r>
                        <a:rPr sz="1200" b="1">
                          <a:solidFill>
                            <a:srgbClr val="22D3EE"/>
                          </a:solidFill>
                          <a:latin typeface="Segoe UI"/>
                        </a:rPr>
                        <a:t>Nimani bo'ladi</a:t>
                      </a:r>
                    </a:p>
                  </a:txBody>
                  <a:tcPr>
                    <a:solidFill>
                      <a:srgbClr val="1C2755"/>
                    </a:solidFill>
                  </a:tcPr>
                </a:tc>
                <a:tc>
                  <a:txBody>
                    <a:bodyPr/>
                    <a:lstStyle/>
                    <a:p>
                      <a:r>
                        <a:rPr sz="1200" b="1">
                          <a:solidFill>
                            <a:srgbClr val="22D3EE"/>
                          </a:solidFill>
                          <a:latin typeface="Segoe UI"/>
                        </a:rPr>
                        <a:t>Kommunikatsiya hajmi</a:t>
                      </a:r>
                    </a:p>
                  </a:txBody>
                  <a:tcPr>
                    <a:solidFill>
                      <a:srgbClr val="1C2755"/>
                    </a:solidFill>
                  </a:tcPr>
                </a:tc>
                <a:tc>
                  <a:txBody>
                    <a:bodyPr/>
                    <a:lstStyle/>
                    <a:p>
                      <a:r>
                        <a:rPr sz="1200" b="1">
                          <a:solidFill>
                            <a:srgbClr val="22D3EE"/>
                          </a:solidFill>
                          <a:latin typeface="Segoe UI"/>
                        </a:rPr>
                        <a:t>Qachon tanlanadi</a:t>
                      </a:r>
                    </a:p>
                  </a:txBody>
                  <a:tcPr>
                    <a:solidFill>
                      <a:srgbClr val="1C2755"/>
                    </a:solidFill>
                  </a:tcPr>
                </a:tc>
              </a:tr>
              <a:tr h="520000">
                <a:tc>
                  <a:txBody>
                    <a:bodyPr/>
                    <a:lstStyle/>
                    <a:p>
                      <a:r>
                        <a:rPr sz="1200" b="0">
                          <a:solidFill>
                            <a:srgbClr val="E8EEFA"/>
                          </a:solidFill>
                          <a:latin typeface="Segoe UI"/>
                        </a:rPr>
                        <a:t>Ma'lumotlar (DDP)</a:t>
                      </a:r>
                    </a:p>
                  </a:txBody>
                  <a:tcPr>
                    <a:solidFill>
                      <a:srgbClr val="111834"/>
                    </a:solidFill>
                  </a:tcPr>
                </a:tc>
                <a:tc>
                  <a:txBody>
                    <a:bodyPr/>
                    <a:lstStyle/>
                    <a:p>
                      <a:r>
                        <a:rPr sz="1200" b="0">
                          <a:solidFill>
                            <a:srgbClr val="E8EEFA"/>
                          </a:solidFill>
                          <a:latin typeface="Segoe UI"/>
                        </a:rPr>
                        <a:t>Mini-paketni</a:t>
                      </a:r>
                    </a:p>
                  </a:txBody>
                  <a:tcPr>
                    <a:solidFill>
                      <a:srgbClr val="111834"/>
                    </a:solidFill>
                  </a:tcPr>
                </a:tc>
                <a:tc>
                  <a:txBody>
                    <a:bodyPr/>
                    <a:lstStyle/>
                    <a:p>
                      <a:r>
                        <a:rPr sz="1200" b="0">
                          <a:solidFill>
                            <a:srgbClr val="E8EEFA"/>
                          </a:solidFill>
                          <a:latin typeface="Segoe UI"/>
                        </a:rPr>
                        <a:t>Har qadamda barcha gradientlar (model o'lchamiga teng)</a:t>
                      </a:r>
                    </a:p>
                  </a:txBody>
                  <a:tcPr>
                    <a:solidFill>
                      <a:srgbClr val="111834"/>
                    </a:solidFill>
                  </a:tcPr>
                </a:tc>
                <a:tc>
                  <a:txBody>
                    <a:bodyPr/>
                    <a:lstStyle/>
                    <a:p>
                      <a:r>
                        <a:rPr sz="1200" b="0">
                          <a:solidFill>
                            <a:srgbClr val="E8EEFA"/>
                          </a:solidFill>
                          <a:latin typeface="Segoe UI"/>
                        </a:rPr>
                        <a:t>Model bitta GPU'ga sig'sa</a:t>
                      </a:r>
                    </a:p>
                  </a:txBody>
                  <a:tcPr>
                    <a:solidFill>
                      <a:srgbClr val="111834"/>
                    </a:solidFill>
                  </a:tcPr>
                </a:tc>
              </a:tr>
              <a:tr h="520000">
                <a:tc>
                  <a:txBody>
                    <a:bodyPr/>
                    <a:lstStyle/>
                    <a:p>
                      <a:r>
                        <a:rPr sz="1200" b="0">
                          <a:solidFill>
                            <a:srgbClr val="E8EEFA"/>
                          </a:solidFill>
                          <a:latin typeface="Segoe UI"/>
                        </a:rPr>
                        <a:t>FSDP / ZeRO</a:t>
                      </a:r>
                    </a:p>
                  </a:txBody>
                  <a:tcPr>
                    <a:solidFill>
                      <a:srgbClr val="161F40"/>
                    </a:solidFill>
                  </a:tcPr>
                </a:tc>
                <a:tc>
                  <a:txBody>
                    <a:bodyPr/>
                    <a:lstStyle/>
                    <a:p>
                      <a:r>
                        <a:rPr sz="1200" b="0">
                          <a:solidFill>
                            <a:srgbClr val="E8EEFA"/>
                          </a:solidFill>
                          <a:latin typeface="Segoe UI"/>
                        </a:rPr>
                        <a:t>Parametrlar, gradientlar, optimizator holati</a:t>
                      </a:r>
                    </a:p>
                  </a:txBody>
                  <a:tcPr>
                    <a:solidFill>
                      <a:srgbClr val="161F40"/>
                    </a:solidFill>
                  </a:tcPr>
                </a:tc>
                <a:tc>
                  <a:txBody>
                    <a:bodyPr/>
                    <a:lstStyle/>
                    <a:p>
                      <a:r>
                        <a:rPr sz="1200" b="0">
                          <a:solidFill>
                            <a:srgbClr val="E8EEFA"/>
                          </a:solidFill>
                          <a:latin typeface="Segoe UI"/>
                        </a:rPr>
                        <a:t>All-gather + reduce-scatter</a:t>
                      </a:r>
                    </a:p>
                  </a:txBody>
                  <a:tcPr>
                    <a:solidFill>
                      <a:srgbClr val="161F40"/>
                    </a:solidFill>
                  </a:tcPr>
                </a:tc>
                <a:tc>
                  <a:txBody>
                    <a:bodyPr/>
                    <a:lstStyle/>
                    <a:p>
                      <a:r>
                        <a:rPr sz="1200" b="0">
                          <a:solidFill>
                            <a:srgbClr val="E8EEFA"/>
                          </a:solidFill>
                          <a:latin typeface="Segoe UI"/>
                        </a:rPr>
                        <a:t>Model sig'maydi, lekin bitta tugunda yoki tezkor tarmoq bor</a:t>
                      </a:r>
                    </a:p>
                  </a:txBody>
                  <a:tcPr>
                    <a:solidFill>
                      <a:srgbClr val="161F40"/>
                    </a:solidFill>
                  </a:tcPr>
                </a:tc>
              </a:tr>
              <a:tr h="520000">
                <a:tc>
                  <a:txBody>
                    <a:bodyPr/>
                    <a:lstStyle/>
                    <a:p>
                      <a:r>
                        <a:rPr sz="1200" b="0">
                          <a:solidFill>
                            <a:srgbClr val="E8EEFA"/>
                          </a:solidFill>
                          <a:latin typeface="Segoe UI"/>
                        </a:rPr>
                        <a:t>Tensor</a:t>
                      </a:r>
                    </a:p>
                  </a:txBody>
                  <a:tcPr>
                    <a:solidFill>
                      <a:srgbClr val="111834"/>
                    </a:solidFill>
                  </a:tcPr>
                </a:tc>
                <a:tc>
                  <a:txBody>
                    <a:bodyPr/>
                    <a:lstStyle/>
                    <a:p>
                      <a:r>
                        <a:rPr sz="1200" b="0">
                          <a:solidFill>
                            <a:srgbClr val="E8EEFA"/>
                          </a:solidFill>
                          <a:latin typeface="Segoe UI"/>
                        </a:rPr>
                        <a:t>Bitta qatlam matritsasini</a:t>
                      </a:r>
                    </a:p>
                  </a:txBody>
                  <a:tcPr>
                    <a:solidFill>
                      <a:srgbClr val="111834"/>
                    </a:solidFill>
                  </a:tcPr>
                </a:tc>
                <a:tc>
                  <a:txBody>
                    <a:bodyPr/>
                    <a:lstStyle/>
                    <a:p>
                      <a:r>
                        <a:rPr sz="1200" b="0">
                          <a:solidFill>
                            <a:srgbClr val="E8EEFA"/>
                          </a:solidFill>
                          <a:latin typeface="Segoe UI"/>
                        </a:rPr>
                        <a:t>Har qatlamda aktivatsiyalar</a:t>
                      </a:r>
                    </a:p>
                  </a:txBody>
                  <a:tcPr>
                    <a:solidFill>
                      <a:srgbClr val="111834"/>
                    </a:solidFill>
                  </a:tcPr>
                </a:tc>
                <a:tc>
                  <a:txBody>
                    <a:bodyPr/>
                    <a:lstStyle/>
                    <a:p>
                      <a:r>
                        <a:rPr sz="1200" b="0">
                          <a:solidFill>
                            <a:srgbClr val="E8EEFA"/>
                          </a:solidFill>
                          <a:latin typeface="Segoe UI"/>
                        </a:rPr>
                        <a:t>Juda katta qatlamlar, NVLink bor</a:t>
                      </a:r>
                    </a:p>
                  </a:txBody>
                  <a:tcPr>
                    <a:solidFill>
                      <a:srgbClr val="111834"/>
                    </a:solidFill>
                  </a:tcPr>
                </a:tc>
              </a:tr>
              <a:tr h="520000">
                <a:tc>
                  <a:txBody>
                    <a:bodyPr/>
                    <a:lstStyle/>
                    <a:p>
                      <a:r>
                        <a:rPr sz="1200" b="0">
                          <a:solidFill>
                            <a:srgbClr val="E8EEFA"/>
                          </a:solidFill>
                          <a:latin typeface="Segoe UI"/>
                        </a:rPr>
                        <a:t>Pipeline</a:t>
                      </a:r>
                    </a:p>
                  </a:txBody>
                  <a:tcPr>
                    <a:solidFill>
                      <a:srgbClr val="161F40"/>
                    </a:solidFill>
                  </a:tcPr>
                </a:tc>
                <a:tc>
                  <a:txBody>
                    <a:bodyPr/>
                    <a:lstStyle/>
                    <a:p>
                      <a:r>
                        <a:rPr sz="1200" b="0">
                          <a:solidFill>
                            <a:srgbClr val="E8EEFA"/>
                          </a:solidFill>
                          <a:latin typeface="Segoe UI"/>
                        </a:rPr>
                        <a:t>Qatlamlar bosqichlarini</a:t>
                      </a:r>
                    </a:p>
                  </a:txBody>
                  <a:tcPr>
                    <a:solidFill>
                      <a:srgbClr val="161F40"/>
                    </a:solidFill>
                  </a:tcPr>
                </a:tc>
                <a:tc>
                  <a:txBody>
                    <a:bodyPr/>
                    <a:lstStyle/>
                    <a:p>
                      <a:r>
                        <a:rPr sz="1200" b="0">
                          <a:solidFill>
                            <a:srgbClr val="E8EEFA"/>
                          </a:solidFill>
                          <a:latin typeface="Segoe UI"/>
                        </a:rPr>
                        <a:t>Faqat bosqichlar chegarasida aktivatsiyalar</a:t>
                      </a:r>
                    </a:p>
                  </a:txBody>
                  <a:tcPr>
                    <a:solidFill>
                      <a:srgbClr val="161F40"/>
                    </a:solidFill>
                  </a:tcPr>
                </a:tc>
                <a:tc>
                  <a:txBody>
                    <a:bodyPr/>
                    <a:lstStyle/>
                    <a:p>
                      <a:r>
                        <a:rPr sz="1200" b="0">
                          <a:solidFill>
                            <a:srgbClr val="E8EEFA"/>
                          </a:solidFill>
                          <a:latin typeface="Segoe UI"/>
                        </a:rPr>
                        <a:t>Ko'p tugun, sekin tarmoq</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6" dur="8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PyTorch Distributed: jarayonlar guruhi, backend va DDP mexanizmi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17</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8058ee55edef2eb4.jpg"/>
          <p:cNvPicPr>
            <a:picLocks noChangeAspect="1"/>
          </p:cNvPicPr>
          <p:nvPr/>
        </p:nvPicPr>
        <p:blipFill>
          <a:blip r:embed="rId2"/>
          <a:srcRect t="15021" b="15021"/>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497992"/>
            <a:ext cx="50000" cy="258401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PyTorch'da taqsimlangan hisoblashning asosi — torch.distributed paketi.</a:t>
            </a:r>
          </a:p>
          <a:p>
            <a:pPr>
              <a:spcBef>
                <a:spcPts val="400"/>
              </a:spcBef>
            </a:pPr>
            <a:r>
              <a:rPr sz="1600">
                <a:solidFill>
                  <a:srgbClr val="AEBBD9"/>
                </a:solidFill>
                <a:latin typeface="Segoe UI"/>
              </a:rPr>
              <a:t>Unda har bir GPU uchun alohida operatsion tizim jarayoni (process) ishga tushiriladi, bu jarayonlar bitta jarayonlar guruhiga (process group) birlashtiriladi. Har bir jarayon ikki identifikatorga ega: rank — global tartib raqami (0 dan world_size - 1 gacha) va local_rank — ayni tugundagi tartib raqami (odatda GPU indeksi bilan bir xil). world_size — jami jarayonlar soni.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PyTorch Distributed: jarayonlar guruhi, backend va DDP mexanizmi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18</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48868"/>
            <a:ext cx="50000" cy="22822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1" name="TextBox 30"/>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Jarayonlar orasidagi xabar almashinuvi backend orqali amalga oshiriladi.</a:t>
            </a:r>
          </a:p>
          <a:p>
            <a:pPr>
              <a:spcBef>
                <a:spcPts val="400"/>
              </a:spcBef>
            </a:pPr>
            <a:r>
              <a:rPr sz="1400">
                <a:solidFill>
                  <a:srgbClr val="AEBBD9"/>
                </a:solidFill>
                <a:latin typeface="Segoe UI"/>
              </a:rPr>
              <a:t>GPU'lar uchun standart tanlov — NCCL (NVIDIA Collective Communications Library), u NVLink, PCIe va InfiniBand topologiyasini avtomatik aniqlab, kollektiv operatsiyalarni (all-reduce, all-gather, broadcast, reduce-scatter) eng samarali yo'l bilan bajaradi. CPU uchun Gloo backend ishlatiladi; MPI backend esa PyTorch'ni MPI kutubxonasi bilan qayta kompilyatsiya qilishni talab qiladi va asosan HPC klasterlarida uchraydi.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PyTorch Distributed: jarayonlar guruhi, backend va DDP mexanizmi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19</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607432"/>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431216"/>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3" name="TextBox 32"/>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DistributedDataParallel (DDP) o'rami (wrapper) quyidagicha ishlaydi: modelni o'rab olish paytida 0-rankdagi parametrlar barcha jarayonlarga broadcast qilinadi, shu bilan barcha nusxalar bir xil boshlang'ich holatga ega bo'ladi.</a:t>
            </a:r>
          </a:p>
          <a:p>
            <a:pPr>
              <a:spcBef>
                <a:spcPts val="400"/>
              </a:spcBef>
            </a:pPr>
            <a:r>
              <a:rPr sz="1400">
                <a:solidFill>
                  <a:srgbClr val="AEBBD9"/>
                </a:solidFill>
                <a:latin typeface="Segoe UI"/>
              </a:rPr>
              <a:t>Orqaga o'tish paytida har bir parametrning gradienti tayyor bo'lishi bilan u chelak (bucket, standart hajmi 25 MB) ga qo'shiladi; chelak to'lganda u uchun asinxron all-reduce boshlanadi.</a:t>
            </a:r>
          </a:p>
        </p:txBody>
      </p:sp>
      <p:sp>
        <p:nvSpPr>
          <p:cNvPr id="34" name="Rounded Rectangle 33"/>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20475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748784"/>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7" name="TextBox 36"/>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Shu tufayli kommunikatsiya orqaga o'tish hisoblashi bilan ustma-ust tushadi (overlap) — bu DDP'ning asosiy samaradorlik manbai.</a:t>
            </a:r>
          </a:p>
          <a:p>
            <a:pPr>
              <a:spcBef>
                <a:spcPts val="400"/>
              </a:spcBef>
            </a:pPr>
            <a:r>
              <a:rPr sz="1400">
                <a:solidFill>
                  <a:srgbClr val="AEBBD9"/>
                </a:solidFill>
                <a:latin typeface="Segoe UI"/>
              </a:rPr>
              <a:t>All-reduce tugaganda har bir jarayonda gradientlar o'rtacha qiymatga ega bo'ladi va optimizator qadami mahalliy, lekin bir xil natija bilan bajariladi.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PyTorch Distributed: jarayonlar guruhi, backend va DDP mexanizmi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20</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900328"/>
            <a:ext cx="50000" cy="17793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2" name="TextBox 31"/>
          <p:cNvSpPr txBox="1"/>
          <p:nvPr/>
        </p:nvSpPr>
        <p:spPr>
          <a:xfrm>
            <a:off x="1300000" y="2860328"/>
            <a:ext cx="5900000" cy="1859344"/>
          </a:xfrm>
          <a:prstGeom prst="rect">
            <a:avLst/>
          </a:prstGeom>
          <a:noFill/>
        </p:spPr>
        <p:txBody>
          <a:bodyPr wrap="square" anchor="ctr">
            <a:spAutoFit/>
          </a:bodyPr>
          <a:lstStyle/>
          <a:p>
            <a:r>
              <a:rPr sz="1700" b="1">
                <a:solidFill>
                  <a:srgbClr val="E8EEFA"/>
                </a:solidFill>
                <a:latin typeface="Segoe UI"/>
              </a:rPr>
              <a:t>Muhim nuqta — ma'lumotlarni bo'lish.</a:t>
            </a:r>
          </a:p>
          <a:p>
            <a:pPr>
              <a:spcBef>
                <a:spcPts val="400"/>
              </a:spcBef>
            </a:pPr>
            <a:r>
              <a:rPr sz="1600">
                <a:solidFill>
                  <a:srgbClr val="AEBBD9"/>
                </a:solidFill>
                <a:latin typeface="Segoe UI"/>
              </a:rPr>
              <a:t>DistributedSampler har bir epoxada ma'lumotlar to'plamini world_size ta kesishmaydigan qismga bo'ladi va har bir jarayonga o'zining qismini beradi; epoxa boshida sampler.set_epoch(epoch) chaqirilmasa, barcha epoxalarda aralashtirish bir xil bo'ladi.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Ring All-Reduce va kommunikatsiya narxi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21</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048a68667d252f9.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Anthere · Wikimedia Commons · CC BY-SA 4.0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1741544"/>
            <a:ext cx="50000" cy="191345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4982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1701544"/>
            <a:ext cx="5900000" cy="1993456"/>
          </a:xfrm>
          <a:prstGeom prst="rect">
            <a:avLst/>
          </a:prstGeom>
          <a:noFill/>
        </p:spPr>
        <p:txBody>
          <a:bodyPr wrap="square" anchor="ctr">
            <a:spAutoFit/>
          </a:bodyPr>
          <a:lstStyle/>
          <a:p>
            <a:r>
              <a:rPr sz="1400" b="1">
                <a:solidFill>
                  <a:srgbClr val="E8EEFA"/>
                </a:solidFill>
                <a:latin typeface="Segoe UI"/>
              </a:rPr>
              <a:t>All-reduce operatsiyasining samaradorligi butun tizim unumdorligini belgilaydi.</a:t>
            </a:r>
          </a:p>
          <a:p>
            <a:pPr>
              <a:spcBef>
                <a:spcPts val="400"/>
              </a:spcBef>
            </a:pPr>
            <a:r>
              <a:rPr sz="1300">
                <a:solidFill>
                  <a:srgbClr val="AEBBD9"/>
                </a:solidFill>
                <a:latin typeface="Segoe UI"/>
              </a:rPr>
              <a:t>Sodda yondashuvda barcha gradientlar bitta parametr-serverga yuboriladi, u yig'adi va qaytaradi: bunda server tarmoq o'tkazuvchanligi N ta ishchi uchun chiziqli o'sib boruvchi yuk oladi.</a:t>
            </a:r>
          </a:p>
        </p:txBody>
      </p:sp>
      <p:sp>
        <p:nvSpPr>
          <p:cNvPr id="30" name="Rounded Rectangle 29"/>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925000"/>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46817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Halqa all-reduce (ring all-reduce) algoritmi bu muammoni hal qiladi: N ta jarayon halqa bo'ylab joylashadi, gradient vektori N bo'lakka bo'linadi, N-1 ta reduce-scatter qadamida har bir bo'lak qo'shni orqali aylanib to'liq yig'indiga aylanadi, so'ngra N-1 ta…</a:t>
            </a:r>
          </a:p>
          <a:p>
            <a:pPr>
              <a:spcBef>
                <a:spcPts val="400"/>
              </a:spcBef>
            </a:pPr>
            <a:r>
              <a:rPr sz="1300">
                <a:solidFill>
                  <a:srgbClr val="AEBBD9"/>
                </a:solidFill>
                <a:latin typeface="Segoe UI"/>
              </a:rPr>
              <a:t>Har bir jarayon jami 2  (N-1) / N  S bayt yuboradi, bu yerda S — gradientlarning umumiy hajmi. N katta bo'lganda bu 2S ga intiladi va ishchilar sonidan deyarli bog'liq bo'lmay qoladi.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50"/>
                                        <p:tgtEl>
                                          <p:spTgt spid="30"/>
                                        </p:tgtEl>
                                      </p:cBhvr>
                                    </p:animEffect>
                                    <p:anim calcmode="lin" valueType="num">
                                      <p:cBhvr additive="base">
                                        <p:cTn id="60" dur="550" fill="hold"/>
                                        <p:tgtEl>
                                          <p:spTgt spid="30"/>
                                        </p:tgtEl>
                                        <p:attrNameLst>
                                          <p:attrName>ppt_x</p:attrName>
                                        </p:attrNameLst>
                                      </p:cBhvr>
                                      <p:tavLst>
                                        <p:tav tm="0">
                                          <p:val>
                                            <p:strVal val="#ppt_x"/>
                                          </p:val>
                                        </p:tav>
                                        <p:tav tm="100000">
                                          <p:val>
                                            <p:strVal val="#ppt_x"/>
                                          </p:val>
                                        </p:tav>
                                      </p:tavLst>
                                    </p:anim>
                                    <p:anim calcmode="lin" valueType="num">
                                      <p:cBhvr additive="base">
                                        <p:cTn id="61" dur="550" fill="hold"/>
                                        <p:tgtEl>
                                          <p:spTgt spid="30"/>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50"/>
                                        <p:tgtEl>
                                          <p:spTgt spid="31"/>
                                        </p:tgtEl>
                                      </p:cBhvr>
                                    </p:animEffect>
                                    <p:anim calcmode="lin" valueType="num">
                                      <p:cBhvr additive="base">
                                        <p:cTn id="66" dur="550" fill="hold"/>
                                        <p:tgtEl>
                                          <p:spTgt spid="31"/>
                                        </p:tgtEl>
                                        <p:attrNameLst>
                                          <p:attrName>ppt_x</p:attrName>
                                        </p:attrNameLst>
                                      </p:cBhvr>
                                      <p:tavLst>
                                        <p:tav tm="0">
                                          <p:val>
                                            <p:strVal val="#ppt_x"/>
                                          </p:val>
                                        </p:tav>
                                        <p:tav tm="100000">
                                          <p:val>
                                            <p:strVal val="#ppt_x"/>
                                          </p:val>
                                        </p:tav>
                                      </p:tavLst>
                                    </p:anim>
                                    <p:anim calcmode="lin" valueType="num">
                                      <p:cBhvr additive="base">
                                        <p:cTn id="67" dur="550" fill="hold"/>
                                        <p:tgtEl>
                                          <p:spTgt spid="31"/>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50"/>
                                        <p:tgtEl>
                                          <p:spTgt spid="32"/>
                                        </p:tgtEl>
                                      </p:cBhvr>
                                    </p:animEffect>
                                    <p:anim calcmode="lin" valueType="num">
                                      <p:cBhvr additive="base">
                                        <p:cTn id="72" dur="550" fill="hold"/>
                                        <p:tgtEl>
                                          <p:spTgt spid="32"/>
                                        </p:tgtEl>
                                        <p:attrNameLst>
                                          <p:attrName>ppt_w</p:attrName>
                                        </p:attrNameLst>
                                      </p:cBhvr>
                                      <p:tavLst>
                                        <p:tav tm="0">
                                          <p:val>
                                            <p:strVal val="0"/>
                                          </p:val>
                                        </p:tav>
                                        <p:tav tm="100000">
                                          <p:val>
                                            <p:strVal val="#ppt_w"/>
                                          </p:val>
                                        </p:tav>
                                      </p:tavLst>
                                    </p:anim>
                                    <p:anim calcmode="lin" valueType="num">
                                      <p:cBhvr additive="base">
                                        <p:cTn id="73" dur="550" fill="hold"/>
                                        <p:tgtEl>
                                          <p:spTgt spid="32"/>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50"/>
                                        <p:tgtEl>
                                          <p:spTgt spid="33"/>
                                        </p:tgtEl>
                                      </p:cBhvr>
                                    </p:animEffect>
                                    <p:anim calcmode="lin" valueType="num">
                                      <p:cBhvr additive="base">
                                        <p:cTn id="78" dur="550" fill="hold"/>
                                        <p:tgtEl>
                                          <p:spTgt spid="33"/>
                                        </p:tgtEl>
                                        <p:attrNameLst>
                                          <p:attrName>ppt_x</p:attrName>
                                        </p:attrNameLst>
                                      </p:cBhvr>
                                      <p:tavLst>
                                        <p:tav tm="0">
                                          <p:val>
                                            <p:strVal val="#ppt_x"/>
                                          </p:val>
                                        </p:tav>
                                        <p:tav tm="100000">
                                          <p:val>
                                            <p:strVal val="#ppt_x"/>
                                          </p:val>
                                        </p:tav>
                                      </p:tavLst>
                                    </p:anim>
                                    <p:anim calcmode="lin" valueType="num">
                                      <p:cBhvr additive="base">
                                        <p:cTn id="79"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Ring All-Reduce va kommunikatsiya narxi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22</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9b07e9321548e59b.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Jasper Reichardt · Wikimedia Commons · CC BY-SA 4.0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900328"/>
            <a:ext cx="50000" cy="177934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29" name="TextBox 28"/>
          <p:cNvSpPr txBox="1"/>
          <p:nvPr/>
        </p:nvSpPr>
        <p:spPr>
          <a:xfrm>
            <a:off x="1300000" y="2860328"/>
            <a:ext cx="5900000" cy="1859344"/>
          </a:xfrm>
          <a:prstGeom prst="rect">
            <a:avLst/>
          </a:prstGeom>
          <a:noFill/>
        </p:spPr>
        <p:txBody>
          <a:bodyPr wrap="square" anchor="ctr">
            <a:spAutoFit/>
          </a:bodyPr>
          <a:lstStyle/>
          <a:p>
            <a:r>
              <a:rPr sz="1600" b="0">
                <a:solidFill>
                  <a:srgbClr val="E8EEFA"/>
                </a:solidFill>
                <a:latin typeface="Segoe UI"/>
              </a:rPr>
              <a:t>Kommunikatsiya narxini kamaytirishning amaliy usullari: gradient to'plash (gradient accumulation — bir necha mikro-paket uchun bitta all-reduce), aralash aniqlik (gradientlarni BF16 da yuborish hajmni ikki baravar kamaytiradi), gradient siqish (compression)…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Masshtablash samaradorligi ko'rsatkichlari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23</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8058ee55edef2eb4.jpg"/>
          <p:cNvPicPr>
            <a:picLocks noChangeAspect="1"/>
          </p:cNvPicPr>
          <p:nvPr/>
        </p:nvPicPr>
        <p:blipFill>
          <a:blip r:embed="rId2"/>
          <a:srcRect t="15021" b="15021"/>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1842128"/>
            <a:ext cx="50000" cy="181287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548564"/>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Taqsimlangan tizimni baholashda quyidagi miqdorlar ishlatiladi.</a:t>
            </a:r>
          </a:p>
          <a:p>
            <a:pPr>
              <a:spcBef>
                <a:spcPts val="400"/>
              </a:spcBef>
            </a:pPr>
            <a:r>
              <a:rPr sz="1400">
                <a:solidFill>
                  <a:srgbClr val="AEBBD9"/>
                </a:solidFill>
                <a:latin typeface="Segoe UI"/>
              </a:rPr>
              <a:t>T(1) — bitta GPU'dagi bir epoxa (yoki belgilangan qadam soni) vaqti, T(N) — N GPU'dagi vaqt. Tezlashish S(N) = T(1) / T(N). Masshtablash samaradorligi E(N) = S(N) / N  100%. Ideal holda E = 100%; amaliyotda DDP uchun bitta tugun ichida 85–95%, tugunlar orasida 70–90% yaxshi natija hisoblanadi.</a:t>
            </a:r>
          </a:p>
        </p:txBody>
      </p:sp>
      <p:sp>
        <p:nvSpPr>
          <p:cNvPr id="30" name="Rounded Rectangle 29"/>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925000"/>
            <a:ext cx="50000" cy="1812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463143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3885000"/>
            <a:ext cx="5900000" cy="1892872"/>
          </a:xfrm>
          <a:prstGeom prst="rect">
            <a:avLst/>
          </a:prstGeom>
          <a:noFill/>
        </p:spPr>
        <p:txBody>
          <a:bodyPr wrap="square" anchor="ctr">
            <a:spAutoFit/>
          </a:bodyPr>
          <a:lstStyle/>
          <a:p>
            <a:r>
              <a:rPr sz="1500" b="1">
                <a:solidFill>
                  <a:srgbClr val="E8EEFA"/>
                </a:solidFill>
                <a:latin typeface="Segoe UI"/>
              </a:rPr>
              <a:t>Ikki rejimni farqlash shart.</a:t>
            </a:r>
          </a:p>
          <a:p>
            <a:pPr>
              <a:spcBef>
                <a:spcPts val="400"/>
              </a:spcBef>
            </a:pPr>
            <a:r>
              <a:rPr sz="1400">
                <a:solidFill>
                  <a:srgbClr val="AEBBD9"/>
                </a:solidFill>
                <a:latin typeface="Segoe UI"/>
              </a:rPr>
              <a:t>Kuchli masshtablash (strong scaling): global paket hajmi o'zgarmaydi, GPU qo'shilganda har biriga kamroq namuna tegadi; bu yerda GPU'lar «to'yinmay» qoladi va samaradorlik tez tushadi.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50"/>
                                        <p:tgtEl>
                                          <p:spTgt spid="30"/>
                                        </p:tgtEl>
                                      </p:cBhvr>
                                    </p:animEffect>
                                    <p:anim calcmode="lin" valueType="num">
                                      <p:cBhvr additive="base">
                                        <p:cTn id="60" dur="550" fill="hold"/>
                                        <p:tgtEl>
                                          <p:spTgt spid="30"/>
                                        </p:tgtEl>
                                        <p:attrNameLst>
                                          <p:attrName>ppt_x</p:attrName>
                                        </p:attrNameLst>
                                      </p:cBhvr>
                                      <p:tavLst>
                                        <p:tav tm="0">
                                          <p:val>
                                            <p:strVal val="#ppt_x"/>
                                          </p:val>
                                        </p:tav>
                                        <p:tav tm="100000">
                                          <p:val>
                                            <p:strVal val="#ppt_x"/>
                                          </p:val>
                                        </p:tav>
                                      </p:tavLst>
                                    </p:anim>
                                    <p:anim calcmode="lin" valueType="num">
                                      <p:cBhvr additive="base">
                                        <p:cTn id="61" dur="550" fill="hold"/>
                                        <p:tgtEl>
                                          <p:spTgt spid="30"/>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50"/>
                                        <p:tgtEl>
                                          <p:spTgt spid="31"/>
                                        </p:tgtEl>
                                      </p:cBhvr>
                                    </p:animEffect>
                                    <p:anim calcmode="lin" valueType="num">
                                      <p:cBhvr additive="base">
                                        <p:cTn id="66" dur="550" fill="hold"/>
                                        <p:tgtEl>
                                          <p:spTgt spid="31"/>
                                        </p:tgtEl>
                                        <p:attrNameLst>
                                          <p:attrName>ppt_x</p:attrName>
                                        </p:attrNameLst>
                                      </p:cBhvr>
                                      <p:tavLst>
                                        <p:tav tm="0">
                                          <p:val>
                                            <p:strVal val="#ppt_x"/>
                                          </p:val>
                                        </p:tav>
                                        <p:tav tm="100000">
                                          <p:val>
                                            <p:strVal val="#ppt_x"/>
                                          </p:val>
                                        </p:tav>
                                      </p:tavLst>
                                    </p:anim>
                                    <p:anim calcmode="lin" valueType="num">
                                      <p:cBhvr additive="base">
                                        <p:cTn id="67" dur="550" fill="hold"/>
                                        <p:tgtEl>
                                          <p:spTgt spid="31"/>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50"/>
                                        <p:tgtEl>
                                          <p:spTgt spid="32"/>
                                        </p:tgtEl>
                                      </p:cBhvr>
                                    </p:animEffect>
                                    <p:anim calcmode="lin" valueType="num">
                                      <p:cBhvr additive="base">
                                        <p:cTn id="72" dur="550" fill="hold"/>
                                        <p:tgtEl>
                                          <p:spTgt spid="32"/>
                                        </p:tgtEl>
                                        <p:attrNameLst>
                                          <p:attrName>ppt_w</p:attrName>
                                        </p:attrNameLst>
                                      </p:cBhvr>
                                      <p:tavLst>
                                        <p:tav tm="0">
                                          <p:val>
                                            <p:strVal val="0"/>
                                          </p:val>
                                        </p:tav>
                                        <p:tav tm="100000">
                                          <p:val>
                                            <p:strVal val="#ppt_w"/>
                                          </p:val>
                                        </p:tav>
                                      </p:tavLst>
                                    </p:anim>
                                    <p:anim calcmode="lin" valueType="num">
                                      <p:cBhvr additive="base">
                                        <p:cTn id="73" dur="550" fill="hold"/>
                                        <p:tgtEl>
                                          <p:spTgt spid="32"/>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50"/>
                                        <p:tgtEl>
                                          <p:spTgt spid="33"/>
                                        </p:tgtEl>
                                      </p:cBhvr>
                                    </p:animEffect>
                                    <p:anim calcmode="lin" valueType="num">
                                      <p:cBhvr additive="base">
                                        <p:cTn id="78" dur="550" fill="hold"/>
                                        <p:tgtEl>
                                          <p:spTgt spid="33"/>
                                        </p:tgtEl>
                                        <p:attrNameLst>
                                          <p:attrName>ppt_x</p:attrName>
                                        </p:attrNameLst>
                                      </p:cBhvr>
                                      <p:tavLst>
                                        <p:tav tm="0">
                                          <p:val>
                                            <p:strVal val="#ppt_x"/>
                                          </p:val>
                                        </p:tav>
                                        <p:tav tm="100000">
                                          <p:val>
                                            <p:strVal val="#ppt_x"/>
                                          </p:val>
                                        </p:tav>
                                      </p:tavLst>
                                    </p:anim>
                                    <p:anim calcmode="lin" valueType="num">
                                      <p:cBhvr additive="base">
                                        <p:cTn id="79"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Masshtablash samaradorligi ko'rsatkichlari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24</a:t>
            </a:r>
          </a:p>
        </p:txBody>
      </p:sp>
      <p:graphicFrame>
        <p:nvGraphicFramePr>
          <p:cNvPr id="25" name="Table 24"/>
          <p:cNvGraphicFramePr>
            <a:graphicFrameLocks noGrp="1"/>
          </p:cNvGraphicFramePr>
          <p:nvPr/>
        </p:nvGraphicFramePr>
        <p:xfrm>
          <a:off x="550000" y="1400000"/>
          <a:ext cx="11100000" cy="2600000"/>
        </p:xfrm>
        <a:graphic>
          <a:graphicData uri="http://schemas.openxmlformats.org/drawingml/2006/table">
            <a:tbl>
              <a:tblPr firstRow="1" bandRow="1">
                <a:tableStyleId>{5C22544A-7EE6-4342-B048-85BDC9FD1C3A}</a:tableStyleId>
              </a:tblPr>
              <a:tblGrid>
                <a:gridCol w="3700000"/>
                <a:gridCol w="3700000"/>
                <a:gridCol w="3700000"/>
              </a:tblGrid>
              <a:tr h="520000">
                <a:tc>
                  <a:txBody>
                    <a:bodyPr/>
                    <a:lstStyle/>
                    <a:p>
                      <a:r>
                        <a:rPr sz="1200" b="1">
                          <a:solidFill>
                            <a:srgbClr val="22D3EE"/>
                          </a:solidFill>
                          <a:latin typeface="Segoe UI"/>
                        </a:rPr>
                        <a:t>Ko'rsatkich</a:t>
                      </a:r>
                    </a:p>
                  </a:txBody>
                  <a:tcPr>
                    <a:solidFill>
                      <a:srgbClr val="1C2755"/>
                    </a:solidFill>
                  </a:tcPr>
                </a:tc>
                <a:tc>
                  <a:txBody>
                    <a:bodyPr/>
                    <a:lstStyle/>
                    <a:p>
                      <a:r>
                        <a:rPr sz="1200" b="1">
                          <a:solidFill>
                            <a:srgbClr val="22D3EE"/>
                          </a:solidFill>
                          <a:latin typeface="Segoe UI"/>
                        </a:rPr>
                        <a:t>Formula</a:t>
                      </a:r>
                    </a:p>
                  </a:txBody>
                  <a:tcPr>
                    <a:solidFill>
                      <a:srgbClr val="1C2755"/>
                    </a:solidFill>
                  </a:tcPr>
                </a:tc>
                <a:tc>
                  <a:txBody>
                    <a:bodyPr/>
                    <a:lstStyle/>
                    <a:p>
                      <a:r>
                        <a:rPr sz="1200" b="1">
                          <a:solidFill>
                            <a:srgbClr val="22D3EE"/>
                          </a:solidFill>
                          <a:latin typeface="Segoe UI"/>
                        </a:rPr>
                        <a:t>Izoh</a:t>
                      </a:r>
                    </a:p>
                  </a:txBody>
                  <a:tcPr>
                    <a:solidFill>
                      <a:srgbClr val="1C2755"/>
                    </a:solidFill>
                  </a:tcPr>
                </a:tc>
              </a:tr>
              <a:tr h="520000">
                <a:tc>
                  <a:txBody>
                    <a:bodyPr/>
                    <a:lstStyle/>
                    <a:p>
                      <a:r>
                        <a:rPr sz="1200" b="0">
                          <a:solidFill>
                            <a:srgbClr val="E8EEFA"/>
                          </a:solidFill>
                          <a:latin typeface="Segoe UI"/>
                        </a:rPr>
                        <a:t>O'tkazuvchanlik</a:t>
                      </a:r>
                    </a:p>
                  </a:txBody>
                  <a:tcPr>
                    <a:solidFill>
                      <a:srgbClr val="111834"/>
                    </a:solidFill>
                  </a:tcPr>
                </a:tc>
                <a:tc>
                  <a:txBody>
                    <a:bodyPr/>
                    <a:lstStyle/>
                    <a:p>
                      <a:r>
                        <a:rPr sz="1200" b="0">
                          <a:solidFill>
                            <a:srgbClr val="E8EEFA"/>
                          </a:solidFill>
                          <a:latin typeface="Segoe UI"/>
                        </a:rPr>
                        <a:t>img/s = N_samples / T</a:t>
                      </a:r>
                    </a:p>
                  </a:txBody>
                  <a:tcPr>
                    <a:solidFill>
                      <a:srgbClr val="111834"/>
                    </a:solidFill>
                  </a:tcPr>
                </a:tc>
                <a:tc>
                  <a:txBody>
                    <a:bodyPr/>
                    <a:lstStyle/>
                    <a:p>
                      <a:r>
                        <a:rPr sz="1200" b="0">
                          <a:solidFill>
                            <a:srgbClr val="E8EEFA"/>
                          </a:solidFill>
                          <a:latin typeface="Segoe UI"/>
                        </a:rPr>
                        <a:t>Eng intuitiv, kuchsiz masshtablashda chiziqli o'sishi kerak</a:t>
                      </a:r>
                    </a:p>
                  </a:txBody>
                  <a:tcPr>
                    <a:solidFill>
                      <a:srgbClr val="111834"/>
                    </a:solidFill>
                  </a:tcPr>
                </a:tc>
              </a:tr>
              <a:tr h="520000">
                <a:tc>
                  <a:txBody>
                    <a:bodyPr/>
                    <a:lstStyle/>
                    <a:p>
                      <a:r>
                        <a:rPr sz="1200" b="0">
                          <a:solidFill>
                            <a:srgbClr val="E8EEFA"/>
                          </a:solidFill>
                          <a:latin typeface="Segoe UI"/>
                        </a:rPr>
                        <a:t>Tezlashish</a:t>
                      </a:r>
                    </a:p>
                  </a:txBody>
                  <a:tcPr>
                    <a:solidFill>
                      <a:srgbClr val="161F40"/>
                    </a:solidFill>
                  </a:tcPr>
                </a:tc>
                <a:tc>
                  <a:txBody>
                    <a:bodyPr/>
                    <a:lstStyle/>
                    <a:p>
                      <a:r>
                        <a:rPr sz="1200" b="0">
                          <a:solidFill>
                            <a:srgbClr val="E8EEFA"/>
                          </a:solidFill>
                          <a:latin typeface="Segoe UI"/>
                        </a:rPr>
                        <a:t>S(N) = T(1)/T(N)</a:t>
                      </a:r>
                    </a:p>
                  </a:txBody>
                  <a:tcPr>
                    <a:solidFill>
                      <a:srgbClr val="161F40"/>
                    </a:solidFill>
                  </a:tcPr>
                </a:tc>
                <a:tc>
                  <a:txBody>
                    <a:bodyPr/>
                    <a:lstStyle/>
                    <a:p>
                      <a:r>
                        <a:rPr sz="1200" b="0">
                          <a:solidFill>
                            <a:srgbClr val="E8EEFA"/>
                          </a:solidFill>
                          <a:latin typeface="Segoe UI"/>
                        </a:rPr>
                        <a:t>Kuchli masshtablash uchun</a:t>
                      </a:r>
                    </a:p>
                  </a:txBody>
                  <a:tcPr>
                    <a:solidFill>
                      <a:srgbClr val="161F40"/>
                    </a:solidFill>
                  </a:tcPr>
                </a:tc>
              </a:tr>
              <a:tr h="520000">
                <a:tc>
                  <a:txBody>
                    <a:bodyPr/>
                    <a:lstStyle/>
                    <a:p>
                      <a:r>
                        <a:rPr sz="1200" b="0">
                          <a:solidFill>
                            <a:srgbClr val="E8EEFA"/>
                          </a:solidFill>
                          <a:latin typeface="Segoe UI"/>
                        </a:rPr>
                        <a:t>Samaradorlik</a:t>
                      </a:r>
                    </a:p>
                  </a:txBody>
                  <a:tcPr>
                    <a:solidFill>
                      <a:srgbClr val="111834"/>
                    </a:solidFill>
                  </a:tcPr>
                </a:tc>
                <a:tc>
                  <a:txBody>
                    <a:bodyPr/>
                    <a:lstStyle/>
                    <a:p>
                      <a:r>
                        <a:rPr sz="1200" b="0">
                          <a:solidFill>
                            <a:srgbClr val="E8EEFA"/>
                          </a:solidFill>
                          <a:latin typeface="Segoe UI"/>
                        </a:rPr>
                        <a:t>E(N) = S(N)/N</a:t>
                      </a:r>
                    </a:p>
                  </a:txBody>
                  <a:tcPr>
                    <a:solidFill>
                      <a:srgbClr val="111834"/>
                    </a:solidFill>
                  </a:tcPr>
                </a:tc>
                <a:tc>
                  <a:txBody>
                    <a:bodyPr/>
                    <a:lstStyle/>
                    <a:p>
                      <a:r>
                        <a:rPr sz="1200" b="0">
                          <a:solidFill>
                            <a:srgbClr val="E8EEFA"/>
                          </a:solidFill>
                          <a:latin typeface="Segoe UI"/>
                        </a:rPr>
                        <a:t>100% ga yaqin — yaxshi</a:t>
                      </a:r>
                    </a:p>
                  </a:txBody>
                  <a:tcPr>
                    <a:solidFill>
                      <a:srgbClr val="111834"/>
                    </a:solidFill>
                  </a:tcPr>
                </a:tc>
              </a:tr>
              <a:tr h="520000">
                <a:tc>
                  <a:txBody>
                    <a:bodyPr/>
                    <a:lstStyle/>
                    <a:p>
                      <a:r>
                        <a:rPr sz="1200" b="0">
                          <a:solidFill>
                            <a:srgbClr val="E8EEFA"/>
                          </a:solidFill>
                          <a:latin typeface="Segoe UI"/>
                        </a:rPr>
                        <a:t>Kommunikatsiya ulushi</a:t>
                      </a:r>
                    </a:p>
                  </a:txBody>
                  <a:tcPr>
                    <a:solidFill>
                      <a:srgbClr val="161F40"/>
                    </a:solidFill>
                  </a:tcPr>
                </a:tc>
                <a:tc>
                  <a:txBody>
                    <a:bodyPr/>
                    <a:lstStyle/>
                    <a:p>
                      <a:r>
                        <a:rPr sz="1200" b="0">
                          <a:solidFill>
                            <a:srgbClr val="E8EEFA"/>
                          </a:solidFill>
                          <a:latin typeface="Segoe UI"/>
                        </a:rPr>
                        <a:t>T_comm / T_step</a:t>
                      </a:r>
                    </a:p>
                  </a:txBody>
                  <a:tcPr>
                    <a:solidFill>
                      <a:srgbClr val="161F40"/>
                    </a:solidFill>
                  </a:tcPr>
                </a:tc>
                <a:tc>
                  <a:txBody>
                    <a:bodyPr/>
                    <a:lstStyle/>
                    <a:p>
                      <a:r>
                        <a:rPr sz="1200" b="0">
                          <a:solidFill>
                            <a:srgbClr val="E8EEFA"/>
                          </a:solidFill>
                          <a:latin typeface="Segoe UI"/>
                        </a:rPr>
                        <a:t>Profiler (Nsight Systems, torch.profiler) orqali</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6"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Ray va MPI: muqobil yondashuvlar</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25</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741544"/>
            <a:ext cx="50000" cy="191345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4982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1701544"/>
            <a:ext cx="5900000" cy="1993456"/>
          </a:xfrm>
          <a:prstGeom prst="rect">
            <a:avLst/>
          </a:prstGeom>
          <a:noFill/>
        </p:spPr>
        <p:txBody>
          <a:bodyPr wrap="square" anchor="ctr">
            <a:spAutoFit/>
          </a:bodyPr>
          <a:lstStyle/>
          <a:p>
            <a:r>
              <a:rPr sz="1400" b="1">
                <a:solidFill>
                  <a:srgbClr val="E8EEFA"/>
                </a:solidFill>
                <a:latin typeface="Segoe UI"/>
              </a:rPr>
              <a:t>Ray — Python uchun umumiy maqsadli taqsimlangan hisoblash freymvorki.</a:t>
            </a:r>
          </a:p>
          <a:p>
            <a:pPr>
              <a:spcBef>
                <a:spcPts val="400"/>
              </a:spcBef>
            </a:pPr>
            <a:r>
              <a:rPr sz="1300">
                <a:solidFill>
                  <a:srgbClr val="AEBBD9"/>
                </a:solidFill>
                <a:latin typeface="Segoe UI"/>
              </a:rPr>
              <a:t>Uning asosiy abstraksiyalari — masofaviy funksiyalar (@ray.remote tasks) va aktorlar (actors, holatli masofaviy obyektlar). Ray Train moduli PyTorch DDP'ni o'rab oladi: foydalanuvchi o'qitish funksiyasini yozadi, TorchTrainer esa ishchilarni klasterda joylashtirish, muhit o'zgaruvchilarini sozlash, nosozlikdan tiklash (fault tolerance) va nazorat nuqtalarini (checkpoint) saqlashni o'z zimmasiga oladi.</a:t>
            </a:r>
          </a:p>
        </p:txBody>
      </p:sp>
      <p:sp>
        <p:nvSpPr>
          <p:cNvPr id="31" name="Rounded Rectangle 30"/>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6817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Ray'ning ustunligi — o'qitish, giperparametr qidiruvi (Ray Tune), ma'lumot tayyorlash (Ray Data) va inferens xizmati (Ray Serve) bitta klaster va bitta API ostida birlashishi.</a:t>
            </a:r>
          </a:p>
          <a:p>
            <a:pPr>
              <a:spcBef>
                <a:spcPts val="400"/>
              </a:spcBef>
            </a:pPr>
            <a:r>
              <a:rPr sz="1300">
                <a:solidFill>
                  <a:srgbClr val="AEBBD9"/>
                </a:solidFill>
                <a:latin typeface="Segoe UI"/>
              </a:rPr>
              <a:t>Kamchiligi — qo'shimcha abstraksiya qatlami va bosh tugun (head node) talab qilinishi.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Ray va MPI: muqobil yondashuvlar</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26</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497992"/>
            <a:ext cx="50000" cy="258401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0" name="TextBox 29"/>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MPI — 1990-yillardan beri HPC klasterlarida standart bo'lgan xabar almashinuv interfeysi. mpirun -np 8 python train.py buyrug'i 8 ta jarayonni ishga tushiradi, har biri MPI.COMM_WORLD.Get_rank() orqali o'z rankini bilib oladi.</a:t>
            </a:r>
          </a:p>
          <a:p>
            <a:pPr>
              <a:spcBef>
                <a:spcPts val="400"/>
              </a:spcBef>
            </a:pPr>
            <a:r>
              <a:rPr sz="1600">
                <a:solidFill>
                  <a:srgbClr val="AEBBD9"/>
                </a:solidFill>
                <a:latin typeface="Segoe UI"/>
              </a:rPr>
              <a:t>PyTorch bilan MPI ikki yo'l bilan birlashadi: torch.distributed ning MPI backend'i orqali yoki Horovod kutubxonasi orqali (Horovod MPI yoki Gloo ustida NCCL all-reduce'ni ishlatadi).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Ray va MPI: muqobil yondashuvlar</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27</a:t>
            </a:r>
          </a:p>
        </p:txBody>
      </p:sp>
      <p:graphicFrame>
        <p:nvGraphicFramePr>
          <p:cNvPr id="25" name="Table 24"/>
          <p:cNvGraphicFramePr>
            <a:graphicFrameLocks noGrp="1"/>
          </p:cNvGraphicFramePr>
          <p:nvPr/>
        </p:nvGraphicFramePr>
        <p:xfrm>
          <a:off x="550000" y="1400000"/>
          <a:ext cx="11100000" cy="312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400" b="1">
                          <a:solidFill>
                            <a:srgbClr val="22D3EE"/>
                          </a:solidFill>
                          <a:latin typeface="Segoe UI"/>
                        </a:rPr>
                        <a:t>Mezon</a:t>
                      </a:r>
                    </a:p>
                  </a:txBody>
                  <a:tcPr>
                    <a:solidFill>
                      <a:srgbClr val="1C2755"/>
                    </a:solidFill>
                  </a:tcPr>
                </a:tc>
                <a:tc>
                  <a:txBody>
                    <a:bodyPr/>
                    <a:lstStyle/>
                    <a:p>
                      <a:r>
                        <a:rPr sz="1400" b="1">
                          <a:solidFill>
                            <a:srgbClr val="22D3EE"/>
                          </a:solidFill>
                          <a:latin typeface="Segoe UI"/>
                        </a:rPr>
                        <a:t>PyTorch DDP + torchrun</a:t>
                      </a:r>
                    </a:p>
                  </a:txBody>
                  <a:tcPr>
                    <a:solidFill>
                      <a:srgbClr val="1C2755"/>
                    </a:solidFill>
                  </a:tcPr>
                </a:tc>
                <a:tc>
                  <a:txBody>
                    <a:bodyPr/>
                    <a:lstStyle/>
                    <a:p>
                      <a:r>
                        <a:rPr sz="1400" b="1">
                          <a:solidFill>
                            <a:srgbClr val="22D3EE"/>
                          </a:solidFill>
                          <a:latin typeface="Segoe UI"/>
                        </a:rPr>
                        <a:t>Ray Train</a:t>
                      </a:r>
                    </a:p>
                  </a:txBody>
                  <a:tcPr>
                    <a:solidFill>
                      <a:srgbClr val="1C2755"/>
                    </a:solidFill>
                  </a:tcPr>
                </a:tc>
                <a:tc>
                  <a:txBody>
                    <a:bodyPr/>
                    <a:lstStyle/>
                    <a:p>
                      <a:r>
                        <a:rPr sz="1400" b="1">
                          <a:solidFill>
                            <a:srgbClr val="22D3EE"/>
                          </a:solidFill>
                          <a:latin typeface="Segoe UI"/>
                        </a:rPr>
                        <a:t>MPI / Horovod</a:t>
                      </a:r>
                    </a:p>
                  </a:txBody>
                  <a:tcPr>
                    <a:solidFill>
                      <a:srgbClr val="1C2755"/>
                    </a:solidFill>
                  </a:tcPr>
                </a:tc>
              </a:tr>
              <a:tr h="520000">
                <a:tc>
                  <a:txBody>
                    <a:bodyPr/>
                    <a:lstStyle/>
                    <a:p>
                      <a:r>
                        <a:rPr sz="1400" b="0">
                          <a:solidFill>
                            <a:srgbClr val="E8EEFA"/>
                          </a:solidFill>
                          <a:latin typeface="Segoe UI"/>
                        </a:rPr>
                        <a:t>Kirish osonligi</a:t>
                      </a:r>
                    </a:p>
                  </a:txBody>
                  <a:tcPr>
                    <a:solidFill>
                      <a:srgbClr val="111834"/>
                    </a:solidFill>
                  </a:tcPr>
                </a:tc>
                <a:tc>
                  <a:txBody>
                    <a:bodyPr/>
                    <a:lstStyle/>
                    <a:p>
                      <a:r>
                        <a:rPr sz="1400" b="0">
                          <a:solidFill>
                            <a:srgbClr val="E8EEFA"/>
                          </a:solidFill>
                          <a:latin typeface="Segoe UI"/>
                        </a:rPr>
                        <a:t>O'rta</a:t>
                      </a:r>
                    </a:p>
                  </a:txBody>
                  <a:tcPr>
                    <a:solidFill>
                      <a:srgbClr val="111834"/>
                    </a:solidFill>
                  </a:tcPr>
                </a:tc>
                <a:tc>
                  <a:txBody>
                    <a:bodyPr/>
                    <a:lstStyle/>
                    <a:p>
                      <a:r>
                        <a:rPr sz="1400" b="0">
                          <a:solidFill>
                            <a:srgbClr val="E8EEFA"/>
                          </a:solidFill>
                          <a:latin typeface="Segoe UI"/>
                        </a:rPr>
                        <a:t>Yuqori (Python-markazli)</a:t>
                      </a:r>
                    </a:p>
                  </a:txBody>
                  <a:tcPr>
                    <a:solidFill>
                      <a:srgbClr val="111834"/>
                    </a:solidFill>
                  </a:tcPr>
                </a:tc>
                <a:tc>
                  <a:txBody>
                    <a:bodyPr/>
                    <a:lstStyle/>
                    <a:p>
                      <a:r>
                        <a:rPr sz="1400" b="0">
                          <a:solidFill>
                            <a:srgbClr val="E8EEFA"/>
                          </a:solidFill>
                          <a:latin typeface="Segoe UI"/>
                        </a:rPr>
                        <a:t>Past (HPC bilimi kerak)</a:t>
                      </a:r>
                    </a:p>
                  </a:txBody>
                  <a:tcPr>
                    <a:solidFill>
                      <a:srgbClr val="111834"/>
                    </a:solidFill>
                  </a:tcPr>
                </a:tc>
              </a:tr>
              <a:tr h="520000">
                <a:tc>
                  <a:txBody>
                    <a:bodyPr/>
                    <a:lstStyle/>
                    <a:p>
                      <a:r>
                        <a:rPr sz="1400" b="0">
                          <a:solidFill>
                            <a:srgbClr val="E8EEFA"/>
                          </a:solidFill>
                          <a:latin typeface="Segoe UI"/>
                        </a:rPr>
                        <a:t>Nosozlikdan tiklash</a:t>
                      </a:r>
                    </a:p>
                  </a:txBody>
                  <a:tcPr>
                    <a:solidFill>
                      <a:srgbClr val="161F40"/>
                    </a:solidFill>
                  </a:tcPr>
                </a:tc>
                <a:tc>
                  <a:txBody>
                    <a:bodyPr/>
                    <a:lstStyle/>
                    <a:p>
                      <a:r>
                        <a:rPr sz="1400" b="0">
                          <a:solidFill>
                            <a:srgbClr val="E8EEFA"/>
                          </a:solidFill>
                          <a:latin typeface="Segoe UI"/>
                        </a:rPr>
                        <a:t>Elastik rejimda qisman</a:t>
                      </a:r>
                    </a:p>
                  </a:txBody>
                  <a:tcPr>
                    <a:solidFill>
                      <a:srgbClr val="161F40"/>
                    </a:solidFill>
                  </a:tcPr>
                </a:tc>
                <a:tc>
                  <a:txBody>
                    <a:bodyPr/>
                    <a:lstStyle/>
                    <a:p>
                      <a:r>
                        <a:rPr sz="1400" b="0">
                          <a:solidFill>
                            <a:srgbClr val="E8EEFA"/>
                          </a:solidFill>
                          <a:latin typeface="Segoe UI"/>
                        </a:rPr>
                        <a:t>Avtomatik, checkpointdan</a:t>
                      </a:r>
                    </a:p>
                  </a:txBody>
                  <a:tcPr>
                    <a:solidFill>
                      <a:srgbClr val="161F40"/>
                    </a:solidFill>
                  </a:tcPr>
                </a:tc>
                <a:tc>
                  <a:txBody>
                    <a:bodyPr/>
                    <a:lstStyle/>
                    <a:p>
                      <a:r>
                        <a:rPr sz="1400" b="0">
                          <a:solidFill>
                            <a:srgbClr val="E8EEFA"/>
                          </a:solidFill>
                          <a:latin typeface="Segoe UI"/>
                        </a:rPr>
                        <a:t>Yo'q</a:t>
                      </a:r>
                    </a:p>
                  </a:txBody>
                  <a:tcPr>
                    <a:solidFill>
                      <a:srgbClr val="161F40"/>
                    </a:solidFill>
                  </a:tcPr>
                </a:tc>
              </a:tr>
              <a:tr h="520000">
                <a:tc>
                  <a:txBody>
                    <a:bodyPr/>
                    <a:lstStyle/>
                    <a:p>
                      <a:r>
                        <a:rPr sz="1400" b="0">
                          <a:solidFill>
                            <a:srgbClr val="E8EEFA"/>
                          </a:solidFill>
                          <a:latin typeface="Segoe UI"/>
                        </a:rPr>
                        <a:t>Klaster menejeri</a:t>
                      </a:r>
                    </a:p>
                  </a:txBody>
                  <a:tcPr>
                    <a:solidFill>
                      <a:srgbClr val="111834"/>
                    </a:solidFill>
                  </a:tcPr>
                </a:tc>
                <a:tc>
                  <a:txBody>
                    <a:bodyPr/>
                    <a:lstStyle/>
                    <a:p>
                      <a:r>
                        <a:rPr sz="1400" b="0">
                          <a:solidFill>
                            <a:srgbClr val="E8EEFA"/>
                          </a:solidFill>
                          <a:latin typeface="Segoe UI"/>
                        </a:rPr>
                        <a:t>Slurm, Kubernetes, qo'lda</a:t>
                      </a:r>
                    </a:p>
                  </a:txBody>
                  <a:tcPr>
                    <a:solidFill>
                      <a:srgbClr val="111834"/>
                    </a:solidFill>
                  </a:tcPr>
                </a:tc>
                <a:tc>
                  <a:txBody>
                    <a:bodyPr/>
                    <a:lstStyle/>
                    <a:p>
                      <a:r>
                        <a:rPr sz="1400" b="0">
                          <a:solidFill>
                            <a:srgbClr val="E8EEFA"/>
                          </a:solidFill>
                          <a:latin typeface="Segoe UI"/>
                        </a:rPr>
                        <a:t>Ray klaster (K8s operator bor)</a:t>
                      </a:r>
                    </a:p>
                  </a:txBody>
                  <a:tcPr>
                    <a:solidFill>
                      <a:srgbClr val="111834"/>
                    </a:solidFill>
                  </a:tcPr>
                </a:tc>
                <a:tc>
                  <a:txBody>
                    <a:bodyPr/>
                    <a:lstStyle/>
                    <a:p>
                      <a:r>
                        <a:rPr sz="1400" b="0">
                          <a:solidFill>
                            <a:srgbClr val="E8EEFA"/>
                          </a:solidFill>
                          <a:latin typeface="Segoe UI"/>
                        </a:rPr>
                        <a:t>Slurm, PBS</a:t>
                      </a:r>
                    </a:p>
                  </a:txBody>
                  <a:tcPr>
                    <a:solidFill>
                      <a:srgbClr val="111834"/>
                    </a:solidFill>
                  </a:tcPr>
                </a:tc>
              </a:tr>
              <a:tr h="520000">
                <a:tc>
                  <a:txBody>
                    <a:bodyPr/>
                    <a:lstStyle/>
                    <a:p>
                      <a:r>
                        <a:rPr sz="1400" b="0">
                          <a:solidFill>
                            <a:srgbClr val="E8EEFA"/>
                          </a:solidFill>
                          <a:latin typeface="Segoe UI"/>
                        </a:rPr>
                        <a:t>Inferens xizmati</a:t>
                      </a:r>
                    </a:p>
                  </a:txBody>
                  <a:tcPr>
                    <a:solidFill>
                      <a:srgbClr val="161F40"/>
                    </a:solidFill>
                  </a:tcPr>
                </a:tc>
                <a:tc>
                  <a:txBody>
                    <a:bodyPr/>
                    <a:lstStyle/>
                    <a:p>
                      <a:r>
                        <a:rPr sz="1400" b="0">
                          <a:solidFill>
                            <a:srgbClr val="E8EEFA"/>
                          </a:solidFill>
                          <a:latin typeface="Segoe UI"/>
                        </a:rPr>
                        <a:t>Alohida (TorchServe, Triton)</a:t>
                      </a:r>
                    </a:p>
                  </a:txBody>
                  <a:tcPr>
                    <a:solidFill>
                      <a:srgbClr val="161F40"/>
                    </a:solidFill>
                  </a:tcPr>
                </a:tc>
                <a:tc>
                  <a:txBody>
                    <a:bodyPr/>
                    <a:lstStyle/>
                    <a:p>
                      <a:r>
                        <a:rPr sz="1400" b="0">
                          <a:solidFill>
                            <a:srgbClr val="E8EEFA"/>
                          </a:solidFill>
                          <a:latin typeface="Segoe UI"/>
                        </a:rPr>
                        <a:t>Ray Serve o'rnatilgan</a:t>
                      </a:r>
                    </a:p>
                  </a:txBody>
                  <a:tcPr>
                    <a:solidFill>
                      <a:srgbClr val="161F40"/>
                    </a:solidFill>
                  </a:tcPr>
                </a:tc>
                <a:tc>
                  <a:txBody>
                    <a:bodyPr/>
                    <a:lstStyle/>
                    <a:p>
                      <a:r>
                        <a:rPr sz="1400" b="0">
                          <a:solidFill>
                            <a:srgbClr val="E8EEFA"/>
                          </a:solidFill>
                          <a:latin typeface="Segoe UI"/>
                        </a:rPr>
                        <a:t>Yo'q</a:t>
                      </a:r>
                    </a:p>
                  </a:txBody>
                  <a:tcPr>
                    <a:solidFill>
                      <a:srgbClr val="161F40"/>
                    </a:solidFill>
                  </a:tcPr>
                </a:tc>
              </a:tr>
              <a:tr h="520000">
                <a:tc>
                  <a:txBody>
                    <a:bodyPr/>
                    <a:lstStyle/>
                    <a:p>
                      <a:r>
                        <a:rPr sz="1400" b="0">
                          <a:solidFill>
                            <a:srgbClr val="E8EEFA"/>
                          </a:solidFill>
                          <a:latin typeface="Segoe UI"/>
                        </a:rPr>
                        <a:t>Odatiy soha</a:t>
                      </a:r>
                    </a:p>
                  </a:txBody>
                  <a:tcPr>
                    <a:solidFill>
                      <a:srgbClr val="111834"/>
                    </a:solidFill>
                  </a:tcPr>
                </a:tc>
                <a:tc>
                  <a:txBody>
                    <a:bodyPr/>
                    <a:lstStyle/>
                    <a:p>
                      <a:r>
                        <a:rPr sz="1400" b="0">
                          <a:solidFill>
                            <a:srgbClr val="E8EEFA"/>
                          </a:solidFill>
                          <a:latin typeface="Segoe UI"/>
                        </a:rPr>
                        <a:t>Tadqiqot, ishlab chiqarish</a:t>
                      </a:r>
                    </a:p>
                  </a:txBody>
                  <a:tcPr>
                    <a:solidFill>
                      <a:srgbClr val="111834"/>
                    </a:solidFill>
                  </a:tcPr>
                </a:tc>
                <a:tc>
                  <a:txBody>
                    <a:bodyPr/>
                    <a:lstStyle/>
                    <a:p>
                      <a:r>
                        <a:rPr sz="1400" b="0">
                          <a:solidFill>
                            <a:srgbClr val="E8EEFA"/>
                          </a:solidFill>
                          <a:latin typeface="Segoe UI"/>
                        </a:rPr>
                        <a:t>Ishlab chiqarish ML platformalari</a:t>
                      </a:r>
                    </a:p>
                  </a:txBody>
                  <a:tcPr>
                    <a:solidFill>
                      <a:srgbClr val="111834"/>
                    </a:solidFill>
                  </a:tcPr>
                </a:tc>
                <a:tc>
                  <a:txBody>
                    <a:bodyPr/>
                    <a:lstStyle/>
                    <a:p>
                      <a:r>
                        <a:rPr sz="1400" b="0">
                          <a:solidFill>
                            <a:srgbClr val="E8EEFA"/>
                          </a:solidFill>
                          <a:latin typeface="Segoe UI"/>
                        </a:rPr>
                        <a:t>Superkompyuterlar</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6"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0db414578745a476.jpg"/>
          <p:cNvPicPr>
            <a:picLocks noChangeAspect="1"/>
          </p:cNvPicPr>
          <p:nvPr/>
        </p:nvPicPr>
        <p:blipFill>
          <a:blip r:embed="rId2"/>
          <a:srcRect l="14449" r="14449"/>
          <a:stretch>
            <a:fillRect/>
          </a:stretch>
        </p:blipFill>
        <p:spPr>
          <a:xfrm>
            <a:off x="6300000" y="800000"/>
            <a:ext cx="5300000" cy="4950000"/>
          </a:xfrm>
          <a:prstGeom prst="roundRect">
            <a:avLst/>
          </a:prstGeom>
          <a:ln w="19050">
            <a:solidFill>
              <a:srgbClr val="22D3EE"/>
            </a:solidFill>
          </a:ln>
        </p:spPr>
      </p:pic>
      <p:sp>
        <p:nvSpPr>
          <p:cNvPr id="37" name="TextBox 36"/>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Sgt. 1st Class Andrew Kosterman · Wikimedia Commons · Public domain</a:t>
            </a:r>
          </a:p>
        </p:txBody>
      </p:sp>
      <p:sp>
        <p:nvSpPr>
          <p:cNvPr id="38" name="TextBox 37"/>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04</a:t>
            </a:r>
          </a:p>
        </p:txBody>
      </p:sp>
      <p:sp>
        <p:nvSpPr>
          <p:cNvPr id="39" name="TextBox 38"/>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0" name="TextBox 39"/>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Amaliy misol</a:t>
            </a:r>
          </a:p>
        </p:txBody>
      </p:sp>
      <p:sp>
        <p:nvSpPr>
          <p:cNvPr id="41" name="Rectangle 40"/>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6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150"/>
                            </p:stCondLst>
                            <p:childTnLst>
                              <p:par>
                                <p:cTn id="132" presetID="53" presetClass="entr" presetSubtype="16"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anim calcmode="lin" valueType="num">
                                      <p:cBhvr additive="base">
                                        <p:cTn id="135" dur="550" fill="hold"/>
                                        <p:tgtEl>
                                          <p:spTgt spid="35"/>
                                        </p:tgtEl>
                                        <p:attrNameLst>
                                          <p:attrName>ppt_w</p:attrName>
                                        </p:attrNameLst>
                                      </p:cBhvr>
                                      <p:tavLst>
                                        <p:tav tm="0">
                                          <p:val>
                                            <p:strVal val="0"/>
                                          </p:val>
                                        </p:tav>
                                        <p:tav tm="100000">
                                          <p:val>
                                            <p:strVal val="#ppt_w"/>
                                          </p:val>
                                        </p:tav>
                                      </p:tavLst>
                                    </p:anim>
                                    <p:anim calcmode="lin" valueType="num">
                                      <p:cBhvr additive="base">
                                        <p:cTn id="136" dur="550" fill="hold"/>
                                        <p:tgtEl>
                                          <p:spTgt spid="35"/>
                                        </p:tgtEl>
                                        <p:attrNameLst>
                                          <p:attrName>ppt_h</p:attrName>
                                        </p:attrNameLst>
                                      </p:cBhvr>
                                      <p:tavLst>
                                        <p:tav tm="0">
                                          <p:val>
                                            <p:strVal val="0"/>
                                          </p:val>
                                        </p:tav>
                                        <p:tav tm="100000">
                                          <p:val>
                                            <p:strVal val="#ppt_h"/>
                                          </p:val>
                                        </p:tav>
                                      </p:tavLst>
                                    </p:anim>
                                  </p:childTnLst>
                                </p:cTn>
                              </p:par>
                            </p:childTnLst>
                          </p:cTn>
                        </p:par>
                        <p:par>
                          <p:cTn id="137" fill="hold">
                            <p:stCondLst>
                              <p:cond delay="150"/>
                            </p:stCondLst>
                            <p:childTnLst>
                              <p:par>
                                <p:cTn id="138" presetID="53" presetClass="entr" presetSubtype="16" fill="hold" grpId="0" nodeType="afterEffect">
                                  <p:stCondLst>
                                    <p:cond delay="0"/>
                                  </p:stCondLst>
                                  <p:childTnLst>
                                    <p:set>
                                      <p:cBhvr>
                                        <p:cTn id="139" dur="1" fill="hold">
                                          <p:stCondLst>
                                            <p:cond delay="0"/>
                                          </p:stCondLst>
                                        </p:cTn>
                                        <p:tgtEl>
                                          <p:spTgt spid="36"/>
                                        </p:tgtEl>
                                        <p:attrNameLst>
                                          <p:attrName>style.visibility</p:attrName>
                                        </p:attrNameLst>
                                      </p:cBhvr>
                                      <p:to>
                                        <p:strVal val="visible"/>
                                      </p:to>
                                    </p:set>
                                    <p:animEffect transition="in" filter="fade">
                                      <p:cBhvr>
                                        <p:cTn id="140" dur="550"/>
                                        <p:tgtEl>
                                          <p:spTgt spid="36"/>
                                        </p:tgtEl>
                                      </p:cBhvr>
                                    </p:animEffect>
                                    <p:anim calcmode="lin" valueType="num">
                                      <p:cBhvr additive="base">
                                        <p:cTn id="141" dur="550" fill="hold"/>
                                        <p:tgtEl>
                                          <p:spTgt spid="36"/>
                                        </p:tgtEl>
                                        <p:attrNameLst>
                                          <p:attrName>ppt_w</p:attrName>
                                        </p:attrNameLst>
                                      </p:cBhvr>
                                      <p:tavLst>
                                        <p:tav tm="0">
                                          <p:val>
                                            <p:strVal val="0"/>
                                          </p:val>
                                        </p:tav>
                                        <p:tav tm="100000">
                                          <p:val>
                                            <p:strVal val="#ppt_w"/>
                                          </p:val>
                                        </p:tav>
                                      </p:tavLst>
                                    </p:anim>
                                    <p:anim calcmode="lin" valueType="num">
                                      <p:cBhvr additive="base">
                                        <p:cTn id="142" dur="550" fill="hold"/>
                                        <p:tgtEl>
                                          <p:spTgt spid="36"/>
                                        </p:tgtEl>
                                        <p:attrNameLst>
                                          <p:attrName>ppt_h</p:attrName>
                                        </p:attrNameLst>
                                      </p:cBhvr>
                                      <p:tavLst>
                                        <p:tav tm="0">
                                          <p:val>
                                            <p:strVal val="0"/>
                                          </p:val>
                                        </p:tav>
                                        <p:tav tm="100000">
                                          <p:val>
                                            <p:strVal val="#ppt_h"/>
                                          </p:val>
                                        </p:tav>
                                      </p:tavLst>
                                    </p:anim>
                                  </p:childTnLst>
                                </p:cTn>
                              </p:par>
                            </p:childTnLst>
                          </p:cTn>
                        </p:par>
                        <p:par>
                          <p:cTn id="143" fill="hold">
                            <p:stCondLst>
                              <p:cond delay="150"/>
                            </p:stCondLst>
                            <p:childTnLst>
                              <p:par>
                                <p:cTn id="144" presetID="10" presetClass="entr" presetSubtype="0" fill="hold" grpId="0" nodeType="after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childTnLst>
                                </p:cTn>
                              </p:par>
                            </p:childTnLst>
                          </p:cTn>
                        </p:par>
                        <p:par>
                          <p:cTn id="147" fill="hold">
                            <p:stCondLst>
                              <p:cond delay="350"/>
                            </p:stCondLst>
                            <p:childTnLst>
                              <p:par>
                                <p:cTn id="148" presetID="53" presetClass="entr" presetSubtype="16" fill="hold" grpId="0" nodeType="after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550"/>
                                        <p:tgtEl>
                                          <p:spTgt spid="38"/>
                                        </p:tgtEl>
                                      </p:cBhvr>
                                    </p:animEffect>
                                    <p:anim calcmode="lin" valueType="num">
                                      <p:cBhvr additive="base">
                                        <p:cTn id="151" dur="550" fill="hold"/>
                                        <p:tgtEl>
                                          <p:spTgt spid="38"/>
                                        </p:tgtEl>
                                        <p:attrNameLst>
                                          <p:attrName>ppt_w</p:attrName>
                                        </p:attrNameLst>
                                      </p:cBhvr>
                                      <p:tavLst>
                                        <p:tav tm="0">
                                          <p:val>
                                            <p:strVal val="0"/>
                                          </p:val>
                                        </p:tav>
                                        <p:tav tm="100000">
                                          <p:val>
                                            <p:strVal val="#ppt_w"/>
                                          </p:val>
                                        </p:tav>
                                      </p:tavLst>
                                    </p:anim>
                                    <p:anim calcmode="lin" valueType="num">
                                      <p:cBhvr additive="base">
                                        <p:cTn id="152" dur="550" fill="hold"/>
                                        <p:tgtEl>
                                          <p:spTgt spid="38"/>
                                        </p:tgtEl>
                                        <p:attrNameLst>
                                          <p:attrName>ppt_h</p:attrName>
                                        </p:attrNameLst>
                                      </p:cBhvr>
                                      <p:tavLst>
                                        <p:tav tm="0">
                                          <p:val>
                                            <p:strVal val="0"/>
                                          </p:val>
                                        </p:tav>
                                        <p:tav tm="100000">
                                          <p:val>
                                            <p:strVal val="#ppt_h"/>
                                          </p:val>
                                        </p:tav>
                                      </p:tavLst>
                                    </p:anim>
                                  </p:childTnLst>
                                </p:cTn>
                              </p:par>
                            </p:childTnLst>
                          </p:cTn>
                        </p:par>
                        <p:par>
                          <p:cTn id="153" fill="hold">
                            <p:stCondLst>
                              <p:cond delay="450"/>
                            </p:stCondLst>
                            <p:childTnLst>
                              <p:par>
                                <p:cTn id="154" presetID="10" presetClass="entr" presetSubtype="0" fill="hold" grpId="0" nodeType="afterEffect">
                                  <p:stCondLst>
                                    <p:cond delay="0"/>
                                  </p:stCondLst>
                                  <p:childTnLst>
                                    <p:set>
                                      <p:cBhvr>
                                        <p:cTn id="155" dur="1" fill="hold">
                                          <p:stCondLst>
                                            <p:cond delay="0"/>
                                          </p:stCondLst>
                                        </p:cTn>
                                        <p:tgtEl>
                                          <p:spTgt spid="39"/>
                                        </p:tgtEl>
                                        <p:attrNameLst>
                                          <p:attrName>style.visibility</p:attrName>
                                        </p:attrNameLst>
                                      </p:cBhvr>
                                      <p:to>
                                        <p:strVal val="visible"/>
                                      </p:to>
                                    </p:set>
                                    <p:animEffect transition="in" filter="fade">
                                      <p:cBhvr>
                                        <p:cTn id="156" dur="550"/>
                                        <p:tgtEl>
                                          <p:spTgt spid="39"/>
                                        </p:tgtEl>
                                      </p:cBhvr>
                                    </p:animEffect>
                                  </p:childTnLst>
                                </p:cTn>
                              </p:par>
                            </p:childTnLst>
                          </p:cTn>
                        </p:par>
                        <p:par>
                          <p:cTn id="157" fill="hold">
                            <p:stCondLst>
                              <p:cond delay="550"/>
                            </p:stCondLst>
                            <p:childTnLst>
                              <p:par>
                                <p:cTn id="158" presetID="2" presetClass="entr" presetSubtype="8" fill="hold" grpId="0" nodeType="afterEffect">
                                  <p:stCondLst>
                                    <p:cond delay="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1" dur="550" fill="hold"/>
                                        <p:tgtEl>
                                          <p:spTgt spid="40"/>
                                        </p:tgtEl>
                                        <p:attrNameLst>
                                          <p:attrName>ppt_x</p:attrName>
                                        </p:attrNameLst>
                                      </p:cBhvr>
                                      <p:tavLst>
                                        <p:tav tm="0">
                                          <p:val>
                                            <p:strVal val="0-#ppt_w/2"/>
                                          </p:val>
                                        </p:tav>
                                        <p:tav tm="100000">
                                          <p:val>
                                            <p:strVal val="#ppt_x"/>
                                          </p:val>
                                        </p:tav>
                                      </p:tavLst>
                                    </p:anim>
                                    <p:anim calcmode="lin" valueType="num">
                                      <p:cBhvr additive="base">
                                        <p:cTn id="162" dur="550" fill="hold"/>
                                        <p:tgtEl>
                                          <p:spTgt spid="40"/>
                                        </p:tgtEl>
                                        <p:attrNameLst>
                                          <p:attrName>ppt_y</p:attrName>
                                        </p:attrNameLst>
                                      </p:cBhvr>
                                      <p:tavLst>
                                        <p:tav tm="0">
                                          <p:val>
                                            <p:strVal val="#ppt_y"/>
                                          </p:val>
                                        </p:tav>
                                        <p:tav tm="100000">
                                          <p:val>
                                            <p:strVal val="#ppt_y"/>
                                          </p:val>
                                        </p:tav>
                                      </p:tavLst>
                                    </p:anim>
                                  </p:childTnLst>
                                </p:cTn>
                              </p:par>
                            </p:childTnLst>
                          </p:cTn>
                        </p:par>
                        <p:par>
                          <p:cTn id="163" fill="hold">
                            <p:stCondLst>
                              <p:cond delay="650"/>
                            </p:stCondLst>
                            <p:childTnLst>
                              <p:par>
                                <p:cTn id="164" presetID="22" presetClass="entr" presetSubtype="8" fill="hold" grpId="0" nodeType="afterEffect">
                                  <p:stCondLst>
                                    <p:cond delay="0"/>
                                  </p:stCondLst>
                                  <p:childTnLst>
                                    <p:set>
                                      <p:cBhvr>
                                        <p:cTn id="165" dur="1" fill="hold">
                                          <p:stCondLst>
                                            <p:cond delay="0"/>
                                          </p:stCondLst>
                                        </p:cTn>
                                        <p:tgtEl>
                                          <p:spTgt spid="41"/>
                                        </p:tgtEl>
                                        <p:attrNameLst>
                                          <p:attrName>style.visibility</p:attrName>
                                        </p:attrNameLst>
                                      </p:cBhvr>
                                      <p:to>
                                        <p:strVal val="visible"/>
                                      </p:to>
                                    </p:set>
                                    <p:animEffect transition="in" filter="wipe(left)">
                                      <p:cBhvr>
                                        <p:cTn id="167" dur="8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Amaliy misol</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29</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686216"/>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766216"/>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726216"/>
            <a:ext cx="5900000" cy="2127568"/>
          </a:xfrm>
          <a:prstGeom prst="rect">
            <a:avLst/>
          </a:prstGeom>
          <a:noFill/>
        </p:spPr>
        <p:txBody>
          <a:bodyPr wrap="square" anchor="ctr">
            <a:spAutoFit/>
          </a:bodyPr>
          <a:lstStyle/>
          <a:p>
            <a:r>
              <a:rPr sz="1700" b="1">
                <a:solidFill>
                  <a:srgbClr val="E8EEFA"/>
                </a:solidFill>
                <a:latin typeface="Segoe UI"/>
              </a:rPr>
              <a:t>Ushbu bo'lim to'liq bajariladigan laboratoriya topshirig'idir.</a:t>
            </a:r>
          </a:p>
          <a:p>
            <a:pPr>
              <a:spcBef>
                <a:spcPts val="400"/>
              </a:spcBef>
            </a:pPr>
            <a:r>
              <a:rPr sz="1600">
                <a:solidFill>
                  <a:srgbClr val="AEBBD9"/>
                </a:solidFill>
                <a:latin typeface="Segoe UI"/>
              </a:rPr>
              <a:t>Topshiriq ikki qismdan iborat: (A) DDP bilan taqsimlangan o'qitish va masshtablash jadvalini to'ldirish; (B) taqsimlangan inferens o'tkazuvchanligini o'lchash. Qo'shimcha (C) qismida Ray Train bilan qayta amalga oshirish taklif qilinadi.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Talab qilinadigan muhit</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30</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048a68667d252f9.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Anthere · Wikimedia Commons · CC BY-SA 4.0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42478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1504780"/>
            <a:ext cx="50000" cy="1343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197652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1464780"/>
            <a:ext cx="5900000" cy="1423480"/>
          </a:xfrm>
          <a:prstGeom prst="rect">
            <a:avLst/>
          </a:prstGeom>
          <a:noFill/>
        </p:spPr>
        <p:txBody>
          <a:bodyPr wrap="square" anchor="ctr">
            <a:spAutoFit/>
          </a:bodyPr>
          <a:lstStyle/>
          <a:p>
            <a:r>
              <a:rPr sz="1500" b="1">
                <a:solidFill>
                  <a:srgbClr val="E8EEFA"/>
                </a:solidFill>
                <a:latin typeface="Segoe UI"/>
              </a:rPr>
              <a:t>Apparat.</a:t>
            </a:r>
          </a:p>
          <a:p>
            <a:pPr>
              <a:spcBef>
                <a:spcPts val="400"/>
              </a:spcBef>
            </a:pPr>
            <a:r>
              <a:rPr sz="1400">
                <a:solidFill>
                  <a:srgbClr val="AEBBD9"/>
                </a:solidFill>
                <a:latin typeface="Segoe UI"/>
              </a:rPr>
              <a:t>Kamida 2 ta NVIDIA GPU'li bitta server (laboratoriyada 4 × RTX 3090 yoki 4 × A100 tavsiya etiladi). Agar bitta GPU bo'lsa, Gloo backend bilan CPU'da 2–4 jarayon ishlatib, mantiqni tekshirish mumkin (unumdorlik o'lchovlari bu holda ma'nosiz bo'ladi).</a:t>
            </a:r>
          </a:p>
        </p:txBody>
      </p:sp>
      <p:sp>
        <p:nvSpPr>
          <p:cNvPr id="33" name="Rounded Rectangle 32"/>
          <p:cNvSpPr/>
          <p:nvPr/>
        </p:nvSpPr>
        <p:spPr>
          <a:xfrm>
            <a:off x="550000" y="303826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118260"/>
            <a:ext cx="50000" cy="13434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6" name="TextBox 35"/>
          <p:cNvSpPr txBox="1"/>
          <p:nvPr/>
        </p:nvSpPr>
        <p:spPr>
          <a:xfrm>
            <a:off x="1300000" y="3078260"/>
            <a:ext cx="5900000" cy="1423480"/>
          </a:xfrm>
          <a:prstGeom prst="rect">
            <a:avLst/>
          </a:prstGeom>
          <a:noFill/>
        </p:spPr>
        <p:txBody>
          <a:bodyPr wrap="square" anchor="ctr">
            <a:spAutoFit/>
          </a:bodyPr>
          <a:lstStyle/>
          <a:p>
            <a:r>
              <a:rPr sz="1500" b="1">
                <a:solidFill>
                  <a:srgbClr val="E8EEFA"/>
                </a:solidFill>
                <a:latin typeface="Segoe UI"/>
              </a:rPr>
              <a:t>Dasturiy ta'minot.</a:t>
            </a:r>
          </a:p>
          <a:p>
            <a:pPr>
              <a:spcBef>
                <a:spcPts val="400"/>
              </a:spcBef>
            </a:pPr>
            <a:r>
              <a:rPr sz="1400">
                <a:solidFill>
                  <a:srgbClr val="AEBBD9"/>
                </a:solidFill>
                <a:latin typeface="Segoe UI"/>
              </a:rPr>
              <a:t>Ubuntu 22.04, NVIDIA drayver 535+, CUDA 12.x, Python 3.10+, PyTorch 2.3+ (pip install torch torchvision), nvidia-smi ishlashi.</a:t>
            </a:r>
          </a:p>
        </p:txBody>
      </p:sp>
      <p:sp>
        <p:nvSpPr>
          <p:cNvPr id="37" name="Rounded Rectangle 36"/>
          <p:cNvSpPr/>
          <p:nvPr/>
        </p:nvSpPr>
        <p:spPr>
          <a:xfrm>
            <a:off x="550000" y="465174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0000" y="4731740"/>
            <a:ext cx="50000" cy="134348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60000" y="520348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40" name="TextBox 39"/>
          <p:cNvSpPr txBox="1"/>
          <p:nvPr/>
        </p:nvSpPr>
        <p:spPr>
          <a:xfrm>
            <a:off x="1300000" y="4691740"/>
            <a:ext cx="5900000" cy="1423480"/>
          </a:xfrm>
          <a:prstGeom prst="rect">
            <a:avLst/>
          </a:prstGeom>
          <a:noFill/>
        </p:spPr>
        <p:txBody>
          <a:bodyPr wrap="square" anchor="ctr">
            <a:spAutoFit/>
          </a:bodyPr>
          <a:lstStyle/>
          <a:p>
            <a:r>
              <a:rPr sz="1500" b="1">
                <a:solidFill>
                  <a:srgbClr val="E8EEFA"/>
                </a:solidFill>
                <a:latin typeface="Segoe UI"/>
              </a:rPr>
              <a:t>Ma'lumotlar.</a:t>
            </a:r>
          </a:p>
          <a:p>
            <a:pPr>
              <a:spcBef>
                <a:spcPts val="400"/>
              </a:spcBef>
            </a:pPr>
            <a:r>
              <a:rPr sz="1400">
                <a:solidFill>
                  <a:srgbClr val="AEBBD9"/>
                </a:solidFill>
                <a:latin typeface="Segoe UI"/>
              </a:rPr>
              <a:t>CIFAR-10 (torchvision avtomatik yuklaydi, 170 MB). Vaqtni tejash uchun 10 000 ta tasvirdan iborat qismi ishlatiladi.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par>
                          <p:cTn id="80" fill="hold">
                            <p:stCondLst>
                              <p:cond delay="750"/>
                            </p:stCondLst>
                            <p:childTnLst>
                              <p:par>
                                <p:cTn id="81" presetID="42" presetClass="entr" presetSubtype="0"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550"/>
                                        <p:tgtEl>
                                          <p:spTgt spid="37"/>
                                        </p:tgtEl>
                                      </p:cBhvr>
                                    </p:animEffect>
                                    <p:anim calcmode="lin" valueType="num">
                                      <p:cBhvr additive="base">
                                        <p:cTn id="84" dur="550" fill="hold"/>
                                        <p:tgtEl>
                                          <p:spTgt spid="37"/>
                                        </p:tgtEl>
                                        <p:attrNameLst>
                                          <p:attrName>ppt_x</p:attrName>
                                        </p:attrNameLst>
                                      </p:cBhvr>
                                      <p:tavLst>
                                        <p:tav tm="0">
                                          <p:val>
                                            <p:strVal val="#ppt_x"/>
                                          </p:val>
                                        </p:tav>
                                        <p:tav tm="100000">
                                          <p:val>
                                            <p:strVal val="#ppt_x"/>
                                          </p:val>
                                        </p:tav>
                                      </p:tavLst>
                                    </p:anim>
                                    <p:anim calcmode="lin" valueType="num">
                                      <p:cBhvr additive="base">
                                        <p:cTn id="85" dur="550" fill="hold"/>
                                        <p:tgtEl>
                                          <p:spTgt spid="37"/>
                                        </p:tgtEl>
                                        <p:attrNameLst>
                                          <p:attrName>ppt_y</p:attrName>
                                        </p:attrNameLst>
                                      </p:cBhvr>
                                      <p:tavLst>
                                        <p:tav tm="0">
                                          <p:val>
                                            <p:strVal val="#ppt_y+.08"/>
                                          </p:val>
                                        </p:tav>
                                        <p:tav tm="100000">
                                          <p:val>
                                            <p:strVal val="#ppt_y"/>
                                          </p:val>
                                        </p:tav>
                                      </p:tavLst>
                                    </p:anim>
                                  </p:childTnLst>
                                </p:cTn>
                              </p:par>
                            </p:childTnLst>
                          </p:cTn>
                        </p:par>
                        <p:par>
                          <p:cTn id="86" fill="hold">
                            <p:stCondLst>
                              <p:cond delay="750"/>
                            </p:stCondLst>
                            <p:childTnLst>
                              <p:par>
                                <p:cTn id="87" presetID="42" presetClass="entr" presetSubtype="0" fill="hold" grpId="0" nodeType="after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50"/>
                                        <p:tgtEl>
                                          <p:spTgt spid="38"/>
                                        </p:tgtEl>
                                      </p:cBhvr>
                                    </p:animEffect>
                                    <p:anim calcmode="lin" valueType="num">
                                      <p:cBhvr additive="base">
                                        <p:cTn id="90" dur="550" fill="hold"/>
                                        <p:tgtEl>
                                          <p:spTgt spid="38"/>
                                        </p:tgtEl>
                                        <p:attrNameLst>
                                          <p:attrName>ppt_x</p:attrName>
                                        </p:attrNameLst>
                                      </p:cBhvr>
                                      <p:tavLst>
                                        <p:tav tm="0">
                                          <p:val>
                                            <p:strVal val="#ppt_x"/>
                                          </p:val>
                                        </p:tav>
                                        <p:tav tm="100000">
                                          <p:val>
                                            <p:strVal val="#ppt_x"/>
                                          </p:val>
                                        </p:tav>
                                      </p:tavLst>
                                    </p:anim>
                                    <p:anim calcmode="lin" valueType="num">
                                      <p:cBhvr additive="base">
                                        <p:cTn id="91" dur="550" fill="hold"/>
                                        <p:tgtEl>
                                          <p:spTgt spid="38"/>
                                        </p:tgtEl>
                                        <p:attrNameLst>
                                          <p:attrName>ppt_y</p:attrName>
                                        </p:attrNameLst>
                                      </p:cBhvr>
                                      <p:tavLst>
                                        <p:tav tm="0">
                                          <p:val>
                                            <p:strVal val="#ppt_y+.08"/>
                                          </p:val>
                                        </p:tav>
                                        <p:tav tm="100000">
                                          <p:val>
                                            <p:strVal val="#ppt_y"/>
                                          </p:val>
                                        </p:tav>
                                      </p:tavLst>
                                    </p:anim>
                                  </p:childTnLst>
                                </p:cTn>
                              </p:par>
                            </p:childTnLst>
                          </p:cTn>
                        </p:par>
                        <p:par>
                          <p:cTn id="92" fill="hold">
                            <p:stCondLst>
                              <p:cond delay="750"/>
                            </p:stCondLst>
                            <p:childTnLst>
                              <p:par>
                                <p:cTn id="93" presetID="53" presetClass="entr" presetSubtype="16" fill="hold" grpId="0" nodeType="after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550"/>
                                        <p:tgtEl>
                                          <p:spTgt spid="39"/>
                                        </p:tgtEl>
                                      </p:cBhvr>
                                    </p:animEffect>
                                    <p:anim calcmode="lin" valueType="num">
                                      <p:cBhvr additive="base">
                                        <p:cTn id="96" dur="550" fill="hold"/>
                                        <p:tgtEl>
                                          <p:spTgt spid="39"/>
                                        </p:tgtEl>
                                        <p:attrNameLst>
                                          <p:attrName>ppt_w</p:attrName>
                                        </p:attrNameLst>
                                      </p:cBhvr>
                                      <p:tavLst>
                                        <p:tav tm="0">
                                          <p:val>
                                            <p:strVal val="0"/>
                                          </p:val>
                                        </p:tav>
                                        <p:tav tm="100000">
                                          <p:val>
                                            <p:strVal val="#ppt_w"/>
                                          </p:val>
                                        </p:tav>
                                      </p:tavLst>
                                    </p:anim>
                                    <p:anim calcmode="lin" valueType="num">
                                      <p:cBhvr additive="base">
                                        <p:cTn id="97" dur="550" fill="hold"/>
                                        <p:tgtEl>
                                          <p:spTgt spid="39"/>
                                        </p:tgtEl>
                                        <p:attrNameLst>
                                          <p:attrName>ppt_h</p:attrName>
                                        </p:attrNameLst>
                                      </p:cBhvr>
                                      <p:tavLst>
                                        <p:tav tm="0">
                                          <p:val>
                                            <p:strVal val="0"/>
                                          </p:val>
                                        </p:tav>
                                        <p:tav tm="100000">
                                          <p:val>
                                            <p:strVal val="#ppt_h"/>
                                          </p:val>
                                        </p:tav>
                                      </p:tavLst>
                                    </p:anim>
                                  </p:childTnLst>
                                </p:cTn>
                              </p:par>
                            </p:childTnLst>
                          </p:cTn>
                        </p:par>
                        <p:par>
                          <p:cTn id="98" fill="hold">
                            <p:stCondLst>
                              <p:cond delay="750"/>
                            </p:stCondLst>
                            <p:childTnLst>
                              <p:par>
                                <p:cTn id="99" presetID="42" presetClass="entr" presetSubtype="0" fill="hold" grpId="0" nodeType="after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550"/>
                                        <p:tgtEl>
                                          <p:spTgt spid="40"/>
                                        </p:tgtEl>
                                      </p:cBhvr>
                                    </p:animEffect>
                                    <p:anim calcmode="lin" valueType="num">
                                      <p:cBhvr additive="base">
                                        <p:cTn id="102" dur="550" fill="hold"/>
                                        <p:tgtEl>
                                          <p:spTgt spid="40"/>
                                        </p:tgtEl>
                                        <p:attrNameLst>
                                          <p:attrName>ppt_x</p:attrName>
                                        </p:attrNameLst>
                                      </p:cBhvr>
                                      <p:tavLst>
                                        <p:tav tm="0">
                                          <p:val>
                                            <p:strVal val="#ppt_x"/>
                                          </p:val>
                                        </p:tav>
                                        <p:tav tm="100000">
                                          <p:val>
                                            <p:strVal val="#ppt_x"/>
                                          </p:val>
                                        </p:tav>
                                      </p:tavLst>
                                    </p:anim>
                                    <p:anim calcmode="lin" valueType="num">
                                      <p:cBhvr additive="base">
                                        <p:cTn id="103" dur="550" fill="hold"/>
                                        <p:tgtEl>
                                          <p:spTgt spid="4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Talab qilinadigan muhit</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31</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9b07e9321548e59b.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Jasper Reichardt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3222664"/>
            <a:ext cx="6750000" cy="11346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3302664"/>
            <a:ext cx="50000" cy="97467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1" name="TextBox 30"/>
          <p:cNvSpPr txBox="1"/>
          <p:nvPr/>
        </p:nvSpPr>
        <p:spPr>
          <a:xfrm>
            <a:off x="1300000" y="3262664"/>
            <a:ext cx="5900000" cy="1054672"/>
          </a:xfrm>
          <a:prstGeom prst="rect">
            <a:avLst/>
          </a:prstGeom>
          <a:noFill/>
        </p:spPr>
        <p:txBody>
          <a:bodyPr wrap="square" anchor="ctr">
            <a:spAutoFit/>
          </a:bodyPr>
          <a:lstStyle/>
          <a:p>
            <a:r>
              <a:rPr sz="1700" b="1">
                <a:solidFill>
                  <a:srgbClr val="E8EEFA"/>
                </a:solidFill>
                <a:latin typeface="Segoe UI"/>
              </a:rPr>
              <a:t>Ikki tugunli variant uchun.</a:t>
            </a:r>
          </a:p>
          <a:p>
            <a:pPr>
              <a:spcBef>
                <a:spcPts val="400"/>
              </a:spcBef>
            </a:pPr>
            <a:r>
              <a:rPr sz="1600">
                <a:solidFill>
                  <a:srgbClr val="AEBBD9"/>
                </a:solidFill>
                <a:latin typeface="Segoe UI"/>
              </a:rPr>
              <a:t>Ikkala server bir xil tarmoqda, bir xil PyTorch versiyasi, 29500-port ochiq.</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1-qadam. Bazaviy (bitta GPU) o'lchov</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32</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8058ee55edef2eb4.jpg"/>
          <p:cNvPicPr>
            <a:picLocks noChangeAspect="1"/>
          </p:cNvPicPr>
          <p:nvPr/>
        </p:nvPicPr>
        <p:blipFill>
          <a:blip r:embed="rId2"/>
          <a:srcRect t="15021" b="15021"/>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1567432"/>
            <a:ext cx="5900000" cy="2127568"/>
          </a:xfrm>
          <a:prstGeom prst="rect">
            <a:avLst/>
          </a:prstGeom>
          <a:noFill/>
        </p:spPr>
        <p:txBody>
          <a:bodyPr wrap="square" anchor="ctr">
            <a:spAutoFit/>
          </a:bodyPr>
          <a:lstStyle/>
          <a:p>
            <a:r>
              <a:rPr sz="1400" b="0">
                <a:solidFill>
                  <a:srgbClr val="E8EEFA"/>
                </a:solidFill>
                <a:latin typeface="Segoe UI"/>
              </a:rPr>
              <a:t>Avval taqqoslash uchun asos (baseline) kerak. train_ddp.py skripti shunday yoziladiki, u torchrun siz oddiy Python skripti sifatida ham ishlaydi (world_size=1).</a:t>
            </a:r>
          </a:p>
        </p:txBody>
      </p:sp>
      <p:sp>
        <p:nvSpPr>
          <p:cNvPr id="32" name="Rounded Rectangle 31"/>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5" name="TextBox 34"/>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Nima bo'ldi va nega.</a:t>
            </a:r>
          </a:p>
          <a:p>
            <a:pPr>
              <a:spcBef>
                <a:spcPts val="400"/>
              </a:spcBef>
            </a:pPr>
            <a:r>
              <a:rPr sz="1400">
                <a:solidFill>
                  <a:srgbClr val="AEBBD9"/>
                </a:solidFill>
                <a:latin typeface="Segoe UI"/>
              </a:rPr>
              <a:t>Skript bitta jarayonda ishladi, world=1, DDP o'rami qo'llanilmadi. Chiqishda har epoxa uchun vaqt va img/s chiqdi. Birinchi epoxa odatda sekinroq bo'ladi (cuDNN avtomatik sozlash, ma'lumotlar keshi), shuning uchun o'lchov uchun 2- va 3-epoxa o'rtachasi olinadi. RTX 3090 da ResNet-18, paket 128 uchun taxminan 2 300–2 700 img/s kutiladi (taxminiy raqam). Bu qiymat jadvalda T(1) bo'lib xizmat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1-qadam. Bazaviy (bitta GPU) o'lchov — kod 1</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33</a:t>
            </a:r>
          </a:p>
        </p:txBody>
      </p:sp>
      <p:sp>
        <p:nvSpPr>
          <p:cNvPr id="26" name="Rounded Rectangle 25"/>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000" y="1700000"/>
            <a:ext cx="10700000" cy="4500000"/>
          </a:xfrm>
          <a:prstGeom prst="rect">
            <a:avLst/>
          </a:prstGeom>
          <a:noFill/>
        </p:spPr>
        <p:txBody>
          <a:bodyPr wrap="square">
            <a:spAutoFit/>
          </a:bodyPr>
          <a:lstStyle/>
          <a:p>
            <a:r>
              <a:rPr sz="1200">
                <a:solidFill>
                  <a:srgbClr val="6EE7B7"/>
                </a:solidFill>
                <a:latin typeface="Consolas"/>
              </a:rPr>
              <a:t># train_ddp.py</a:t>
            </a:r>
          </a:p>
          <a:p>
            <a:r>
              <a:rPr sz="1200">
                <a:solidFill>
                  <a:srgbClr val="DBE4F5"/>
                </a:solidFill>
                <a:latin typeface="Consolas"/>
              </a:rPr>
              <a:t>import os, time, argparse, json</a:t>
            </a:r>
          </a:p>
          <a:p>
            <a:r>
              <a:rPr sz="1200">
                <a:solidFill>
                  <a:srgbClr val="DBE4F5"/>
                </a:solidFill>
                <a:latin typeface="Consolas"/>
              </a:rPr>
              <a:t>import torch, torch.nn as nn, torch.distributed as dist</a:t>
            </a:r>
          </a:p>
          <a:p>
            <a:r>
              <a:rPr sz="1200">
                <a:solidFill>
                  <a:srgbClr val="DBE4F5"/>
                </a:solidFill>
                <a:latin typeface="Consolas"/>
              </a:rPr>
              <a:t>import torchvision, torchvision.transforms as T</a:t>
            </a:r>
          </a:p>
          <a:p>
            <a:r>
              <a:rPr sz="1200">
                <a:solidFill>
                  <a:srgbClr val="DBE4F5"/>
                </a:solidFill>
                <a:latin typeface="Consolas"/>
              </a:rPr>
              <a:t>from torch.utils.data import DataLoader, Subset</a:t>
            </a:r>
          </a:p>
          <a:p>
            <a:r>
              <a:rPr sz="1200">
                <a:solidFill>
                  <a:srgbClr val="DBE4F5"/>
                </a:solidFill>
                <a:latin typeface="Consolas"/>
              </a:rPr>
              <a:t>from torch.utils.data.distributed import DistributedSampler</a:t>
            </a:r>
          </a:p>
          <a:p>
            <a:r>
              <a:rPr sz="1200">
                <a:solidFill>
                  <a:srgbClr val="DBE4F5"/>
                </a:solidFill>
                <a:latin typeface="Consolas"/>
              </a:rPr>
              <a:t>from torch.nn.parallel import DistributedDataParallel as DDP</a:t>
            </a:r>
          </a:p>
          <a:p>
            <a:r>
              <a:rPr sz="1200">
                <a:solidFill>
                  <a:srgbClr val="DBE4F5"/>
                </a:solidFill>
                <a:latin typeface="Consolas"/>
              </a:rPr>
              <a:t> </a:t>
            </a:r>
          </a:p>
          <a:p>
            <a:r>
              <a:rPr sz="1200">
                <a:solidFill>
                  <a:srgbClr val="DBE4F5"/>
                </a:solidFill>
                <a:latin typeface="Consolas"/>
              </a:rPr>
              <a:t>def setup():</a:t>
            </a:r>
          </a:p>
          <a:p>
            <a:r>
              <a:rPr sz="1200">
                <a:solidFill>
                  <a:srgbClr val="DBE4F5"/>
                </a:solidFill>
                <a:latin typeface="Consolas"/>
              </a:rPr>
              <a:t>    if "RANK" in os.environ:                     # torchrun orqali ishga tushgan</a:t>
            </a:r>
          </a:p>
          <a:p>
            <a:r>
              <a:rPr sz="1200">
                <a:solidFill>
                  <a:srgbClr val="DBE4F5"/>
                </a:solidFill>
                <a:latin typeface="Consolas"/>
              </a:rPr>
              <a:t>        dist.init_process_group(backend="nccl")</a:t>
            </a:r>
          </a:p>
          <a:p>
            <a:r>
              <a:rPr sz="1200">
                <a:solidFill>
                  <a:srgbClr val="DBE4F5"/>
                </a:solidFill>
                <a:latin typeface="Consolas"/>
              </a:rPr>
              <a:t>        rank, world = dist.get_rank(), dist.get_world_size()</a:t>
            </a:r>
          </a:p>
          <a:p>
            <a:r>
              <a:rPr sz="1200">
                <a:solidFill>
                  <a:srgbClr val="DBE4F5"/>
                </a:solidFill>
                <a:latin typeface="Consolas"/>
              </a:rPr>
              <a:t>        local_rank = int(os.environ["LOCAL_RANK"])</a:t>
            </a:r>
          </a:p>
          <a:p>
            <a:r>
              <a:rPr sz="1200">
                <a:solidFill>
                  <a:srgbClr val="DBE4F5"/>
                </a:solidFill>
                <a:latin typeface="Consolas"/>
              </a:rPr>
              <a:t>    else:                                        # oddiy python train_ddp.py</a:t>
            </a:r>
          </a:p>
          <a:p>
            <a:r>
              <a:rPr sz="1200">
                <a:solidFill>
                  <a:srgbClr val="DBE4F5"/>
                </a:solidFill>
                <a:latin typeface="Consolas"/>
              </a:rPr>
              <a:t>        rank, world, local_rank = 0, 1, 0</a:t>
            </a:r>
          </a:p>
          <a:p>
            <a:r>
              <a:rPr sz="1200">
                <a:solidFill>
                  <a:srgbClr val="DBE4F5"/>
                </a:solidFill>
                <a:latin typeface="Consolas"/>
              </a:rPr>
              <a:t>    torch.cuda.set_device(local_rank)</a:t>
            </a:r>
          </a:p>
          <a:p>
            <a:r>
              <a:rPr sz="1200">
                <a:solidFill>
                  <a:srgbClr val="DBE4F5"/>
                </a:solidFill>
                <a:latin typeface="Consolas"/>
              </a:rPr>
              <a:t>    return rank, world, local_rank</a:t>
            </a:r>
          </a:p>
          <a:p>
            <a:r>
              <a:rPr sz="1200">
                <a:solidFill>
                  <a:srgbClr val="DBE4F5"/>
                </a:solidFill>
                <a:latin typeface="Consolas"/>
              </a:rPr>
              <a:t> </a:t>
            </a:r>
          </a:p>
          <a:p>
            <a:r>
              <a:rPr sz="1200">
                <a:solidFill>
                  <a:srgbClr val="DBE4F5"/>
                </a:solidFill>
                <a:latin typeface="Consolas"/>
              </a:rPr>
              <a:t>def main():</a:t>
            </a:r>
          </a:p>
          <a:p>
            <a:r>
              <a:rPr sz="1200">
                <a:solidFill>
                  <a:srgbClr val="DBE4F5"/>
                </a:solidFill>
                <a:latin typeface="Consolas"/>
              </a:rPr>
              <a:t>    p = argparse.ArgumentParser()</a:t>
            </a:r>
          </a:p>
          <a:p>
            <a:r>
              <a:rPr sz="1200">
                <a:solidFill>
                  <a:srgbClr val="6EE7B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50"/>
                                        <p:tgtEl>
                                          <p:spTgt spid="28"/>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50"/>
                                        <p:tgtEl>
                                          <p:spTgt spid="29"/>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4" dur="8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7" grpId="0" animBg="1"/>
      <p:bldP spid="28" grpId="0" animBg="1"/>
      <p:bldP spid="29" grpId="0" animBg="1"/>
      <p:bldP spid="30"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7" name="TextBox 16"/>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1-qadam. Bazaviy (bitta GPU) o'lchov — kod 2</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34</a:t>
            </a:r>
          </a:p>
        </p:txBody>
      </p:sp>
      <p:sp>
        <p:nvSpPr>
          <p:cNvPr id="21" name="Rounded Rectangle 20"/>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000" y="1700000"/>
            <a:ext cx="10700000" cy="4500000"/>
          </a:xfrm>
          <a:prstGeom prst="rect">
            <a:avLst/>
          </a:prstGeom>
          <a:noFill/>
        </p:spPr>
        <p:txBody>
          <a:bodyPr wrap="square">
            <a:spAutoFit/>
          </a:bodyPr>
          <a:lstStyle/>
          <a:p>
            <a:r>
              <a:rPr sz="1400">
                <a:solidFill>
                  <a:srgbClr val="DBE4F5"/>
                </a:solidFill>
                <a:latin typeface="Consolas"/>
              </a:rPr>
              <a:t>python train_ddp.py --epochs 3 --bs 128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50"/>
                                        <p:tgtEl>
                                          <p:spTgt spid="21"/>
                                        </p:tgtEl>
                                      </p:cBhvr>
                                    </p:animEffect>
                                    <p:anim calcmode="lin" valueType="num">
                                      <p:cBhvr additive="base">
                                        <p:cTn id="16" dur="550" fill="hold"/>
                                        <p:tgtEl>
                                          <p:spTgt spid="21"/>
                                        </p:tgtEl>
                                        <p:attrNameLst>
                                          <p:attrName>ppt_w</p:attrName>
                                        </p:attrNameLst>
                                      </p:cBhvr>
                                      <p:tavLst>
                                        <p:tav tm="0">
                                          <p:val>
                                            <p:strVal val="0"/>
                                          </p:val>
                                        </p:tav>
                                        <p:tav tm="100000">
                                          <p:val>
                                            <p:strVal val="#ppt_w"/>
                                          </p:val>
                                        </p:tav>
                                      </p:tavLst>
                                    </p:anim>
                                    <p:anim calcmode="lin" valueType="num">
                                      <p:cBhvr additive="base">
                                        <p:cTn id="17" dur="550" fill="hold"/>
                                        <p:tgtEl>
                                          <p:spTgt spid="21"/>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50"/>
                                        <p:tgtEl>
                                          <p:spTgt spid="22"/>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50"/>
                                        <p:tgtEl>
                                          <p:spTgt spid="23"/>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50"/>
                                        <p:tgtEl>
                                          <p:spTgt spid="24"/>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4"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2" grpId="0" animBg="1"/>
      <p:bldP spid="23" grpId="0" animBg="1"/>
      <p:bldP spid="24" grpId="0" animBg="1"/>
      <p:bldP spid="25"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2-qadam. Bitta tugunda ko'p GPU: torchrun bilan DDP</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35</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48868"/>
            <a:ext cx="50000" cy="22822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Nima bo'ldi va nega. torchrun har bir GPU uchun alohida jarayon yaratdi va RANK, LOCAL_RANK, WORLD_SIZE, MASTER_ADDR, MASTER_PORT muhit o'zgaruvchilarini o'rnatdi; skript ularni ko'rib NCCL guruhini boshladi. --standalone bayrog'i bitta tugun uchun rendezvous…</a:t>
            </a:r>
          </a:p>
          <a:p>
            <a:pPr>
              <a:spcBef>
                <a:spcPts val="400"/>
              </a:spcBef>
            </a:pPr>
            <a:r>
              <a:rPr sz="1400">
                <a:solidFill>
                  <a:srgbClr val="AEBBD9"/>
                </a:solidFill>
                <a:latin typeface="Segoe UI"/>
              </a:rPr>
              <a:t>Har bir GPU 128 tadan paket oladi, demak global paket 256 yoki 512 ga teng — bu kuchsiz masshtablash rejimi. Eng muhimi — DistributedSampler tufayli 10 000 tasvir GPU'lar orasida bo'lindi, shuning uchun epoxa vaqti deyarli N baravar qisqarishi kerak.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2-qadam. Bitta tugunda ko'p GPU: torchrun bilan DDP</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36</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3088552"/>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168552"/>
            <a:ext cx="50000" cy="12428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3128552"/>
            <a:ext cx="5900000" cy="1322896"/>
          </a:xfrm>
          <a:prstGeom prst="rect">
            <a:avLst/>
          </a:prstGeom>
          <a:noFill/>
        </p:spPr>
        <p:txBody>
          <a:bodyPr wrap="square" anchor="ctr">
            <a:spAutoFit/>
          </a:bodyPr>
          <a:lstStyle/>
          <a:p>
            <a:r>
              <a:rPr sz="1600" b="0">
                <a:solidFill>
                  <a:srgbClr val="E8EEFA"/>
                </a:solidFill>
                <a:latin typeface="Segoe UI"/>
              </a:rPr>
              <a:t>O'lchov vaqtida nvidia-smi dmon -s u buyrug'i bilan GPU bandligini kuzating: agar GPU-Util 60% dan past bo'lsa, bottleneck ma'lumotlar quvurida.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2-qadam. Bitta tugunda ko'p GPU: torchrun bilan DDP — kod</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37</a:t>
            </a:r>
          </a:p>
        </p:txBody>
      </p:sp>
      <p:sp>
        <p:nvSpPr>
          <p:cNvPr id="22" name="Rounded Rectangle 21"/>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000" y="1700000"/>
            <a:ext cx="10700000" cy="4500000"/>
          </a:xfrm>
          <a:prstGeom prst="rect">
            <a:avLst/>
          </a:prstGeom>
          <a:noFill/>
        </p:spPr>
        <p:txBody>
          <a:bodyPr wrap="square">
            <a:spAutoFit/>
          </a:bodyPr>
          <a:lstStyle/>
          <a:p>
            <a:r>
              <a:rPr sz="1200">
                <a:solidFill>
                  <a:srgbClr val="6EE7B7"/>
                </a:solidFill>
                <a:latin typeface="Consolas"/>
              </a:rPr>
              <a:t># 2 GPU</a:t>
            </a:r>
          </a:p>
          <a:p>
            <a:r>
              <a:rPr sz="1200">
                <a:solidFill>
                  <a:srgbClr val="DBE4F5"/>
                </a:solidFill>
                <a:latin typeface="Consolas"/>
              </a:rPr>
              <a:t>torchrun --standalone --nproc_per_node=2 train_ddp.py --epochs 3 --bs 128</a:t>
            </a:r>
          </a:p>
          <a:p>
            <a:r>
              <a:rPr sz="1200">
                <a:solidFill>
                  <a:srgbClr val="6EE7B7"/>
                </a:solidFill>
                <a:latin typeface="Consolas"/>
              </a:rPr>
              <a:t># 4 GPU</a:t>
            </a:r>
          </a:p>
          <a:p>
            <a:r>
              <a:rPr sz="1200">
                <a:solidFill>
                  <a:srgbClr val="DBE4F5"/>
                </a:solidFill>
                <a:latin typeface="Consolas"/>
              </a:rPr>
              <a:t>torchrun --standalone --nproc_per_node=4 train_ddp.py --epochs 3 --bs 128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50"/>
                                        <p:tgtEl>
                                          <p:spTgt spid="24"/>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50"/>
                                        <p:tgtEl>
                                          <p:spTgt spid="25"/>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4" dur="8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3" grpId="0" animBg="1"/>
      <p:bldP spid="24" grpId="0" animBg="1"/>
      <p:bldP spid="25" grpId="0" animBg="1"/>
      <p:bldP spid="26"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3-qadam. Kommunikatsiya ulushini profilerda ko'rish</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38</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632104"/>
            <a:ext cx="50000" cy="23157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Nima bo'ldi va nega.</a:t>
            </a:r>
          </a:p>
          <a:p>
            <a:pPr>
              <a:spcBef>
                <a:spcPts val="400"/>
              </a:spcBef>
            </a:pPr>
            <a:r>
              <a:rPr sz="1600">
                <a:solidFill>
                  <a:srgbClr val="AEBBD9"/>
                </a:solidFill>
                <a:latin typeface="Segoe UI"/>
              </a:rPr>
              <a:t>Jadvalda ncclKernel_AllReduce_ qatorlarining umumiy CUDA vaqti ko'rinadi. Uni T_step ga bo'lib kommunikatsiya ulushini topamiz. 4 × RTX 3090 (PCIe 4.0, NVLink yo'q) konfiguratsiyasida ResNet-18 uchun bu ulush odatda 8–15% ni tashkil qiladi; A100 NVLink'da 3–5% gacha tushadi. Agar ulush 30% dan oshsa — chelak hajmini oshirish yoki gradient to'plashni qo'llash kerak.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3-qadam. Kommunikatsiya ulushini profilerda ko'rish — kod</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39</a:t>
            </a:r>
          </a:p>
        </p:txBody>
      </p:sp>
      <p:sp>
        <p:nvSpPr>
          <p:cNvPr id="22" name="Rounded Rectangle 21"/>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000" y="1700000"/>
            <a:ext cx="10700000" cy="4500000"/>
          </a:xfrm>
          <a:prstGeom prst="rect">
            <a:avLst/>
          </a:prstGeom>
          <a:noFill/>
        </p:spPr>
        <p:txBody>
          <a:bodyPr wrap="square">
            <a:spAutoFit/>
          </a:bodyPr>
          <a:lstStyle/>
          <a:p>
            <a:r>
              <a:rPr sz="1200">
                <a:solidFill>
                  <a:srgbClr val="6EE7B7"/>
                </a:solidFill>
                <a:latin typeface="Consolas"/>
              </a:rPr>
              <a:t># train_ddp.py ichida, tsikldan oldin qo'shing (faqat tahlil uchun):</a:t>
            </a:r>
          </a:p>
          <a:p>
            <a:r>
              <a:rPr sz="1200">
                <a:solidFill>
                  <a:srgbClr val="DBE4F5"/>
                </a:solidFill>
                <a:latin typeface="Consolas"/>
              </a:rPr>
              <a:t>from torch.profiler import profile, ProfilerActivity, schedule</a:t>
            </a:r>
          </a:p>
          <a:p>
            <a:r>
              <a:rPr sz="1200">
                <a:solidFill>
                  <a:srgbClr val="DBE4F5"/>
                </a:solidFill>
                <a:latin typeface="Consolas"/>
              </a:rPr>
              <a:t>prof = profile(activities=[ProfilerActivity.CPU, ProfilerActivity.CUDA],</a:t>
            </a:r>
          </a:p>
          <a:p>
            <a:r>
              <a:rPr sz="1200">
                <a:solidFill>
                  <a:srgbClr val="DBE4F5"/>
                </a:solidFill>
                <a:latin typeface="Consolas"/>
              </a:rPr>
              <a:t>               schedule=schedule(wait=5, warmup=2, active=5), record_shapes=False)</a:t>
            </a:r>
          </a:p>
          <a:p>
            <a:r>
              <a:rPr sz="1200">
                <a:solidFill>
                  <a:srgbClr val="DBE4F5"/>
                </a:solidFill>
                <a:latin typeface="Consolas"/>
              </a:rPr>
              <a:t>prof.start()</a:t>
            </a:r>
          </a:p>
          <a:p>
            <a:r>
              <a:rPr sz="1200">
                <a:solidFill>
                  <a:srgbClr val="6EE7B7"/>
                </a:solidFill>
                <a:latin typeface="Consolas"/>
              </a:rPr>
              <a:t># ... har iteratsiya oxirida: prof.step()</a:t>
            </a:r>
          </a:p>
          <a:p>
            <a:r>
              <a:rPr sz="1200">
                <a:solidFill>
                  <a:srgbClr val="6EE7B7"/>
                </a:solidFill>
                <a:latin typeface="Consolas"/>
              </a:rPr>
              <a:t># ... tsikl tugagach:</a:t>
            </a:r>
          </a:p>
          <a:p>
            <a:r>
              <a:rPr sz="1200">
                <a:solidFill>
                  <a:srgbClr val="DBE4F5"/>
                </a:solidFill>
                <a:latin typeface="Consolas"/>
              </a:rPr>
              <a:t>prof.stop()</a:t>
            </a:r>
          </a:p>
          <a:p>
            <a:r>
              <a:rPr sz="1200">
                <a:solidFill>
                  <a:srgbClr val="DBE4F5"/>
                </a:solidFill>
                <a:latin typeface="Consolas"/>
              </a:rPr>
              <a:t>if rank == 0:</a:t>
            </a:r>
          </a:p>
          <a:p>
            <a:r>
              <a:rPr sz="1200">
                <a:solidFill>
                  <a:srgbClr val="DBE4F5"/>
                </a:solidFill>
                <a:latin typeface="Consolas"/>
              </a:rPr>
              <a:t>    print(prof.key_averages().table(sort_by="cuda_time_total", row_limit=15))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50"/>
                                        <p:tgtEl>
                                          <p:spTgt spid="24"/>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50"/>
                                        <p:tgtEl>
                                          <p:spTgt spid="25"/>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4" dur="8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3" grpId="0" animBg="1"/>
      <p:bldP spid="24" grpId="0" animBg="1"/>
      <p:bldP spid="25" grpId="0" animBg="1"/>
      <p:bldP spid="26"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4-qadam. Ikki tugunli ishga tushirish</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40</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048a68667d252f9.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Anthere · Wikimedia Commons · CC BY-SA 4.0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741544"/>
            <a:ext cx="50000" cy="191345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4982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1701544"/>
            <a:ext cx="5900000" cy="1993456"/>
          </a:xfrm>
          <a:prstGeom prst="rect">
            <a:avLst/>
          </a:prstGeom>
          <a:noFill/>
        </p:spPr>
        <p:txBody>
          <a:bodyPr wrap="square" anchor="ctr">
            <a:spAutoFit/>
          </a:bodyPr>
          <a:lstStyle/>
          <a:p>
            <a:r>
              <a:rPr sz="1300" b="0">
                <a:solidFill>
                  <a:srgbClr val="E8EEFA"/>
                </a:solidFill>
                <a:latin typeface="Segoe UI"/>
              </a:rPr>
              <a:t>Foydali muhit o'zgaruvchilari: NCCL_DEBUG=INFO (NCCL qaysi interfeys va algoritmni tanlaganini ko'rsatadi), NCCL_SOCKET_IFNAME=eth0 (to'g'ri tarmoq kartasini majburlash), NCCL_IB_DISABLE=1 (InfiniBand yo'q bo'lsa).</a:t>
            </a:r>
          </a:p>
        </p:txBody>
      </p:sp>
      <p:sp>
        <p:nvSpPr>
          <p:cNvPr id="34" name="Rounded Rectangle 33"/>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6817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7" name="TextBox 36"/>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Nima bo'ldi va nega.</a:t>
            </a:r>
          </a:p>
          <a:p>
            <a:pPr>
              <a:spcBef>
                <a:spcPts val="400"/>
              </a:spcBef>
            </a:pPr>
            <a:r>
              <a:rPr sz="1300">
                <a:solidFill>
                  <a:srgbClr val="AEBBD9"/>
                </a:solidFill>
                <a:latin typeface="Segoe UI"/>
              </a:rPr>
              <a:t>Endi world_size=4, lekin 2 ta GPU juftligi oddiy Ethernet orqali bog'langan. All-reduce'ning bir qismi tarmoq orqali o'tadi, shuning uchun samaradorlik sezilarli tushadi. 10 Gbit/s tarmoqda ResNet-18 (45 MB gradient) uchun qadam sayin ~70 ms kommunikatsiya qo'shiladi — bu hisoblash vaqtiga (~50 ms) yaqin, demak samaradorlik 50–60% gacha tushishi tabiiy. Bu natija «yomon» emas, u tarmoqning cheklovchi omil ekanini ko'rsatadi va hisobotda shunday talqin qilinishi kerak.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4-qadam. Ikki tugunli ishga tushirish — kod</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41</a:t>
            </a:r>
          </a:p>
        </p:txBody>
      </p:sp>
      <p:sp>
        <p:nvSpPr>
          <p:cNvPr id="24" name="Rounded Rectangle 23"/>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0000" y="1700000"/>
            <a:ext cx="10700000" cy="4500000"/>
          </a:xfrm>
          <a:prstGeom prst="rect">
            <a:avLst/>
          </a:prstGeom>
          <a:noFill/>
        </p:spPr>
        <p:txBody>
          <a:bodyPr wrap="square">
            <a:spAutoFit/>
          </a:bodyPr>
          <a:lstStyle/>
          <a:p>
            <a:r>
              <a:rPr sz="1400">
                <a:solidFill>
                  <a:srgbClr val="6EE7B7"/>
                </a:solidFill>
                <a:latin typeface="Consolas"/>
              </a:rPr>
              <a:t># 1-tugun (master), 2 GPU</a:t>
            </a:r>
          </a:p>
          <a:p>
            <a:r>
              <a:rPr sz="1400">
                <a:solidFill>
                  <a:srgbClr val="DBE4F5"/>
                </a:solidFill>
                <a:latin typeface="Consolas"/>
              </a:rPr>
              <a:t>torchrun --nnodes=2 --nproc_per_node=2 --node_rank=0 \</a:t>
            </a:r>
          </a:p>
          <a:p>
            <a:r>
              <a:rPr sz="1400">
                <a:solidFill>
                  <a:srgbClr val="DBE4F5"/>
                </a:solidFill>
                <a:latin typeface="Consolas"/>
              </a:rPr>
              <a:t>         --rdzv_backend=c10d --rdzv_endpoint=10.10.0.71:29500 \</a:t>
            </a:r>
          </a:p>
          <a:p>
            <a:r>
              <a:rPr sz="1400">
                <a:solidFill>
                  <a:srgbClr val="DBE4F5"/>
                </a:solidFill>
                <a:latin typeface="Consolas"/>
              </a:rPr>
              <a:t>         train_ddp.py --epochs 3 --bs 128</a:t>
            </a:r>
          </a:p>
          <a:p>
            <a:r>
              <a:rPr sz="1400">
                <a:solidFill>
                  <a:srgbClr val="6EE7B7"/>
                </a:solidFill>
                <a:latin typeface="Consolas"/>
              </a:rPr>
              <a:t># 2-tugun, 2 GPU</a:t>
            </a:r>
          </a:p>
          <a:p>
            <a:r>
              <a:rPr sz="1400">
                <a:solidFill>
                  <a:srgbClr val="DBE4F5"/>
                </a:solidFill>
                <a:latin typeface="Consolas"/>
              </a:rPr>
              <a:t>torchrun --nnodes=2 --nproc_per_node=2 --node_rank=1 \</a:t>
            </a:r>
          </a:p>
          <a:p>
            <a:r>
              <a:rPr sz="1400">
                <a:solidFill>
                  <a:srgbClr val="DBE4F5"/>
                </a:solidFill>
                <a:latin typeface="Consolas"/>
              </a:rPr>
              <a:t>         --rdzv_backend=c10d --rdzv_endpoint=10.10.0.71:29500 \</a:t>
            </a:r>
          </a:p>
          <a:p>
            <a:r>
              <a:rPr sz="1400">
                <a:solidFill>
                  <a:srgbClr val="DBE4F5"/>
                </a:solidFill>
                <a:latin typeface="Consolas"/>
              </a:rPr>
              <a:t>         train_ddp.py --epochs 3 --bs 128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50"/>
                                        <p:tgtEl>
                                          <p:spTgt spid="26"/>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50"/>
                                        <p:tgtEl>
                                          <p:spTgt spid="27"/>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wipe(left)">
                                      <p:cBhvr>
                                        <p:cTn id="34" dur="8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5" grpId="0" animBg="1"/>
      <p:bldP spid="26" grpId="0" animBg="1"/>
      <p:bldP spid="27" grpId="0" animBg="1"/>
      <p:bldP spid="2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5-qadam. Parallel inferens o'tkazuvchanligini o'lchash</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42</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9b07e9321548e59b.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Jasper Reichardt · Wikimedia Commons · CC BY-SA 4.0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686216"/>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766216"/>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2726216"/>
            <a:ext cx="5900000" cy="2127568"/>
          </a:xfrm>
          <a:prstGeom prst="rect">
            <a:avLst/>
          </a:prstGeom>
          <a:noFill/>
        </p:spPr>
        <p:txBody>
          <a:bodyPr wrap="square" anchor="ctr">
            <a:spAutoFit/>
          </a:bodyPr>
          <a:lstStyle/>
          <a:p>
            <a:r>
              <a:rPr sz="1500" b="1">
                <a:solidFill>
                  <a:srgbClr val="E8EEFA"/>
                </a:solidFill>
                <a:latin typeface="Segoe UI"/>
              </a:rPr>
              <a:t>Nima bo'ldi va nega.</a:t>
            </a:r>
          </a:p>
          <a:p>
            <a:pPr>
              <a:spcBef>
                <a:spcPts val="400"/>
              </a:spcBef>
            </a:pPr>
            <a:r>
              <a:rPr sz="1400">
                <a:solidFill>
                  <a:srgbClr val="AEBBD9"/>
                </a:solidFill>
                <a:latin typeface="Segoe UI"/>
              </a:rPr>
              <a:t>Inferensda gradient yo'q, demak qadam sayin all-reduce ham yo'q; yagona kommunikatsiya — oxirida natijalarni yig'ish. Shu sababli parallel inferens o'qitishga qaraganda ancha yaxshi masshtablanadi (90–98%). Lekin e'tibor bering: DistributedSampler ma'lumotlar soni world_size ga bo'linmasa, oxirgi namunalarni takrorlab to'ldiradi — aniqlik hisoblashda bu kichik xato beradi; ishlab chiqarishda indekslar bo'yicha deduplikatsiya qilinadi.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5-qadam. Parallel inferens o'tkazuvchanligini o'lchash — kod 1</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43</a:t>
            </a:r>
          </a:p>
        </p:txBody>
      </p:sp>
      <p:sp>
        <p:nvSpPr>
          <p:cNvPr id="23" name="Rounded Rectangle 22"/>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000" y="1700000"/>
            <a:ext cx="10700000" cy="4500000"/>
          </a:xfrm>
          <a:prstGeom prst="rect">
            <a:avLst/>
          </a:prstGeom>
          <a:noFill/>
        </p:spPr>
        <p:txBody>
          <a:bodyPr wrap="square">
            <a:spAutoFit/>
          </a:bodyPr>
          <a:lstStyle/>
          <a:p>
            <a:r>
              <a:rPr sz="1200">
                <a:solidFill>
                  <a:srgbClr val="6EE7B7"/>
                </a:solidFill>
                <a:latin typeface="Consolas"/>
              </a:rPr>
              <a:t># infer_ddp.py — har rank o'z ma'lumot bo'lagini bashorat qiladi, natijalar 0-rankka yig'iladi</a:t>
            </a:r>
          </a:p>
          <a:p>
            <a:r>
              <a:rPr sz="1200">
                <a:solidFill>
                  <a:srgbClr val="DBE4F5"/>
                </a:solidFill>
                <a:latin typeface="Consolas"/>
              </a:rPr>
              <a:t>import os, time, torch, torch.distributed as dist, torchvision, torchvision.transforms as T</a:t>
            </a:r>
          </a:p>
          <a:p>
            <a:r>
              <a:rPr sz="1200">
                <a:solidFill>
                  <a:srgbClr val="DBE4F5"/>
                </a:solidFill>
                <a:latin typeface="Consolas"/>
              </a:rPr>
              <a:t>from torch.utils.data import DataLoader, Subset</a:t>
            </a:r>
          </a:p>
          <a:p>
            <a:r>
              <a:rPr sz="1200">
                <a:solidFill>
                  <a:srgbClr val="DBE4F5"/>
                </a:solidFill>
                <a:latin typeface="Consolas"/>
              </a:rPr>
              <a:t>from torch.utils.data.distributed import DistributedSampler</a:t>
            </a:r>
          </a:p>
          <a:p>
            <a:r>
              <a:rPr sz="1200">
                <a:solidFill>
                  <a:srgbClr val="DBE4F5"/>
                </a:solidFill>
                <a:latin typeface="Consolas"/>
              </a:rPr>
              <a:t> </a:t>
            </a:r>
          </a:p>
          <a:p>
            <a:r>
              <a:rPr sz="1200">
                <a:solidFill>
                  <a:srgbClr val="DBE4F5"/>
                </a:solidFill>
                <a:latin typeface="Consolas"/>
              </a:rPr>
              <a:t>dist.init_process_group("nccl")</a:t>
            </a:r>
          </a:p>
          <a:p>
            <a:r>
              <a:rPr sz="1200">
                <a:solidFill>
                  <a:srgbClr val="DBE4F5"/>
                </a:solidFill>
                <a:latin typeface="Consolas"/>
              </a:rPr>
              <a:t>rank, world = dist.get_rank(), dist.get_world_size()</a:t>
            </a:r>
          </a:p>
          <a:p>
            <a:r>
              <a:rPr sz="1200">
                <a:solidFill>
                  <a:srgbClr val="DBE4F5"/>
                </a:solidFill>
                <a:latin typeface="Consolas"/>
              </a:rPr>
              <a:t>local_rank = int(os.environ["LOCAL_RANK"]); dev = torch.device("cuda", local_rank)</a:t>
            </a:r>
          </a:p>
          <a:p>
            <a:r>
              <a:rPr sz="1200">
                <a:solidFill>
                  <a:srgbClr val="DBE4F5"/>
                </a:solidFill>
                <a:latin typeface="Consolas"/>
              </a:rPr>
              <a:t>torch.cuda.set_device(local_rank)</a:t>
            </a:r>
          </a:p>
          <a:p>
            <a:r>
              <a:rPr sz="1200">
                <a:solidFill>
                  <a:srgbClr val="DBE4F5"/>
                </a:solidFill>
                <a:latin typeface="Consolas"/>
              </a:rPr>
              <a:t> </a:t>
            </a:r>
          </a:p>
          <a:p>
            <a:r>
              <a:rPr sz="1200">
                <a:solidFill>
                  <a:srgbClr val="DBE4F5"/>
                </a:solidFill>
                <a:latin typeface="Consolas"/>
              </a:rPr>
              <a:t>tf = T.Compose([T.ToTensor(), T.Normalize((0.49, 0.48, 0.45), (0.25, 0.24, 0.26))])</a:t>
            </a:r>
          </a:p>
          <a:p>
            <a:r>
              <a:rPr sz="1200">
                <a:solidFill>
                  <a:srgbClr val="DBE4F5"/>
                </a:solidFill>
                <a:latin typeface="Consolas"/>
              </a:rPr>
              <a:t>ds = Subset(torchvision.datasets.CIFAR10("./data", train=False, transform=tf), range(10000))</a:t>
            </a:r>
          </a:p>
          <a:p>
            <a:r>
              <a:rPr sz="1200">
                <a:solidFill>
                  <a:srgbClr val="DBE4F5"/>
                </a:solidFill>
                <a:latin typeface="Consolas"/>
              </a:rPr>
              <a:t>sampler = DistributedSampler(ds, shuffle=False)</a:t>
            </a:r>
          </a:p>
          <a:p>
            <a:r>
              <a:rPr sz="1200">
                <a:solidFill>
                  <a:srgbClr val="DBE4F5"/>
                </a:solidFill>
                <a:latin typeface="Consolas"/>
              </a:rPr>
              <a:t>dl = DataLoader(ds, batch_size=256, sampler=sampler, num_workers=4, pin_memory=True)</a:t>
            </a:r>
          </a:p>
          <a:p>
            <a:r>
              <a:rPr sz="1200">
                <a:solidFill>
                  <a:srgbClr val="DBE4F5"/>
                </a:solidFill>
                <a:latin typeface="Consolas"/>
              </a:rPr>
              <a:t> </a:t>
            </a:r>
          </a:p>
          <a:p>
            <a:r>
              <a:rPr sz="1200">
                <a:solidFill>
                  <a:srgbClr val="DBE4F5"/>
                </a:solidFill>
                <a:latin typeface="Consolas"/>
              </a:rPr>
              <a:t>model = torchvision.models.resnet18(num_classes=10).to(dev).eval().half()</a:t>
            </a:r>
          </a:p>
          <a:p>
            <a:r>
              <a:rPr sz="1200">
                <a:solidFill>
                  <a:srgbClr val="6EE7B7"/>
                </a:solidFill>
                <a:latin typeface="Consolas"/>
              </a:rPr>
              <a:t># haqiqiy loyihada: model.load_state_dict(torch.load("ckpt.pt", map_location=dev))</a:t>
            </a:r>
          </a:p>
          <a:p>
            <a:r>
              <a:rPr sz="1200">
                <a:solidFill>
                  <a:srgbClr val="DBE4F5"/>
                </a:solidFill>
                <a:latin typeface="Consolas"/>
              </a:rPr>
              <a:t> </a:t>
            </a:r>
          </a:p>
          <a:p>
            <a:r>
              <a:rPr sz="1200">
                <a:solidFill>
                  <a:srgbClr val="DBE4F5"/>
                </a:solidFill>
                <a:latin typeface="Consolas"/>
              </a:rPr>
              <a:t>preds, labels = [], []</a:t>
            </a:r>
          </a:p>
          <a:p>
            <a:r>
              <a:rPr sz="1200">
                <a:solidFill>
                  <a:srgbClr val="DBE4F5"/>
                </a:solidFill>
                <a:latin typeface="Consolas"/>
              </a:rPr>
              <a:t>torch.cuda.synchronize(); dist.barrier(); t0 = time.time()</a:t>
            </a:r>
          </a:p>
          <a:p>
            <a:r>
              <a:rPr sz="1200">
                <a:solidFill>
                  <a:srgbClr val="6EE7B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50"/>
                                        <p:tgtEl>
                                          <p:spTgt spid="25"/>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50"/>
                                        <p:tgtEl>
                                          <p:spTgt spid="26"/>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left)">
                                      <p:cBhvr>
                                        <p:cTn id="34" dur="8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4" grpId="0" animBg="1"/>
      <p:bldP spid="25" grpId="0" animBg="1"/>
      <p:bldP spid="26" grpId="0" animBg="1"/>
      <p:bldP spid="27"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5-qadam. Parallel inferens o'tkazuvchanligini o'lchash — kod 2</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44</a:t>
            </a:r>
          </a:p>
        </p:txBody>
      </p:sp>
      <p:sp>
        <p:nvSpPr>
          <p:cNvPr id="22" name="Rounded Rectangle 21"/>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000" y="1700000"/>
            <a:ext cx="10700000" cy="4500000"/>
          </a:xfrm>
          <a:prstGeom prst="rect">
            <a:avLst/>
          </a:prstGeom>
          <a:noFill/>
        </p:spPr>
        <p:txBody>
          <a:bodyPr wrap="square">
            <a:spAutoFit/>
          </a:bodyPr>
          <a:lstStyle/>
          <a:p>
            <a:r>
              <a:rPr sz="1200">
                <a:solidFill>
                  <a:srgbClr val="DBE4F5"/>
                </a:solidFill>
                <a:latin typeface="Consolas"/>
              </a:rPr>
              <a:t>for n in 1 2 4; do torchrun --standalone --nproc_per_node=$n infer_ddp.py; done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50"/>
                                        <p:tgtEl>
                                          <p:spTgt spid="24"/>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50"/>
                                        <p:tgtEl>
                                          <p:spTgt spid="25"/>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4" dur="8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3" grpId="0" animBg="1"/>
      <p:bldP spid="24" grpId="0" animBg="1"/>
      <p:bldP spid="25" grpId="0" animBg="1"/>
      <p:bldP spid="26"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6-qadam (qo'shimcha). Ray Train bilan qayta amalga oshirish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45</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8058ee55edef2eb4.jpg"/>
          <p:cNvPicPr>
            <a:picLocks noChangeAspect="1"/>
          </p:cNvPicPr>
          <p:nvPr/>
        </p:nvPicPr>
        <p:blipFill>
          <a:blip r:embed="rId2"/>
          <a:srcRect t="15021" b="15021"/>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497992"/>
            <a:ext cx="50000" cy="258401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Nima bo'ldi va nega.</a:t>
            </a:r>
          </a:p>
          <a:p>
            <a:pPr>
              <a:spcBef>
                <a:spcPts val="400"/>
              </a:spcBef>
            </a:pPr>
            <a:r>
              <a:rPr sz="1600">
                <a:solidFill>
                  <a:srgbClr val="AEBBD9"/>
                </a:solidFill>
                <a:latin typeface="Segoe UI"/>
              </a:rPr>
              <a:t>Kod hajmi qisqardi: prepare_model va prepare_data_loader DDP o'rami, qurilmaga ko'chirish va DistributedSamplerni avtomatik qo'shdi; ScalingConfig ishchilar sonini bildiradi; ikki tugunli klaster uchun kodni o'zgartirish shart emas — faqat ray start --head / ray start --address=... buyruqlari bilan klaster yig'iladi. Evaziga Ray'ning o'z jarayonlari xotira oladi va birinchi ishga tushish 10–20 soniya sekinroq.</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6-qadam (qo'shimcha). Ray Train bilan qayta amalga oshirish — kod</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46</a:t>
            </a:r>
          </a:p>
        </p:txBody>
      </p:sp>
      <p:sp>
        <p:nvSpPr>
          <p:cNvPr id="25" name="Rounded Rectangle 24"/>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0000" y="1700000"/>
            <a:ext cx="10700000" cy="4500000"/>
          </a:xfrm>
          <a:prstGeom prst="rect">
            <a:avLst/>
          </a:prstGeom>
          <a:noFill/>
        </p:spPr>
        <p:txBody>
          <a:bodyPr wrap="square">
            <a:spAutoFit/>
          </a:bodyPr>
          <a:lstStyle/>
          <a:p>
            <a:r>
              <a:rPr sz="1000">
                <a:solidFill>
                  <a:srgbClr val="6EE7B7"/>
                </a:solidFill>
                <a:latin typeface="Consolas"/>
              </a:rPr>
              <a:t># train_ray.py</a:t>
            </a:r>
          </a:p>
          <a:p>
            <a:r>
              <a:rPr sz="1000">
                <a:solidFill>
                  <a:srgbClr val="DBE4F5"/>
                </a:solidFill>
                <a:latin typeface="Consolas"/>
              </a:rPr>
              <a:t>import ray, torch, torch.nn as nn, torchvision, torchvision.transforms as T</a:t>
            </a:r>
          </a:p>
          <a:p>
            <a:r>
              <a:rPr sz="1000">
                <a:solidFill>
                  <a:srgbClr val="DBE4F5"/>
                </a:solidFill>
                <a:latin typeface="Consolas"/>
              </a:rPr>
              <a:t>from ray.train import ScalingConfig, RunConfig</a:t>
            </a:r>
          </a:p>
          <a:p>
            <a:r>
              <a:rPr sz="1000">
                <a:solidFill>
                  <a:srgbClr val="DBE4F5"/>
                </a:solidFill>
                <a:latin typeface="Consolas"/>
              </a:rPr>
              <a:t>from ray.train.torch import TorchTrainer, prepare_model, prepare_data_loader</a:t>
            </a:r>
          </a:p>
          <a:p>
            <a:r>
              <a:rPr sz="1000">
                <a:solidFill>
                  <a:srgbClr val="DBE4F5"/>
                </a:solidFill>
                <a:latin typeface="Consolas"/>
              </a:rPr>
              <a:t>from torch.utils.data import DataLoader, Subset</a:t>
            </a:r>
          </a:p>
          <a:p>
            <a:r>
              <a:rPr sz="1000">
                <a:solidFill>
                  <a:srgbClr val="DBE4F5"/>
                </a:solidFill>
                <a:latin typeface="Consolas"/>
              </a:rPr>
              <a:t> </a:t>
            </a:r>
          </a:p>
          <a:p>
            <a:r>
              <a:rPr sz="1000">
                <a:solidFill>
                  <a:srgbClr val="DBE4F5"/>
                </a:solidFill>
                <a:latin typeface="Consolas"/>
              </a:rPr>
              <a:t>def train_fn(cfg):</a:t>
            </a:r>
          </a:p>
          <a:p>
            <a:r>
              <a:rPr sz="1000">
                <a:solidFill>
                  <a:srgbClr val="DBE4F5"/>
                </a:solidFill>
                <a:latin typeface="Consolas"/>
              </a:rPr>
              <a:t>    tf = T.Compose([T.ToTensor(), T.Normalize((0.49, 0.48, 0.45), (0.25, 0.24, 0.26))])</a:t>
            </a:r>
          </a:p>
          <a:p>
            <a:r>
              <a:rPr sz="1000">
                <a:solidFill>
                  <a:srgbClr val="DBE4F5"/>
                </a:solidFill>
                <a:latin typeface="Consolas"/>
              </a:rPr>
              <a:t>    ds = Subset(torchvision.datasets.CIFAR10("./data", train=True, download=True, transform=tf), range(10000))</a:t>
            </a:r>
          </a:p>
          <a:p>
            <a:r>
              <a:rPr sz="1000">
                <a:solidFill>
                  <a:srgbClr val="DBE4F5"/>
                </a:solidFill>
                <a:latin typeface="Consolas"/>
              </a:rPr>
              <a:t>    dl = prepare_data_loader(DataLoader(ds, batch_size=cfg["bs"], shuffle=True, num_workers=4))</a:t>
            </a:r>
          </a:p>
          <a:p>
            <a:r>
              <a:rPr sz="1000">
                <a:solidFill>
                  <a:srgbClr val="DBE4F5"/>
                </a:solidFill>
                <a:latin typeface="Consolas"/>
              </a:rPr>
              <a:t>    model = prepare_model(torchvision.models.resnet18(num_classes=10))  # DDP + device avtomatik</a:t>
            </a:r>
          </a:p>
          <a:p>
            <a:r>
              <a:rPr sz="1000">
                <a:solidFill>
                  <a:srgbClr val="DBE4F5"/>
                </a:solidFill>
                <a:latin typeface="Consolas"/>
              </a:rPr>
              <a:t>    opt = torch.optim.SGD(model.parameters(), lr=0.1 * ray.train.get_context().get_world_size(), momentum=0.9)</a:t>
            </a:r>
          </a:p>
          <a:p>
            <a:r>
              <a:rPr sz="1000">
                <a:solidFill>
                  <a:srgbClr val="DBE4F5"/>
                </a:solidFill>
                <a:latin typeface="Consolas"/>
              </a:rPr>
              <a:t>    lossf = nn.CrossEntropyLoss()</a:t>
            </a:r>
          </a:p>
          <a:p>
            <a:r>
              <a:rPr sz="1000">
                <a:solidFill>
                  <a:srgbClr val="DBE4F5"/>
                </a:solidFill>
                <a:latin typeface="Consolas"/>
              </a:rPr>
              <a:t>    for ep in range(cfg["epochs"]):</a:t>
            </a:r>
          </a:p>
          <a:p>
            <a:r>
              <a:rPr sz="1000">
                <a:solidFill>
                  <a:srgbClr val="DBE4F5"/>
                </a:solidFill>
                <a:latin typeface="Consolas"/>
              </a:rPr>
              <a:t>        dl.sampler.set_epoch(ep) if hasattr(dl.sampler, "set_epoch") else None</a:t>
            </a:r>
          </a:p>
          <a:p>
            <a:r>
              <a:rPr sz="1000">
                <a:solidFill>
                  <a:srgbClr val="DBE4F5"/>
                </a:solidFill>
                <a:latin typeface="Consolas"/>
              </a:rPr>
              <a:t>        for x, y in dl:</a:t>
            </a:r>
          </a:p>
          <a:p>
            <a:r>
              <a:rPr sz="1000">
                <a:solidFill>
                  <a:srgbClr val="DBE4F5"/>
                </a:solidFill>
                <a:latin typeface="Consolas"/>
              </a:rPr>
              <a:t>            loss = lossf(model(x), y); opt.zero_grad(); loss.backward(); opt.step()</a:t>
            </a:r>
          </a:p>
          <a:p>
            <a:r>
              <a:rPr sz="1000">
                <a:solidFill>
                  <a:srgbClr val="DBE4F5"/>
                </a:solidFill>
                <a:latin typeface="Consolas"/>
              </a:rPr>
              <a:t>        ray.train.report({"epoch": ep, "loss": loss.item()})</a:t>
            </a:r>
          </a:p>
          <a:p>
            <a:r>
              <a:rPr sz="1000">
                <a:solidFill>
                  <a:srgbClr val="DBE4F5"/>
                </a:solidFill>
                <a:latin typeface="Consolas"/>
              </a:rPr>
              <a:t> </a:t>
            </a:r>
          </a:p>
          <a:p>
            <a:r>
              <a:rPr sz="1000">
                <a:solidFill>
                  <a:srgbClr val="DBE4F5"/>
                </a:solidFill>
                <a:latin typeface="Consolas"/>
              </a:rPr>
              <a:t>if __name__ == "__main__":</a:t>
            </a:r>
          </a:p>
          <a:p>
            <a:r>
              <a:rPr sz="1000">
                <a:solidFill>
                  <a:srgbClr val="6EE7B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50"/>
                                        <p:tgtEl>
                                          <p:spTgt spid="27"/>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550"/>
                                        <p:tgtEl>
                                          <p:spTgt spid="28"/>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4" dur="8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P spid="29"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Kutilgan natijalar jadvali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47</a:t>
            </a:r>
          </a:p>
        </p:txBody>
      </p:sp>
      <p:sp>
        <p:nvSpPr>
          <p:cNvPr id="25" name="Rounded Rectangle 24"/>
          <p:cNvSpPr/>
          <p:nvPr/>
        </p:nvSpPr>
        <p:spPr>
          <a:xfrm>
            <a:off x="550000" y="321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3295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3295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8" name="TextBox 27"/>
          <p:cNvSpPr txBox="1"/>
          <p:nvPr/>
        </p:nvSpPr>
        <p:spPr>
          <a:xfrm>
            <a:off x="1300000" y="3255000"/>
            <a:ext cx="10250000" cy="440000"/>
          </a:xfrm>
          <a:prstGeom prst="rect">
            <a:avLst/>
          </a:prstGeom>
          <a:noFill/>
        </p:spPr>
        <p:txBody>
          <a:bodyPr wrap="square" anchor="ctr">
            <a:spAutoFit/>
          </a:bodyPr>
          <a:lstStyle/>
          <a:p>
            <a:r>
              <a:rPr sz="1600" b="0">
                <a:solidFill>
                  <a:srgbClr val="E8EEFA"/>
                </a:solidFill>
                <a:latin typeface="Segoe UI"/>
              </a:rPr>
              <a:t>Quyidagi jadval 4 × RTX 3090 (PCIe 4.0, NVLink yo'q), ResNet-18, CIFAR-10, paket 128/GPU, BF16 autocast konfiguratsiyasi uchun taxminiy kutilgan qiymatlardir; talaba o'z o'lchovlarini aynan shu shaklda keltiradi.</a:t>
            </a:r>
          </a:p>
        </p:txBody>
      </p:sp>
      <p:sp>
        <p:nvSpPr>
          <p:cNvPr id="29" name="Rounded Rectangle 28"/>
          <p:cNvSpPr/>
          <p:nvPr/>
        </p:nvSpPr>
        <p:spPr>
          <a:xfrm>
            <a:off x="550000" y="384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925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925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3885000"/>
            <a:ext cx="10250000" cy="440000"/>
          </a:xfrm>
          <a:prstGeom prst="rect">
            <a:avLst/>
          </a:prstGeom>
          <a:noFill/>
        </p:spPr>
        <p:txBody>
          <a:bodyPr wrap="square" anchor="ctr">
            <a:spAutoFit/>
          </a:bodyPr>
          <a:lstStyle/>
          <a:p>
            <a:r>
              <a:rPr sz="1600" b="0">
                <a:solidFill>
                  <a:srgbClr val="E8EEFA"/>
                </a:solidFill>
                <a:latin typeface="Segoe UI"/>
              </a:rPr>
              <a:t>Jadvalda tezlashish S(N) = T(1)/T(N) epoxa vaqtlari bo'yicha (kuchsiz masshtablash rejimida img/s nisbati bilan bir xil ma'noni beradi) hisoblangan.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ppt_x</p:attrName>
                                        </p:attrNameLst>
                                      </p:cBhvr>
                                      <p:tavLst>
                                        <p:tav tm="0">
                                          <p:val>
                                            <p:strVal val="#ppt_x"/>
                                          </p:val>
                                        </p:tav>
                                        <p:tav tm="100000">
                                          <p:val>
                                            <p:strVal val="#ppt_x"/>
                                          </p:val>
                                        </p:tav>
                                      </p:tavLst>
                                    </p:anim>
                                    <p:anim calcmode="lin" valueType="num">
                                      <p:cBhvr additive="base">
                                        <p:cTn id="17" dur="550" fill="hold"/>
                                        <p:tgtEl>
                                          <p:spTgt spid="25"/>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ppt_x</p:attrName>
                                        </p:attrNameLst>
                                      </p:cBhvr>
                                      <p:tavLst>
                                        <p:tav tm="0">
                                          <p:val>
                                            <p:strVal val="#ppt_x"/>
                                          </p:val>
                                        </p:tav>
                                        <p:tav tm="100000">
                                          <p:val>
                                            <p:strVal val="#ppt_x"/>
                                          </p:val>
                                        </p:tav>
                                      </p:tavLst>
                                    </p:anim>
                                    <p:anim calcmode="lin" valueType="num">
                                      <p:cBhvr additive="base">
                                        <p:cTn id="23" dur="550" fill="hold"/>
                                        <p:tgtEl>
                                          <p:spTgt spid="26"/>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anim calcmode="lin" valueType="num">
                                      <p:cBhvr additive="base">
                                        <p:cTn id="28" dur="550" fill="hold"/>
                                        <p:tgtEl>
                                          <p:spTgt spid="27"/>
                                        </p:tgtEl>
                                        <p:attrNameLst>
                                          <p:attrName>ppt_w</p:attrName>
                                        </p:attrNameLst>
                                      </p:cBhvr>
                                      <p:tavLst>
                                        <p:tav tm="0">
                                          <p:val>
                                            <p:strVal val="0"/>
                                          </p:val>
                                        </p:tav>
                                        <p:tav tm="100000">
                                          <p:val>
                                            <p:strVal val="#ppt_w"/>
                                          </p:val>
                                        </p:tav>
                                      </p:tavLst>
                                    </p:anim>
                                    <p:anim calcmode="lin" valueType="num">
                                      <p:cBhvr additive="base">
                                        <p:cTn id="29" dur="550" fill="hold"/>
                                        <p:tgtEl>
                                          <p:spTgt spid="27"/>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50"/>
                                        <p:tgtEl>
                                          <p:spTgt spid="28"/>
                                        </p:tgtEl>
                                      </p:cBhvr>
                                    </p:animEffect>
                                    <p:anim calcmode="lin" valueType="num">
                                      <p:cBhvr additive="base">
                                        <p:cTn id="34" dur="550" fill="hold"/>
                                        <p:tgtEl>
                                          <p:spTgt spid="28"/>
                                        </p:tgtEl>
                                        <p:attrNameLst>
                                          <p:attrName>ppt_x</p:attrName>
                                        </p:attrNameLst>
                                      </p:cBhvr>
                                      <p:tavLst>
                                        <p:tav tm="0">
                                          <p:val>
                                            <p:strVal val="#ppt_x"/>
                                          </p:val>
                                        </p:tav>
                                        <p:tav tm="100000">
                                          <p:val>
                                            <p:strVal val="#ppt_x"/>
                                          </p:val>
                                        </p:tav>
                                      </p:tavLst>
                                    </p:anim>
                                    <p:anim calcmode="lin" valueType="num">
                                      <p:cBhvr additive="base">
                                        <p:cTn id="35" dur="550" fill="hold"/>
                                        <p:tgtEl>
                                          <p:spTgt spid="28"/>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50"/>
                                        <p:tgtEl>
                                          <p:spTgt spid="29"/>
                                        </p:tgtEl>
                                      </p:cBhvr>
                                    </p:animEffect>
                                    <p:anim calcmode="lin" valueType="num">
                                      <p:cBhvr additive="base">
                                        <p:cTn id="40" dur="550" fill="hold"/>
                                        <p:tgtEl>
                                          <p:spTgt spid="29"/>
                                        </p:tgtEl>
                                        <p:attrNameLst>
                                          <p:attrName>ppt_x</p:attrName>
                                        </p:attrNameLst>
                                      </p:cBhvr>
                                      <p:tavLst>
                                        <p:tav tm="0">
                                          <p:val>
                                            <p:strVal val="#ppt_x"/>
                                          </p:val>
                                        </p:tav>
                                        <p:tav tm="100000">
                                          <p:val>
                                            <p:strVal val="#ppt_x"/>
                                          </p:val>
                                        </p:tav>
                                      </p:tavLst>
                                    </p:anim>
                                    <p:anim calcmode="lin" valueType="num">
                                      <p:cBhvr additive="base">
                                        <p:cTn id="41" dur="550" fill="hold"/>
                                        <p:tgtEl>
                                          <p:spTgt spid="29"/>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50"/>
                                        <p:tgtEl>
                                          <p:spTgt spid="30"/>
                                        </p:tgtEl>
                                      </p:cBhvr>
                                    </p:animEffect>
                                    <p:anim calcmode="lin" valueType="num">
                                      <p:cBhvr additive="base">
                                        <p:cTn id="46" dur="550" fill="hold"/>
                                        <p:tgtEl>
                                          <p:spTgt spid="30"/>
                                        </p:tgtEl>
                                        <p:attrNameLst>
                                          <p:attrName>ppt_x</p:attrName>
                                        </p:attrNameLst>
                                      </p:cBhvr>
                                      <p:tavLst>
                                        <p:tav tm="0">
                                          <p:val>
                                            <p:strVal val="#ppt_x"/>
                                          </p:val>
                                        </p:tav>
                                        <p:tav tm="100000">
                                          <p:val>
                                            <p:strVal val="#ppt_x"/>
                                          </p:val>
                                        </p:tav>
                                      </p:tavLst>
                                    </p:anim>
                                    <p:anim calcmode="lin" valueType="num">
                                      <p:cBhvr additive="base">
                                        <p:cTn id="47" dur="550" fill="hold"/>
                                        <p:tgtEl>
                                          <p:spTgt spid="30"/>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50"/>
                                        <p:tgtEl>
                                          <p:spTgt spid="31"/>
                                        </p:tgtEl>
                                      </p:cBhvr>
                                    </p:animEffect>
                                    <p:anim calcmode="lin" valueType="num">
                                      <p:cBhvr additive="base">
                                        <p:cTn id="52" dur="550" fill="hold"/>
                                        <p:tgtEl>
                                          <p:spTgt spid="31"/>
                                        </p:tgtEl>
                                        <p:attrNameLst>
                                          <p:attrName>ppt_w</p:attrName>
                                        </p:attrNameLst>
                                      </p:cBhvr>
                                      <p:tavLst>
                                        <p:tav tm="0">
                                          <p:val>
                                            <p:strVal val="0"/>
                                          </p:val>
                                        </p:tav>
                                        <p:tav tm="100000">
                                          <p:val>
                                            <p:strVal val="#ppt_w"/>
                                          </p:val>
                                        </p:tav>
                                      </p:tavLst>
                                    </p:anim>
                                    <p:anim calcmode="lin" valueType="num">
                                      <p:cBhvr additive="base">
                                        <p:cTn id="53" dur="550" fill="hold"/>
                                        <p:tgtEl>
                                          <p:spTgt spid="31"/>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50"/>
                                        <p:tgtEl>
                                          <p:spTgt spid="32"/>
                                        </p:tgtEl>
                                      </p:cBhvr>
                                    </p:animEffect>
                                    <p:anim calcmode="lin" valueType="num">
                                      <p:cBhvr additive="base">
                                        <p:cTn id="58" dur="550" fill="hold"/>
                                        <p:tgtEl>
                                          <p:spTgt spid="32"/>
                                        </p:tgtEl>
                                        <p:attrNameLst>
                                          <p:attrName>ppt_x</p:attrName>
                                        </p:attrNameLst>
                                      </p:cBhvr>
                                      <p:tavLst>
                                        <p:tav tm="0">
                                          <p:val>
                                            <p:strVal val="#ppt_x"/>
                                          </p:val>
                                        </p:tav>
                                        <p:tav tm="100000">
                                          <p:val>
                                            <p:strVal val="#ppt_x"/>
                                          </p:val>
                                        </p:tav>
                                      </p:tavLst>
                                    </p:anim>
                                    <p:anim calcmode="lin" valueType="num">
                                      <p:cBhvr additive="base">
                                        <p:cTn id="59"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Kutilgan natijalar jadvali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48</a:t>
            </a:r>
          </a:p>
        </p:txBody>
      </p:sp>
      <p:graphicFrame>
        <p:nvGraphicFramePr>
          <p:cNvPr id="23" name="Table 22"/>
          <p:cNvGraphicFramePr>
            <a:graphicFrameLocks noGrp="1"/>
          </p:cNvGraphicFramePr>
          <p:nvPr/>
        </p:nvGraphicFramePr>
        <p:xfrm>
          <a:off x="550000" y="1400000"/>
          <a:ext cx="11100000" cy="3640000"/>
        </p:xfrm>
        <a:graphic>
          <a:graphicData uri="http://schemas.openxmlformats.org/drawingml/2006/table">
            <a:tbl>
              <a:tblPr firstRow="1" bandRow="1">
                <a:tableStyleId>{5C22544A-7EE6-4342-B048-85BDC9FD1C3A}</a:tableStyleId>
              </a:tblPr>
              <a:tblGrid>
                <a:gridCol w="1850000"/>
                <a:gridCol w="1850000"/>
                <a:gridCol w="1850000"/>
                <a:gridCol w="1850000"/>
                <a:gridCol w="1850000"/>
                <a:gridCol w="1850000"/>
              </a:tblGrid>
              <a:tr h="520000">
                <a:tc>
                  <a:txBody>
                    <a:bodyPr/>
                    <a:lstStyle/>
                    <a:p>
                      <a:r>
                        <a:rPr sz="1400" b="1">
                          <a:solidFill>
                            <a:srgbClr val="22D3EE"/>
                          </a:solidFill>
                          <a:latin typeface="Segoe UI"/>
                        </a:rPr>
                        <a:t>Konfiguratsiya</a:t>
                      </a:r>
                    </a:p>
                  </a:txBody>
                  <a:tcPr>
                    <a:solidFill>
                      <a:srgbClr val="1C2755"/>
                    </a:solidFill>
                  </a:tcPr>
                </a:tc>
                <a:tc>
                  <a:txBody>
                    <a:bodyPr/>
                    <a:lstStyle/>
                    <a:p>
                      <a:r>
                        <a:rPr sz="1400" b="1">
                          <a:solidFill>
                            <a:srgbClr val="22D3EE"/>
                          </a:solidFill>
                          <a:latin typeface="Segoe UI"/>
                        </a:rPr>
                        <a:t>Global paket</a:t>
                      </a:r>
                    </a:p>
                  </a:txBody>
                  <a:tcPr>
                    <a:solidFill>
                      <a:srgbClr val="1C2755"/>
                    </a:solidFill>
                  </a:tcPr>
                </a:tc>
                <a:tc>
                  <a:txBody>
                    <a:bodyPr/>
                    <a:lstStyle/>
                    <a:p>
                      <a:r>
                        <a:rPr sz="1400" b="1">
                          <a:solidFill>
                            <a:srgbClr val="22D3EE"/>
                          </a:solidFill>
                          <a:latin typeface="Segoe UI"/>
                        </a:rPr>
                        <a:t>Epoxa vaqti, s</a:t>
                      </a:r>
                    </a:p>
                  </a:txBody>
                  <a:tcPr>
                    <a:solidFill>
                      <a:srgbClr val="1C2755"/>
                    </a:solidFill>
                  </a:tcPr>
                </a:tc>
                <a:tc>
                  <a:txBody>
                    <a:bodyPr/>
                    <a:lstStyle/>
                    <a:p>
                      <a:r>
                        <a:rPr sz="1400" b="1">
                          <a:solidFill>
                            <a:srgbClr val="22D3EE"/>
                          </a:solidFill>
                          <a:latin typeface="Segoe UI"/>
                        </a:rPr>
                        <a:t>img/s</a:t>
                      </a:r>
                    </a:p>
                  </a:txBody>
                  <a:tcPr>
                    <a:solidFill>
                      <a:srgbClr val="1C2755"/>
                    </a:solidFill>
                  </a:tcPr>
                </a:tc>
                <a:tc>
                  <a:txBody>
                    <a:bodyPr/>
                    <a:lstStyle/>
                    <a:p>
                      <a:r>
                        <a:rPr sz="1400" b="1">
                          <a:solidFill>
                            <a:srgbClr val="22D3EE"/>
                          </a:solidFill>
                          <a:latin typeface="Segoe UI"/>
                        </a:rPr>
                        <a:t>Tezlashish S(N)</a:t>
                      </a:r>
                    </a:p>
                  </a:txBody>
                  <a:tcPr>
                    <a:solidFill>
                      <a:srgbClr val="1C2755"/>
                    </a:solidFill>
                  </a:tcPr>
                </a:tc>
                <a:tc>
                  <a:txBody>
                    <a:bodyPr/>
                    <a:lstStyle/>
                    <a:p>
                      <a:r>
                        <a:rPr sz="1400" b="1">
                          <a:solidFill>
                            <a:srgbClr val="22D3EE"/>
                          </a:solidFill>
                          <a:latin typeface="Segoe UI"/>
                        </a:rPr>
                        <a:t>Samaradorlik E(N)</a:t>
                      </a:r>
                    </a:p>
                  </a:txBody>
                  <a:tcPr>
                    <a:solidFill>
                      <a:srgbClr val="1C2755"/>
                    </a:solidFill>
                  </a:tcPr>
                </a:tc>
              </a:tr>
              <a:tr h="520000">
                <a:tc>
                  <a:txBody>
                    <a:bodyPr/>
                    <a:lstStyle/>
                    <a:p>
                      <a:r>
                        <a:rPr sz="1400" b="0">
                          <a:solidFill>
                            <a:srgbClr val="E8EEFA"/>
                          </a:solidFill>
                          <a:latin typeface="Segoe UI"/>
                        </a:rPr>
                        <a:t>1 GPU</a:t>
                      </a:r>
                    </a:p>
                  </a:txBody>
                  <a:tcPr>
                    <a:solidFill>
                      <a:srgbClr val="111834"/>
                    </a:solidFill>
                  </a:tcPr>
                </a:tc>
                <a:tc>
                  <a:txBody>
                    <a:bodyPr/>
                    <a:lstStyle/>
                    <a:p>
                      <a:r>
                        <a:rPr sz="1400" b="0">
                          <a:solidFill>
                            <a:srgbClr val="E8EEFA"/>
                          </a:solidFill>
                          <a:latin typeface="Segoe UI"/>
                        </a:rPr>
                        <a:t>128</a:t>
                      </a:r>
                    </a:p>
                  </a:txBody>
                  <a:tcPr>
                    <a:solidFill>
                      <a:srgbClr val="111834"/>
                    </a:solidFill>
                  </a:tcPr>
                </a:tc>
                <a:tc>
                  <a:txBody>
                    <a:bodyPr/>
                    <a:lstStyle/>
                    <a:p>
                      <a:r>
                        <a:rPr sz="1400" b="0">
                          <a:solidFill>
                            <a:srgbClr val="E8EEFA"/>
                          </a:solidFill>
                          <a:latin typeface="Segoe UI"/>
                        </a:rPr>
                        <a:t>4.0</a:t>
                      </a:r>
                    </a:p>
                  </a:txBody>
                  <a:tcPr>
                    <a:solidFill>
                      <a:srgbClr val="111834"/>
                    </a:solidFill>
                  </a:tcPr>
                </a:tc>
                <a:tc>
                  <a:txBody>
                    <a:bodyPr/>
                    <a:lstStyle/>
                    <a:p>
                      <a:r>
                        <a:rPr sz="1400" b="0">
                          <a:solidFill>
                            <a:srgbClr val="E8EEFA"/>
                          </a:solidFill>
                          <a:latin typeface="Segoe UI"/>
                        </a:rPr>
                        <a:t>2 500</a:t>
                      </a:r>
                    </a:p>
                  </a:txBody>
                  <a:tcPr>
                    <a:solidFill>
                      <a:srgbClr val="111834"/>
                    </a:solidFill>
                  </a:tcPr>
                </a:tc>
                <a:tc>
                  <a:txBody>
                    <a:bodyPr/>
                    <a:lstStyle/>
                    <a:p>
                      <a:r>
                        <a:rPr sz="1400" b="0">
                          <a:solidFill>
                            <a:srgbClr val="E8EEFA"/>
                          </a:solidFill>
                          <a:latin typeface="Segoe UI"/>
                        </a:rPr>
                        <a:t>1.00</a:t>
                      </a:r>
                    </a:p>
                  </a:txBody>
                  <a:tcPr>
                    <a:solidFill>
                      <a:srgbClr val="111834"/>
                    </a:solidFill>
                  </a:tcPr>
                </a:tc>
                <a:tc>
                  <a:txBody>
                    <a:bodyPr/>
                    <a:lstStyle/>
                    <a:p>
                      <a:r>
                        <a:rPr sz="1400" b="0">
                          <a:solidFill>
                            <a:srgbClr val="E8EEFA"/>
                          </a:solidFill>
                          <a:latin typeface="Segoe UI"/>
                        </a:rPr>
                        <a:t>100%</a:t>
                      </a:r>
                    </a:p>
                  </a:txBody>
                  <a:tcPr>
                    <a:solidFill>
                      <a:srgbClr val="111834"/>
                    </a:solidFill>
                  </a:tcPr>
                </a:tc>
              </a:tr>
              <a:tr h="520000">
                <a:tc>
                  <a:txBody>
                    <a:bodyPr/>
                    <a:lstStyle/>
                    <a:p>
                      <a:r>
                        <a:rPr sz="1400" b="0">
                          <a:solidFill>
                            <a:srgbClr val="E8EEFA"/>
                          </a:solidFill>
                          <a:latin typeface="Segoe UI"/>
                        </a:rPr>
                        <a:t>2 GPU (1 tugun)</a:t>
                      </a:r>
                    </a:p>
                  </a:txBody>
                  <a:tcPr>
                    <a:solidFill>
                      <a:srgbClr val="161F40"/>
                    </a:solidFill>
                  </a:tcPr>
                </a:tc>
                <a:tc>
                  <a:txBody>
                    <a:bodyPr/>
                    <a:lstStyle/>
                    <a:p>
                      <a:r>
                        <a:rPr sz="1400" b="0">
                          <a:solidFill>
                            <a:srgbClr val="E8EEFA"/>
                          </a:solidFill>
                          <a:latin typeface="Segoe UI"/>
                        </a:rPr>
                        <a:t>256</a:t>
                      </a:r>
                    </a:p>
                  </a:txBody>
                  <a:tcPr>
                    <a:solidFill>
                      <a:srgbClr val="161F40"/>
                    </a:solidFill>
                  </a:tcPr>
                </a:tc>
                <a:tc>
                  <a:txBody>
                    <a:bodyPr/>
                    <a:lstStyle/>
                    <a:p>
                      <a:r>
                        <a:rPr sz="1400" b="0">
                          <a:solidFill>
                            <a:srgbClr val="E8EEFA"/>
                          </a:solidFill>
                          <a:latin typeface="Segoe UI"/>
                        </a:rPr>
                        <a:t>2.15</a:t>
                      </a:r>
                    </a:p>
                  </a:txBody>
                  <a:tcPr>
                    <a:solidFill>
                      <a:srgbClr val="161F40"/>
                    </a:solidFill>
                  </a:tcPr>
                </a:tc>
                <a:tc>
                  <a:txBody>
                    <a:bodyPr/>
                    <a:lstStyle/>
                    <a:p>
                      <a:r>
                        <a:rPr sz="1400" b="0">
                          <a:solidFill>
                            <a:srgbClr val="E8EEFA"/>
                          </a:solidFill>
                          <a:latin typeface="Segoe UI"/>
                        </a:rPr>
                        <a:t>4 650</a:t>
                      </a:r>
                    </a:p>
                  </a:txBody>
                  <a:tcPr>
                    <a:solidFill>
                      <a:srgbClr val="161F40"/>
                    </a:solidFill>
                  </a:tcPr>
                </a:tc>
                <a:tc>
                  <a:txBody>
                    <a:bodyPr/>
                    <a:lstStyle/>
                    <a:p>
                      <a:r>
                        <a:rPr sz="1400" b="0">
                          <a:solidFill>
                            <a:srgbClr val="E8EEFA"/>
                          </a:solidFill>
                          <a:latin typeface="Segoe UI"/>
                        </a:rPr>
                        <a:t>1.86</a:t>
                      </a:r>
                    </a:p>
                  </a:txBody>
                  <a:tcPr>
                    <a:solidFill>
                      <a:srgbClr val="161F40"/>
                    </a:solidFill>
                  </a:tcPr>
                </a:tc>
                <a:tc>
                  <a:txBody>
                    <a:bodyPr/>
                    <a:lstStyle/>
                    <a:p>
                      <a:r>
                        <a:rPr sz="1400" b="0">
                          <a:solidFill>
                            <a:srgbClr val="E8EEFA"/>
                          </a:solidFill>
                          <a:latin typeface="Segoe UI"/>
                        </a:rPr>
                        <a:t>93%</a:t>
                      </a:r>
                    </a:p>
                  </a:txBody>
                  <a:tcPr>
                    <a:solidFill>
                      <a:srgbClr val="161F40"/>
                    </a:solidFill>
                  </a:tcPr>
                </a:tc>
              </a:tr>
              <a:tr h="520000">
                <a:tc>
                  <a:txBody>
                    <a:bodyPr/>
                    <a:lstStyle/>
                    <a:p>
                      <a:r>
                        <a:rPr sz="1400" b="0">
                          <a:solidFill>
                            <a:srgbClr val="E8EEFA"/>
                          </a:solidFill>
                          <a:latin typeface="Segoe UI"/>
                        </a:rPr>
                        <a:t>4 GPU (1 tugun)</a:t>
                      </a:r>
                    </a:p>
                  </a:txBody>
                  <a:tcPr>
                    <a:solidFill>
                      <a:srgbClr val="111834"/>
                    </a:solidFill>
                  </a:tcPr>
                </a:tc>
                <a:tc>
                  <a:txBody>
                    <a:bodyPr/>
                    <a:lstStyle/>
                    <a:p>
                      <a:r>
                        <a:rPr sz="1400" b="0">
                          <a:solidFill>
                            <a:srgbClr val="E8EEFA"/>
                          </a:solidFill>
                          <a:latin typeface="Segoe UI"/>
                        </a:rPr>
                        <a:t>512</a:t>
                      </a:r>
                    </a:p>
                  </a:txBody>
                  <a:tcPr>
                    <a:solidFill>
                      <a:srgbClr val="111834"/>
                    </a:solidFill>
                  </a:tcPr>
                </a:tc>
                <a:tc>
                  <a:txBody>
                    <a:bodyPr/>
                    <a:lstStyle/>
                    <a:p>
                      <a:r>
                        <a:rPr sz="1400" b="0">
                          <a:solidFill>
                            <a:srgbClr val="E8EEFA"/>
                          </a:solidFill>
                          <a:latin typeface="Segoe UI"/>
                        </a:rPr>
                        <a:t>1.20</a:t>
                      </a:r>
                    </a:p>
                  </a:txBody>
                  <a:tcPr>
                    <a:solidFill>
                      <a:srgbClr val="111834"/>
                    </a:solidFill>
                  </a:tcPr>
                </a:tc>
                <a:tc>
                  <a:txBody>
                    <a:bodyPr/>
                    <a:lstStyle/>
                    <a:p>
                      <a:r>
                        <a:rPr sz="1400" b="0">
                          <a:solidFill>
                            <a:srgbClr val="E8EEFA"/>
                          </a:solidFill>
                          <a:latin typeface="Segoe UI"/>
                        </a:rPr>
                        <a:t>8 300</a:t>
                      </a:r>
                    </a:p>
                  </a:txBody>
                  <a:tcPr>
                    <a:solidFill>
                      <a:srgbClr val="111834"/>
                    </a:solidFill>
                  </a:tcPr>
                </a:tc>
                <a:tc>
                  <a:txBody>
                    <a:bodyPr/>
                    <a:lstStyle/>
                    <a:p>
                      <a:r>
                        <a:rPr sz="1400" b="0">
                          <a:solidFill>
                            <a:srgbClr val="E8EEFA"/>
                          </a:solidFill>
                          <a:latin typeface="Segoe UI"/>
                        </a:rPr>
                        <a:t>3.32</a:t>
                      </a:r>
                    </a:p>
                  </a:txBody>
                  <a:tcPr>
                    <a:solidFill>
                      <a:srgbClr val="111834"/>
                    </a:solidFill>
                  </a:tcPr>
                </a:tc>
                <a:tc>
                  <a:txBody>
                    <a:bodyPr/>
                    <a:lstStyle/>
                    <a:p>
                      <a:r>
                        <a:rPr sz="1400" b="0">
                          <a:solidFill>
                            <a:srgbClr val="E8EEFA"/>
                          </a:solidFill>
                          <a:latin typeface="Segoe UI"/>
                        </a:rPr>
                        <a:t>83%</a:t>
                      </a:r>
                    </a:p>
                  </a:txBody>
                  <a:tcPr>
                    <a:solidFill>
                      <a:srgbClr val="111834"/>
                    </a:solidFill>
                  </a:tcPr>
                </a:tc>
              </a:tr>
              <a:tr h="520000">
                <a:tc>
                  <a:txBody>
                    <a:bodyPr/>
                    <a:lstStyle/>
                    <a:p>
                      <a:r>
                        <a:rPr sz="1400" b="0">
                          <a:solidFill>
                            <a:srgbClr val="E8EEFA"/>
                          </a:solidFill>
                          <a:latin typeface="Segoe UI"/>
                        </a:rPr>
                        <a:t>2+2 GPU (2 tugun, 10 GbE)</a:t>
                      </a:r>
                    </a:p>
                  </a:txBody>
                  <a:tcPr>
                    <a:solidFill>
                      <a:srgbClr val="161F40"/>
                    </a:solidFill>
                  </a:tcPr>
                </a:tc>
                <a:tc>
                  <a:txBody>
                    <a:bodyPr/>
                    <a:lstStyle/>
                    <a:p>
                      <a:r>
                        <a:rPr sz="1400" b="0">
                          <a:solidFill>
                            <a:srgbClr val="E8EEFA"/>
                          </a:solidFill>
                          <a:latin typeface="Segoe UI"/>
                        </a:rPr>
                        <a:t>512</a:t>
                      </a:r>
                    </a:p>
                  </a:txBody>
                  <a:tcPr>
                    <a:solidFill>
                      <a:srgbClr val="161F40"/>
                    </a:solidFill>
                  </a:tcPr>
                </a:tc>
                <a:tc>
                  <a:txBody>
                    <a:bodyPr/>
                    <a:lstStyle/>
                    <a:p>
                      <a:r>
                        <a:rPr sz="1400" b="0">
                          <a:solidFill>
                            <a:srgbClr val="E8EEFA"/>
                          </a:solidFill>
                          <a:latin typeface="Segoe UI"/>
                        </a:rPr>
                        <a:t>1.95</a:t>
                      </a:r>
                    </a:p>
                  </a:txBody>
                  <a:tcPr>
                    <a:solidFill>
                      <a:srgbClr val="161F40"/>
                    </a:solidFill>
                  </a:tcPr>
                </a:tc>
                <a:tc>
                  <a:txBody>
                    <a:bodyPr/>
                    <a:lstStyle/>
                    <a:p>
                      <a:r>
                        <a:rPr sz="1400" b="0">
                          <a:solidFill>
                            <a:srgbClr val="E8EEFA"/>
                          </a:solidFill>
                          <a:latin typeface="Segoe UI"/>
                        </a:rPr>
                        <a:t>5 100</a:t>
                      </a:r>
                    </a:p>
                  </a:txBody>
                  <a:tcPr>
                    <a:solidFill>
                      <a:srgbClr val="161F40"/>
                    </a:solidFill>
                  </a:tcPr>
                </a:tc>
                <a:tc>
                  <a:txBody>
                    <a:bodyPr/>
                    <a:lstStyle/>
                    <a:p>
                      <a:r>
                        <a:rPr sz="1400" b="0">
                          <a:solidFill>
                            <a:srgbClr val="E8EEFA"/>
                          </a:solidFill>
                          <a:latin typeface="Segoe UI"/>
                        </a:rPr>
                        <a:t>2.04</a:t>
                      </a:r>
                    </a:p>
                  </a:txBody>
                  <a:tcPr>
                    <a:solidFill>
                      <a:srgbClr val="161F40"/>
                    </a:solidFill>
                  </a:tcPr>
                </a:tc>
                <a:tc>
                  <a:txBody>
                    <a:bodyPr/>
                    <a:lstStyle/>
                    <a:p>
                      <a:r>
                        <a:rPr sz="1400" b="0">
                          <a:solidFill>
                            <a:srgbClr val="E8EEFA"/>
                          </a:solidFill>
                          <a:latin typeface="Segoe UI"/>
                        </a:rPr>
                        <a:t>51%</a:t>
                      </a:r>
                    </a:p>
                  </a:txBody>
                  <a:tcPr>
                    <a:solidFill>
                      <a:srgbClr val="161F40"/>
                    </a:solidFill>
                  </a:tcPr>
                </a:tc>
              </a:tr>
              <a:tr h="520000">
                <a:tc>
                  <a:txBody>
                    <a:bodyPr/>
                    <a:lstStyle/>
                    <a:p>
                      <a:r>
                        <a:rPr sz="1400" b="0">
                          <a:solidFill>
                            <a:srgbClr val="E8EEFA"/>
                          </a:solidFill>
                          <a:latin typeface="Segoe UI"/>
                        </a:rPr>
                        <a:t>Inferens 1 GPU</a:t>
                      </a:r>
                    </a:p>
                  </a:txBody>
                  <a:tcPr>
                    <a:solidFill>
                      <a:srgbClr val="111834"/>
                    </a:solidFill>
                  </a:tcPr>
                </a:tc>
                <a:tc>
                  <a:txBody>
                    <a:bodyPr/>
                    <a:lstStyle/>
                    <a:p>
                      <a:r>
                        <a:rPr sz="1400" b="0">
                          <a:solidFill>
                            <a:srgbClr val="E8EEFA"/>
                          </a:solidFill>
                          <a:latin typeface="Segoe UI"/>
                        </a:rPr>
                        <a:t>256</a:t>
                      </a:r>
                    </a:p>
                  </a:txBody>
                  <a:tcPr>
                    <a:solidFill>
                      <a:srgbClr val="111834"/>
                    </a:solidFill>
                  </a:tcPr>
                </a:tc>
                <a:tc>
                  <a:txBody>
                    <a:bodyPr/>
                    <a:lstStyle/>
                    <a:p>
                      <a:r>
                        <a:rPr sz="1400" b="0">
                          <a:solidFill>
                            <a:srgbClr val="E8EEFA"/>
                          </a:solidFill>
                          <a:latin typeface="Segoe UI"/>
                        </a:rPr>
                        <a:t>0.95</a:t>
                      </a:r>
                    </a:p>
                  </a:txBody>
                  <a:tcPr>
                    <a:solidFill>
                      <a:srgbClr val="111834"/>
                    </a:solidFill>
                  </a:tcPr>
                </a:tc>
                <a:tc>
                  <a:txBody>
                    <a:bodyPr/>
                    <a:lstStyle/>
                    <a:p>
                      <a:r>
                        <a:rPr sz="1400" b="0">
                          <a:solidFill>
                            <a:srgbClr val="E8EEFA"/>
                          </a:solidFill>
                          <a:latin typeface="Segoe UI"/>
                        </a:rPr>
                        <a:t>10 500</a:t>
                      </a:r>
                    </a:p>
                  </a:txBody>
                  <a:tcPr>
                    <a:solidFill>
                      <a:srgbClr val="111834"/>
                    </a:solidFill>
                  </a:tcPr>
                </a:tc>
                <a:tc>
                  <a:txBody>
                    <a:bodyPr/>
                    <a:lstStyle/>
                    <a:p>
                      <a:r>
                        <a:rPr sz="1400" b="0">
                          <a:solidFill>
                            <a:srgbClr val="E8EEFA"/>
                          </a:solidFill>
                          <a:latin typeface="Segoe UI"/>
                        </a:rPr>
                        <a:t>1.00</a:t>
                      </a:r>
                    </a:p>
                  </a:txBody>
                  <a:tcPr>
                    <a:solidFill>
                      <a:srgbClr val="111834"/>
                    </a:solidFill>
                  </a:tcPr>
                </a:tc>
                <a:tc>
                  <a:txBody>
                    <a:bodyPr/>
                    <a:lstStyle/>
                    <a:p>
                      <a:r>
                        <a:rPr sz="1400" b="0">
                          <a:solidFill>
                            <a:srgbClr val="E8EEFA"/>
                          </a:solidFill>
                          <a:latin typeface="Segoe UI"/>
                        </a:rPr>
                        <a:t>100%</a:t>
                      </a:r>
                    </a:p>
                  </a:txBody>
                  <a:tcPr>
                    <a:solidFill>
                      <a:srgbClr val="111834"/>
                    </a:solidFill>
                  </a:tcPr>
                </a:tc>
              </a:tr>
              <a:tr h="520000">
                <a:tc>
                  <a:txBody>
                    <a:bodyPr/>
                    <a:lstStyle/>
                    <a:p>
                      <a:r>
                        <a:rPr sz="1400" b="0">
                          <a:solidFill>
                            <a:srgbClr val="E8EEFA"/>
                          </a:solidFill>
                          <a:latin typeface="Segoe UI"/>
                        </a:rPr>
                        <a:t>Inferens 4 GPU</a:t>
                      </a:r>
                    </a:p>
                  </a:txBody>
                  <a:tcPr>
                    <a:solidFill>
                      <a:srgbClr val="161F40"/>
                    </a:solidFill>
                  </a:tcPr>
                </a:tc>
                <a:tc>
                  <a:txBody>
                    <a:bodyPr/>
                    <a:lstStyle/>
                    <a:p>
                      <a:r>
                        <a:rPr sz="1400" b="0">
                          <a:solidFill>
                            <a:srgbClr val="E8EEFA"/>
                          </a:solidFill>
                          <a:latin typeface="Segoe UI"/>
                        </a:rPr>
                        <a:t>1024</a:t>
                      </a:r>
                    </a:p>
                  </a:txBody>
                  <a:tcPr>
                    <a:solidFill>
                      <a:srgbClr val="161F40"/>
                    </a:solidFill>
                  </a:tcPr>
                </a:tc>
                <a:tc>
                  <a:txBody>
                    <a:bodyPr/>
                    <a:lstStyle/>
                    <a:p>
                      <a:r>
                        <a:rPr sz="1400" b="0">
                          <a:solidFill>
                            <a:srgbClr val="E8EEFA"/>
                          </a:solidFill>
                          <a:latin typeface="Segoe UI"/>
                        </a:rPr>
                        <a:t>0.26</a:t>
                      </a:r>
                    </a:p>
                  </a:txBody>
                  <a:tcPr>
                    <a:solidFill>
                      <a:srgbClr val="161F40"/>
                    </a:solidFill>
                  </a:tcPr>
                </a:tc>
                <a:tc>
                  <a:txBody>
                    <a:bodyPr/>
                    <a:lstStyle/>
                    <a:p>
                      <a:r>
                        <a:rPr sz="1400" b="0">
                          <a:solidFill>
                            <a:srgbClr val="E8EEFA"/>
                          </a:solidFill>
                          <a:latin typeface="Segoe UI"/>
                        </a:rPr>
                        <a:t>38 500</a:t>
                      </a:r>
                    </a:p>
                  </a:txBody>
                  <a:tcPr>
                    <a:solidFill>
                      <a:srgbClr val="161F40"/>
                    </a:solidFill>
                  </a:tcPr>
                </a:tc>
                <a:tc>
                  <a:txBody>
                    <a:bodyPr/>
                    <a:lstStyle/>
                    <a:p>
                      <a:r>
                        <a:rPr sz="1400" b="0">
                          <a:solidFill>
                            <a:srgbClr val="E8EEFA"/>
                          </a:solidFill>
                          <a:latin typeface="Segoe UI"/>
                        </a:rPr>
                        <a:t>3.67</a:t>
                      </a:r>
                    </a:p>
                  </a:txBody>
                  <a:tcPr>
                    <a:solidFill>
                      <a:srgbClr val="161F40"/>
                    </a:solidFill>
                  </a:tcPr>
                </a:tc>
                <a:tc>
                  <a:txBody>
                    <a:bodyPr/>
                    <a:lstStyle/>
                    <a:p>
                      <a:r>
                        <a:rPr sz="1400" b="0">
                          <a:solidFill>
                            <a:srgbClr val="E8EEFA"/>
                          </a:solidFill>
                          <a:latin typeface="Segoe UI"/>
                        </a:rPr>
                        <a:t>92%</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6" dur="8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Hisobot shakli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49</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575656"/>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655656"/>
            <a:ext cx="50000" cy="12428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077104"/>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1615656"/>
            <a:ext cx="5900000" cy="1322896"/>
          </a:xfrm>
          <a:prstGeom prst="rect">
            <a:avLst/>
          </a:prstGeom>
          <a:noFill/>
        </p:spPr>
        <p:txBody>
          <a:bodyPr wrap="square" anchor="ctr">
            <a:spAutoFit/>
          </a:bodyPr>
          <a:lstStyle/>
          <a:p>
            <a:r>
              <a:rPr sz="1700" b="1">
                <a:solidFill>
                  <a:srgbClr val="E8EEFA"/>
                </a:solidFill>
                <a:latin typeface="Segoe UI"/>
              </a:rPr>
              <a:t>Muhit tavsifi.</a:t>
            </a:r>
          </a:p>
          <a:p>
            <a:pPr>
              <a:spcBef>
                <a:spcPts val="400"/>
              </a:spcBef>
            </a:pPr>
            <a:r>
              <a:rPr sz="1600">
                <a:solidFill>
                  <a:srgbClr val="AEBBD9"/>
                </a:solidFill>
                <a:latin typeface="Segoe UI"/>
              </a:rPr>
              <a:t>GPU modeli va soni, ulanish topologiyasi (nvidia-smi topo -m chiqishi), drayver/CUDA/PyTorch versiyalari, tarmoq turi.</a:t>
            </a:r>
          </a:p>
        </p:txBody>
      </p:sp>
      <p:sp>
        <p:nvSpPr>
          <p:cNvPr id="32" name="Rounded Rectangle 31"/>
          <p:cNvSpPr/>
          <p:nvPr/>
        </p:nvSpPr>
        <p:spPr>
          <a:xfrm>
            <a:off x="550000" y="3088552"/>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168552"/>
            <a:ext cx="50000" cy="12428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5" name="TextBox 34"/>
          <p:cNvSpPr txBox="1"/>
          <p:nvPr/>
        </p:nvSpPr>
        <p:spPr>
          <a:xfrm>
            <a:off x="1300000" y="3128552"/>
            <a:ext cx="5900000" cy="1322896"/>
          </a:xfrm>
          <a:prstGeom prst="rect">
            <a:avLst/>
          </a:prstGeom>
          <a:noFill/>
        </p:spPr>
        <p:txBody>
          <a:bodyPr wrap="square" anchor="ctr">
            <a:spAutoFit/>
          </a:bodyPr>
          <a:lstStyle/>
          <a:p>
            <a:r>
              <a:rPr sz="1600" b="0">
                <a:solidFill>
                  <a:srgbClr val="E8EEFA"/>
                </a:solidFill>
                <a:latin typeface="Segoe UI"/>
              </a:rPr>
              <a:t>Bajarilgan buyruqlar va skriptning o'zgartirilgan qismlari (to'liq kod ilovada).</a:t>
            </a:r>
          </a:p>
        </p:txBody>
      </p:sp>
      <p:sp>
        <p:nvSpPr>
          <p:cNvPr id="36" name="Rounded Rectangle 35"/>
          <p:cNvSpPr/>
          <p:nvPr/>
        </p:nvSpPr>
        <p:spPr>
          <a:xfrm>
            <a:off x="550000" y="4601448"/>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50000" y="4681448"/>
            <a:ext cx="50000" cy="124289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0000" y="5102896"/>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9" name="TextBox 38"/>
          <p:cNvSpPr txBox="1"/>
          <p:nvPr/>
        </p:nvSpPr>
        <p:spPr>
          <a:xfrm>
            <a:off x="1300000" y="4641448"/>
            <a:ext cx="5900000" cy="1322896"/>
          </a:xfrm>
          <a:prstGeom prst="rect">
            <a:avLst/>
          </a:prstGeom>
          <a:noFill/>
        </p:spPr>
        <p:txBody>
          <a:bodyPr wrap="square" anchor="ctr">
            <a:spAutoFit/>
          </a:bodyPr>
          <a:lstStyle/>
          <a:p>
            <a:r>
              <a:rPr sz="1600" b="0">
                <a:solidFill>
                  <a:srgbClr val="E8EEFA"/>
                </a:solidFill>
                <a:latin typeface="Segoe UI"/>
              </a:rPr>
              <a:t>To'ldirilgan masshtablash jadvali (yuqoridagi shaklda) va img/s ni GPU soniga bog'liq grafigi (matplotlib).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par>
                          <p:cTn id="80" fill="hold">
                            <p:stCondLst>
                              <p:cond delay="750"/>
                            </p:stCondLst>
                            <p:childTnLst>
                              <p:par>
                                <p:cTn id="81" presetID="42" presetClass="entr" presetSubtype="0" fill="hold" grpId="0" nodeType="after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50"/>
                                        <p:tgtEl>
                                          <p:spTgt spid="36"/>
                                        </p:tgtEl>
                                      </p:cBhvr>
                                    </p:animEffect>
                                    <p:anim calcmode="lin" valueType="num">
                                      <p:cBhvr additive="base">
                                        <p:cTn id="84" dur="550" fill="hold"/>
                                        <p:tgtEl>
                                          <p:spTgt spid="36"/>
                                        </p:tgtEl>
                                        <p:attrNameLst>
                                          <p:attrName>ppt_x</p:attrName>
                                        </p:attrNameLst>
                                      </p:cBhvr>
                                      <p:tavLst>
                                        <p:tav tm="0">
                                          <p:val>
                                            <p:strVal val="#ppt_x"/>
                                          </p:val>
                                        </p:tav>
                                        <p:tav tm="100000">
                                          <p:val>
                                            <p:strVal val="#ppt_x"/>
                                          </p:val>
                                        </p:tav>
                                      </p:tavLst>
                                    </p:anim>
                                    <p:anim calcmode="lin" valueType="num">
                                      <p:cBhvr additive="base">
                                        <p:cTn id="85" dur="550" fill="hold"/>
                                        <p:tgtEl>
                                          <p:spTgt spid="36"/>
                                        </p:tgtEl>
                                        <p:attrNameLst>
                                          <p:attrName>ppt_y</p:attrName>
                                        </p:attrNameLst>
                                      </p:cBhvr>
                                      <p:tavLst>
                                        <p:tav tm="0">
                                          <p:val>
                                            <p:strVal val="#ppt_y+.08"/>
                                          </p:val>
                                        </p:tav>
                                        <p:tav tm="100000">
                                          <p:val>
                                            <p:strVal val="#ppt_y"/>
                                          </p:val>
                                        </p:tav>
                                      </p:tavLst>
                                    </p:anim>
                                  </p:childTnLst>
                                </p:cTn>
                              </p:par>
                            </p:childTnLst>
                          </p:cTn>
                        </p:par>
                        <p:par>
                          <p:cTn id="86" fill="hold">
                            <p:stCondLst>
                              <p:cond delay="750"/>
                            </p:stCondLst>
                            <p:childTnLst>
                              <p:par>
                                <p:cTn id="87" presetID="42" presetClass="entr" presetSubtype="0" fill="hold" grpId="0" nodeType="after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550"/>
                                        <p:tgtEl>
                                          <p:spTgt spid="37"/>
                                        </p:tgtEl>
                                      </p:cBhvr>
                                    </p:animEffect>
                                    <p:anim calcmode="lin" valueType="num">
                                      <p:cBhvr additive="base">
                                        <p:cTn id="90" dur="550" fill="hold"/>
                                        <p:tgtEl>
                                          <p:spTgt spid="37"/>
                                        </p:tgtEl>
                                        <p:attrNameLst>
                                          <p:attrName>ppt_x</p:attrName>
                                        </p:attrNameLst>
                                      </p:cBhvr>
                                      <p:tavLst>
                                        <p:tav tm="0">
                                          <p:val>
                                            <p:strVal val="#ppt_x"/>
                                          </p:val>
                                        </p:tav>
                                        <p:tav tm="100000">
                                          <p:val>
                                            <p:strVal val="#ppt_x"/>
                                          </p:val>
                                        </p:tav>
                                      </p:tavLst>
                                    </p:anim>
                                    <p:anim calcmode="lin" valueType="num">
                                      <p:cBhvr additive="base">
                                        <p:cTn id="91" dur="550" fill="hold"/>
                                        <p:tgtEl>
                                          <p:spTgt spid="37"/>
                                        </p:tgtEl>
                                        <p:attrNameLst>
                                          <p:attrName>ppt_y</p:attrName>
                                        </p:attrNameLst>
                                      </p:cBhvr>
                                      <p:tavLst>
                                        <p:tav tm="0">
                                          <p:val>
                                            <p:strVal val="#ppt_y+.08"/>
                                          </p:val>
                                        </p:tav>
                                        <p:tav tm="100000">
                                          <p:val>
                                            <p:strVal val="#ppt_y"/>
                                          </p:val>
                                        </p:tav>
                                      </p:tavLst>
                                    </p:anim>
                                  </p:childTnLst>
                                </p:cTn>
                              </p:par>
                            </p:childTnLst>
                          </p:cTn>
                        </p:par>
                        <p:par>
                          <p:cTn id="92" fill="hold">
                            <p:stCondLst>
                              <p:cond delay="750"/>
                            </p:stCondLst>
                            <p:childTnLst>
                              <p:par>
                                <p:cTn id="93" presetID="53" presetClass="entr" presetSubtype="16" fill="hold" grpId="0" nodeType="after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550"/>
                                        <p:tgtEl>
                                          <p:spTgt spid="38"/>
                                        </p:tgtEl>
                                      </p:cBhvr>
                                    </p:animEffect>
                                    <p:anim calcmode="lin" valueType="num">
                                      <p:cBhvr additive="base">
                                        <p:cTn id="96" dur="550" fill="hold"/>
                                        <p:tgtEl>
                                          <p:spTgt spid="38"/>
                                        </p:tgtEl>
                                        <p:attrNameLst>
                                          <p:attrName>ppt_w</p:attrName>
                                        </p:attrNameLst>
                                      </p:cBhvr>
                                      <p:tavLst>
                                        <p:tav tm="0">
                                          <p:val>
                                            <p:strVal val="0"/>
                                          </p:val>
                                        </p:tav>
                                        <p:tav tm="100000">
                                          <p:val>
                                            <p:strVal val="#ppt_w"/>
                                          </p:val>
                                        </p:tav>
                                      </p:tavLst>
                                    </p:anim>
                                    <p:anim calcmode="lin" valueType="num">
                                      <p:cBhvr additive="base">
                                        <p:cTn id="97" dur="550" fill="hold"/>
                                        <p:tgtEl>
                                          <p:spTgt spid="38"/>
                                        </p:tgtEl>
                                        <p:attrNameLst>
                                          <p:attrName>ppt_h</p:attrName>
                                        </p:attrNameLst>
                                      </p:cBhvr>
                                      <p:tavLst>
                                        <p:tav tm="0">
                                          <p:val>
                                            <p:strVal val="0"/>
                                          </p:val>
                                        </p:tav>
                                        <p:tav tm="100000">
                                          <p:val>
                                            <p:strVal val="#ppt_h"/>
                                          </p:val>
                                        </p:tav>
                                      </p:tavLst>
                                    </p:anim>
                                  </p:childTnLst>
                                </p:cTn>
                              </p:par>
                            </p:childTnLst>
                          </p:cTn>
                        </p:par>
                        <p:par>
                          <p:cTn id="98" fill="hold">
                            <p:stCondLst>
                              <p:cond delay="750"/>
                            </p:stCondLst>
                            <p:childTnLst>
                              <p:par>
                                <p:cTn id="99" presetID="42" presetClass="entr" presetSubtype="0" fill="hold" grpId="0" nodeType="after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550"/>
                                        <p:tgtEl>
                                          <p:spTgt spid="39"/>
                                        </p:tgtEl>
                                      </p:cBhvr>
                                    </p:animEffect>
                                    <p:anim calcmode="lin" valueType="num">
                                      <p:cBhvr additive="base">
                                        <p:cTn id="102" dur="550" fill="hold"/>
                                        <p:tgtEl>
                                          <p:spTgt spid="39"/>
                                        </p:tgtEl>
                                        <p:attrNameLst>
                                          <p:attrName>ppt_x</p:attrName>
                                        </p:attrNameLst>
                                      </p:cBhvr>
                                      <p:tavLst>
                                        <p:tav tm="0">
                                          <p:val>
                                            <p:strVal val="#ppt_x"/>
                                          </p:val>
                                        </p:tav>
                                        <p:tav tm="100000">
                                          <p:val>
                                            <p:strVal val="#ppt_x"/>
                                          </p:val>
                                        </p:tav>
                                      </p:tavLst>
                                    </p:anim>
                                    <p:anim calcmode="lin" valueType="num">
                                      <p:cBhvr additive="base">
                                        <p:cTn id="103" dur="550" fill="hold"/>
                                        <p:tgtEl>
                                          <p:spTgt spid="3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Hisobot shakli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50</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575656"/>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655656"/>
            <a:ext cx="50000" cy="12428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077104"/>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3" name="TextBox 32"/>
          <p:cNvSpPr txBox="1"/>
          <p:nvPr/>
        </p:nvSpPr>
        <p:spPr>
          <a:xfrm>
            <a:off x="1300000" y="1615656"/>
            <a:ext cx="5900000" cy="1322896"/>
          </a:xfrm>
          <a:prstGeom prst="rect">
            <a:avLst/>
          </a:prstGeom>
          <a:noFill/>
        </p:spPr>
        <p:txBody>
          <a:bodyPr wrap="square" anchor="ctr">
            <a:spAutoFit/>
          </a:bodyPr>
          <a:lstStyle/>
          <a:p>
            <a:r>
              <a:rPr sz="1600" b="0">
                <a:solidFill>
                  <a:srgbClr val="E8EEFA"/>
                </a:solidFill>
                <a:latin typeface="Segoe UI"/>
              </a:rPr>
              <a:t>Profiler jadvali fragmenti va kommunikatsiya ulushi hisobi.</a:t>
            </a:r>
          </a:p>
        </p:txBody>
      </p:sp>
      <p:sp>
        <p:nvSpPr>
          <p:cNvPr id="34" name="Rounded Rectangle 33"/>
          <p:cNvSpPr/>
          <p:nvPr/>
        </p:nvSpPr>
        <p:spPr>
          <a:xfrm>
            <a:off x="550000" y="3088552"/>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168552"/>
            <a:ext cx="50000" cy="1242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7" name="TextBox 36"/>
          <p:cNvSpPr txBox="1"/>
          <p:nvPr/>
        </p:nvSpPr>
        <p:spPr>
          <a:xfrm>
            <a:off x="1300000" y="3128552"/>
            <a:ext cx="5900000" cy="1322896"/>
          </a:xfrm>
          <a:prstGeom prst="rect">
            <a:avLst/>
          </a:prstGeom>
          <a:noFill/>
        </p:spPr>
        <p:txBody>
          <a:bodyPr wrap="square" anchor="ctr">
            <a:spAutoFit/>
          </a:bodyPr>
          <a:lstStyle/>
          <a:p>
            <a:r>
              <a:rPr sz="1700" b="1">
                <a:solidFill>
                  <a:srgbClr val="E8EEFA"/>
                </a:solidFill>
                <a:latin typeface="Segoe UI"/>
              </a:rPr>
              <a:t>Tahlil.</a:t>
            </a:r>
          </a:p>
          <a:p>
            <a:pPr>
              <a:spcBef>
                <a:spcPts val="400"/>
              </a:spcBef>
            </a:pPr>
            <a:r>
              <a:rPr sz="1600">
                <a:solidFill>
                  <a:srgbClr val="AEBBD9"/>
                </a:solidFill>
                <a:latin typeface="Segoe UI"/>
              </a:rPr>
              <a:t>Samaradorlik pasayishining sabablari, bottleneck, kamida 2 ta takomillashtirish taklifi va ulardan bittasining sinovi.</a:t>
            </a:r>
          </a:p>
        </p:txBody>
      </p:sp>
      <p:sp>
        <p:nvSpPr>
          <p:cNvPr id="38" name="Rounded Rectangle 37"/>
          <p:cNvSpPr/>
          <p:nvPr/>
        </p:nvSpPr>
        <p:spPr>
          <a:xfrm>
            <a:off x="550000" y="4601448"/>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0000" y="4681448"/>
            <a:ext cx="50000" cy="1242896"/>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60000" y="5102896"/>
            <a:ext cx="400000" cy="40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41" name="TextBox 40"/>
          <p:cNvSpPr txBox="1"/>
          <p:nvPr/>
        </p:nvSpPr>
        <p:spPr>
          <a:xfrm>
            <a:off x="1300000" y="4641448"/>
            <a:ext cx="5900000" cy="1322896"/>
          </a:xfrm>
          <a:prstGeom prst="rect">
            <a:avLst/>
          </a:prstGeom>
          <a:noFill/>
        </p:spPr>
        <p:txBody>
          <a:bodyPr wrap="square" anchor="ctr">
            <a:spAutoFit/>
          </a:bodyPr>
          <a:lstStyle/>
          <a:p>
            <a:r>
              <a:rPr sz="1600" b="0">
                <a:solidFill>
                  <a:srgbClr val="E8EEFA"/>
                </a:solidFill>
                <a:latin typeface="Segoe UI"/>
              </a:rPr>
              <a:t>Xulosa va javob berilgan nazorat savollari (kamida 3 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par>
                          <p:cTn id="80" fill="hold">
                            <p:stCondLst>
                              <p:cond delay="750"/>
                            </p:stCondLst>
                            <p:childTnLst>
                              <p:par>
                                <p:cTn id="81" presetID="42" presetClass="entr" presetSubtype="0" fill="hold" grpId="0" nodeType="after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550"/>
                                        <p:tgtEl>
                                          <p:spTgt spid="38"/>
                                        </p:tgtEl>
                                      </p:cBhvr>
                                    </p:animEffect>
                                    <p:anim calcmode="lin" valueType="num">
                                      <p:cBhvr additive="base">
                                        <p:cTn id="84" dur="550" fill="hold"/>
                                        <p:tgtEl>
                                          <p:spTgt spid="38"/>
                                        </p:tgtEl>
                                        <p:attrNameLst>
                                          <p:attrName>ppt_x</p:attrName>
                                        </p:attrNameLst>
                                      </p:cBhvr>
                                      <p:tavLst>
                                        <p:tav tm="0">
                                          <p:val>
                                            <p:strVal val="#ppt_x"/>
                                          </p:val>
                                        </p:tav>
                                        <p:tav tm="100000">
                                          <p:val>
                                            <p:strVal val="#ppt_x"/>
                                          </p:val>
                                        </p:tav>
                                      </p:tavLst>
                                    </p:anim>
                                    <p:anim calcmode="lin" valueType="num">
                                      <p:cBhvr additive="base">
                                        <p:cTn id="85" dur="550" fill="hold"/>
                                        <p:tgtEl>
                                          <p:spTgt spid="38"/>
                                        </p:tgtEl>
                                        <p:attrNameLst>
                                          <p:attrName>ppt_y</p:attrName>
                                        </p:attrNameLst>
                                      </p:cBhvr>
                                      <p:tavLst>
                                        <p:tav tm="0">
                                          <p:val>
                                            <p:strVal val="#ppt_y+.08"/>
                                          </p:val>
                                        </p:tav>
                                        <p:tav tm="100000">
                                          <p:val>
                                            <p:strVal val="#ppt_y"/>
                                          </p:val>
                                        </p:tav>
                                      </p:tavLst>
                                    </p:anim>
                                  </p:childTnLst>
                                </p:cTn>
                              </p:par>
                            </p:childTnLst>
                          </p:cTn>
                        </p:par>
                        <p:par>
                          <p:cTn id="86" fill="hold">
                            <p:stCondLst>
                              <p:cond delay="750"/>
                            </p:stCondLst>
                            <p:childTnLst>
                              <p:par>
                                <p:cTn id="87" presetID="42" presetClass="entr" presetSubtype="0" fill="hold" grpId="0" nodeType="after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50"/>
                                        <p:tgtEl>
                                          <p:spTgt spid="39"/>
                                        </p:tgtEl>
                                      </p:cBhvr>
                                    </p:animEffect>
                                    <p:anim calcmode="lin" valueType="num">
                                      <p:cBhvr additive="base">
                                        <p:cTn id="90" dur="550" fill="hold"/>
                                        <p:tgtEl>
                                          <p:spTgt spid="39"/>
                                        </p:tgtEl>
                                        <p:attrNameLst>
                                          <p:attrName>ppt_x</p:attrName>
                                        </p:attrNameLst>
                                      </p:cBhvr>
                                      <p:tavLst>
                                        <p:tav tm="0">
                                          <p:val>
                                            <p:strVal val="#ppt_x"/>
                                          </p:val>
                                        </p:tav>
                                        <p:tav tm="100000">
                                          <p:val>
                                            <p:strVal val="#ppt_x"/>
                                          </p:val>
                                        </p:tav>
                                      </p:tavLst>
                                    </p:anim>
                                    <p:anim calcmode="lin" valueType="num">
                                      <p:cBhvr additive="base">
                                        <p:cTn id="91" dur="550" fill="hold"/>
                                        <p:tgtEl>
                                          <p:spTgt spid="39"/>
                                        </p:tgtEl>
                                        <p:attrNameLst>
                                          <p:attrName>ppt_y</p:attrName>
                                        </p:attrNameLst>
                                      </p:cBhvr>
                                      <p:tavLst>
                                        <p:tav tm="0">
                                          <p:val>
                                            <p:strVal val="#ppt_y+.08"/>
                                          </p:val>
                                        </p:tav>
                                        <p:tav tm="100000">
                                          <p:val>
                                            <p:strVal val="#ppt_y"/>
                                          </p:val>
                                        </p:tav>
                                      </p:tavLst>
                                    </p:anim>
                                  </p:childTnLst>
                                </p:cTn>
                              </p:par>
                            </p:childTnLst>
                          </p:cTn>
                        </p:par>
                        <p:par>
                          <p:cTn id="92" fill="hold">
                            <p:stCondLst>
                              <p:cond delay="750"/>
                            </p:stCondLst>
                            <p:childTnLst>
                              <p:par>
                                <p:cTn id="93" presetID="53" presetClass="entr" presetSubtype="16" fill="hold" grpId="0" nodeType="after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550"/>
                                        <p:tgtEl>
                                          <p:spTgt spid="40"/>
                                        </p:tgtEl>
                                      </p:cBhvr>
                                    </p:animEffect>
                                    <p:anim calcmode="lin" valueType="num">
                                      <p:cBhvr additive="base">
                                        <p:cTn id="96" dur="550" fill="hold"/>
                                        <p:tgtEl>
                                          <p:spTgt spid="40"/>
                                        </p:tgtEl>
                                        <p:attrNameLst>
                                          <p:attrName>ppt_w</p:attrName>
                                        </p:attrNameLst>
                                      </p:cBhvr>
                                      <p:tavLst>
                                        <p:tav tm="0">
                                          <p:val>
                                            <p:strVal val="0"/>
                                          </p:val>
                                        </p:tav>
                                        <p:tav tm="100000">
                                          <p:val>
                                            <p:strVal val="#ppt_w"/>
                                          </p:val>
                                        </p:tav>
                                      </p:tavLst>
                                    </p:anim>
                                    <p:anim calcmode="lin" valueType="num">
                                      <p:cBhvr additive="base">
                                        <p:cTn id="97" dur="550" fill="hold"/>
                                        <p:tgtEl>
                                          <p:spTgt spid="40"/>
                                        </p:tgtEl>
                                        <p:attrNameLst>
                                          <p:attrName>ppt_h</p:attrName>
                                        </p:attrNameLst>
                                      </p:cBhvr>
                                      <p:tavLst>
                                        <p:tav tm="0">
                                          <p:val>
                                            <p:strVal val="0"/>
                                          </p:val>
                                        </p:tav>
                                        <p:tav tm="100000">
                                          <p:val>
                                            <p:strVal val="#ppt_h"/>
                                          </p:val>
                                        </p:tav>
                                      </p:tavLst>
                                    </p:anim>
                                  </p:childTnLst>
                                </p:cTn>
                              </p:par>
                            </p:childTnLst>
                          </p:cTn>
                        </p:par>
                        <p:par>
                          <p:cTn id="98" fill="hold">
                            <p:stCondLst>
                              <p:cond delay="750"/>
                            </p:stCondLst>
                            <p:childTnLst>
                              <p:par>
                                <p:cTn id="99" presetID="42" presetClass="entr" presetSubtype="0" fill="hold" grpId="0" nodeType="after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550"/>
                                        <p:tgtEl>
                                          <p:spTgt spid="41"/>
                                        </p:tgtEl>
                                      </p:cBhvr>
                                    </p:animEffect>
                                    <p:anim calcmode="lin" valueType="num">
                                      <p:cBhvr additive="base">
                                        <p:cTn id="102" dur="550" fill="hold"/>
                                        <p:tgtEl>
                                          <p:spTgt spid="41"/>
                                        </p:tgtEl>
                                        <p:attrNameLst>
                                          <p:attrName>ppt_x</p:attrName>
                                        </p:attrNameLst>
                                      </p:cBhvr>
                                      <p:tavLst>
                                        <p:tav tm="0">
                                          <p:val>
                                            <p:strVal val="#ppt_x"/>
                                          </p:val>
                                        </p:tav>
                                        <p:tav tm="100000">
                                          <p:val>
                                            <p:strVal val="#ppt_x"/>
                                          </p:val>
                                        </p:tav>
                                      </p:tavLst>
                                    </p:anim>
                                    <p:anim calcmode="lin" valueType="num">
                                      <p:cBhvr additive="base">
                                        <p:cTn id="103" dur="550" fill="hold"/>
                                        <p:tgtEl>
                                          <p:spTgt spid="4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Baholash mezoni (jami 100 ball)</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51</a:t>
            </a:r>
          </a:p>
        </p:txBody>
      </p:sp>
      <p:sp>
        <p:nvSpPr>
          <p:cNvPr id="24" name="Rounded Rectangle 23"/>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50000" y="361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60000" y="361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7" name="TextBox 26"/>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60 balldan past — qayta topshirish; 60–74 — qoniqarli; 75–89 — yaxshi; 90–100 — a'lo.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ppt_x</p:attrName>
                                        </p:attrNameLst>
                                      </p:cBhvr>
                                      <p:tavLst>
                                        <p:tav tm="0">
                                          <p:val>
                                            <p:strVal val="#ppt_x"/>
                                          </p:val>
                                        </p:tav>
                                        <p:tav tm="100000">
                                          <p:val>
                                            <p:strVal val="#ppt_x"/>
                                          </p:val>
                                        </p:tav>
                                      </p:tavLst>
                                    </p:anim>
                                    <p:anim calcmode="lin" valueType="num">
                                      <p:cBhvr additive="base">
                                        <p:cTn id="17" dur="550" fill="hold"/>
                                        <p:tgtEl>
                                          <p:spTgt spid="24"/>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ppt_x</p:attrName>
                                        </p:attrNameLst>
                                      </p:cBhvr>
                                      <p:tavLst>
                                        <p:tav tm="0">
                                          <p:val>
                                            <p:strVal val="#ppt_x"/>
                                          </p:val>
                                        </p:tav>
                                        <p:tav tm="100000">
                                          <p:val>
                                            <p:strVal val="#ppt_x"/>
                                          </p:val>
                                        </p:tav>
                                      </p:tavLst>
                                    </p:anim>
                                    <p:anim calcmode="lin" valueType="num">
                                      <p:cBhvr additive="base">
                                        <p:cTn id="23" dur="550" fill="hold"/>
                                        <p:tgtEl>
                                          <p:spTgt spid="25"/>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anim calcmode="lin" valueType="num">
                                      <p:cBhvr additive="base">
                                        <p:cTn id="28" dur="550" fill="hold"/>
                                        <p:tgtEl>
                                          <p:spTgt spid="26"/>
                                        </p:tgtEl>
                                        <p:attrNameLst>
                                          <p:attrName>ppt_w</p:attrName>
                                        </p:attrNameLst>
                                      </p:cBhvr>
                                      <p:tavLst>
                                        <p:tav tm="0">
                                          <p:val>
                                            <p:strVal val="0"/>
                                          </p:val>
                                        </p:tav>
                                        <p:tav tm="100000">
                                          <p:val>
                                            <p:strVal val="#ppt_w"/>
                                          </p:val>
                                        </p:tav>
                                      </p:tavLst>
                                    </p:anim>
                                    <p:anim calcmode="lin" valueType="num">
                                      <p:cBhvr additive="base">
                                        <p:cTn id="29" dur="550" fill="hold"/>
                                        <p:tgtEl>
                                          <p:spTgt spid="26"/>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50"/>
                                        <p:tgtEl>
                                          <p:spTgt spid="27"/>
                                        </p:tgtEl>
                                      </p:cBhvr>
                                    </p:animEffect>
                                    <p:anim calcmode="lin" valueType="num">
                                      <p:cBhvr additive="base">
                                        <p:cTn id="34" dur="550" fill="hold"/>
                                        <p:tgtEl>
                                          <p:spTgt spid="27"/>
                                        </p:tgtEl>
                                        <p:attrNameLst>
                                          <p:attrName>ppt_x</p:attrName>
                                        </p:attrNameLst>
                                      </p:cBhvr>
                                      <p:tavLst>
                                        <p:tav tm="0">
                                          <p:val>
                                            <p:strVal val="#ppt_x"/>
                                          </p:val>
                                        </p:tav>
                                        <p:tav tm="100000">
                                          <p:val>
                                            <p:strVal val="#ppt_x"/>
                                          </p:val>
                                        </p:tav>
                                      </p:tavLst>
                                    </p:anim>
                                    <p:anim calcmode="lin" valueType="num">
                                      <p:cBhvr additive="base">
                                        <p:cTn id="35" dur="550" fill="hold"/>
                                        <p:tgtEl>
                                          <p:spTgt spid="2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5" grpId="0" animBg="1"/>
      <p:bldP spid="26" grpId="0" animBg="1"/>
      <p:bldP spid="27"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Baholash mezoni (jami 100 ball)</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52</a:t>
            </a:r>
          </a:p>
        </p:txBody>
      </p:sp>
      <p:graphicFrame>
        <p:nvGraphicFramePr>
          <p:cNvPr id="22" name="Table 21"/>
          <p:cNvGraphicFramePr>
            <a:graphicFrameLocks noGrp="1"/>
          </p:cNvGraphicFramePr>
          <p:nvPr/>
        </p:nvGraphicFramePr>
        <p:xfrm>
          <a:off x="550000" y="1400000"/>
          <a:ext cx="11100000" cy="4680000"/>
        </p:xfrm>
        <a:graphic>
          <a:graphicData uri="http://schemas.openxmlformats.org/drawingml/2006/table">
            <a:tbl>
              <a:tblPr firstRow="1" bandRow="1">
                <a:tableStyleId>{5C22544A-7EE6-4342-B048-85BDC9FD1C3A}</a:tableStyleId>
              </a:tblPr>
              <a:tblGrid>
                <a:gridCol w="5550000"/>
                <a:gridCol w="5550000"/>
              </a:tblGrid>
              <a:tr h="520000">
                <a:tc>
                  <a:txBody>
                    <a:bodyPr/>
                    <a:lstStyle/>
                    <a:p>
                      <a:r>
                        <a:rPr sz="1200" b="1">
                          <a:solidFill>
                            <a:srgbClr val="22D3EE"/>
                          </a:solidFill>
                          <a:latin typeface="Segoe UI"/>
                        </a:rPr>
                        <a:t>Mezon</a:t>
                      </a:r>
                    </a:p>
                  </a:txBody>
                  <a:tcPr>
                    <a:solidFill>
                      <a:srgbClr val="1C2755"/>
                    </a:solidFill>
                  </a:tcPr>
                </a:tc>
                <a:tc>
                  <a:txBody>
                    <a:bodyPr/>
                    <a:lstStyle/>
                    <a:p>
                      <a:r>
                        <a:rPr sz="1200" b="1">
                          <a:solidFill>
                            <a:srgbClr val="22D3EE"/>
                          </a:solidFill>
                          <a:latin typeface="Segoe UI"/>
                        </a:rPr>
                        <a:t>Ball</a:t>
                      </a:r>
                    </a:p>
                  </a:txBody>
                  <a:tcPr>
                    <a:solidFill>
                      <a:srgbClr val="1C2755"/>
                    </a:solidFill>
                  </a:tcPr>
                </a:tc>
              </a:tr>
              <a:tr h="520000">
                <a:tc>
                  <a:txBody>
                    <a:bodyPr/>
                    <a:lstStyle/>
                    <a:p>
                      <a:r>
                        <a:rPr sz="1200" b="0">
                          <a:solidFill>
                            <a:srgbClr val="E8EEFA"/>
                          </a:solidFill>
                          <a:latin typeface="Segoe UI"/>
                        </a:rPr>
                        <a:t>1 GPU baseline to'g'ri o'lchangan (isitish epoxasi chiqarib tashlangan)</a:t>
                      </a:r>
                    </a:p>
                  </a:txBody>
                  <a:tcPr>
                    <a:solidFill>
                      <a:srgbClr val="111834"/>
                    </a:solidFill>
                  </a:tcPr>
                </a:tc>
                <a:tc>
                  <a:txBody>
                    <a:bodyPr/>
                    <a:lstStyle/>
                    <a:p>
                      <a:r>
                        <a:rPr sz="1200" b="0">
                          <a:solidFill>
                            <a:srgbClr val="E8EEFA"/>
                          </a:solidFill>
                          <a:latin typeface="Segoe UI"/>
                        </a:rPr>
                        <a:t>10</a:t>
                      </a:r>
                    </a:p>
                  </a:txBody>
                  <a:tcPr>
                    <a:solidFill>
                      <a:srgbClr val="111834"/>
                    </a:solidFill>
                  </a:tcPr>
                </a:tc>
              </a:tr>
              <a:tr h="520000">
                <a:tc>
                  <a:txBody>
                    <a:bodyPr/>
                    <a:lstStyle/>
                    <a:p>
                      <a:r>
                        <a:rPr sz="1200" b="0">
                          <a:solidFill>
                            <a:srgbClr val="E8EEFA"/>
                          </a:solidFill>
                          <a:latin typeface="Segoe UI"/>
                        </a:rPr>
                        <a:t>DDP 2 va 4 GPU ishlaydi, DistributedSampler, set_epoch, LR masshtablash to'g'ri</a:t>
                      </a:r>
                    </a:p>
                  </a:txBody>
                  <a:tcPr>
                    <a:solidFill>
                      <a:srgbClr val="161F40"/>
                    </a:solidFill>
                  </a:tcPr>
                </a:tc>
                <a:tc>
                  <a:txBody>
                    <a:bodyPr/>
                    <a:lstStyle/>
                    <a:p>
                      <a:r>
                        <a:rPr sz="1200" b="0">
                          <a:solidFill>
                            <a:srgbClr val="E8EEFA"/>
                          </a:solidFill>
                          <a:latin typeface="Segoe UI"/>
                        </a:rPr>
                        <a:t>20</a:t>
                      </a:r>
                    </a:p>
                  </a:txBody>
                  <a:tcPr>
                    <a:solidFill>
                      <a:srgbClr val="161F40"/>
                    </a:solidFill>
                  </a:tcPr>
                </a:tc>
              </a:tr>
              <a:tr h="520000">
                <a:tc>
                  <a:txBody>
                    <a:bodyPr/>
                    <a:lstStyle/>
                    <a:p>
                      <a:r>
                        <a:rPr sz="1200" b="0">
                          <a:solidFill>
                            <a:srgbClr val="E8EEFA"/>
                          </a:solidFill>
                          <a:latin typeface="Segoe UI"/>
                        </a:rPr>
                        <a:t>Masshtablash jadvali to'liq, S(N) va E(N) to'g'ri hisoblangan</a:t>
                      </a:r>
                    </a:p>
                  </a:txBody>
                  <a:tcPr>
                    <a:solidFill>
                      <a:srgbClr val="111834"/>
                    </a:solidFill>
                  </a:tcPr>
                </a:tc>
                <a:tc>
                  <a:txBody>
                    <a:bodyPr/>
                    <a:lstStyle/>
                    <a:p>
                      <a:r>
                        <a:rPr sz="1200" b="0">
                          <a:solidFill>
                            <a:srgbClr val="E8EEFA"/>
                          </a:solidFill>
                          <a:latin typeface="Segoe UI"/>
                        </a:rPr>
                        <a:t>15</a:t>
                      </a:r>
                    </a:p>
                  </a:txBody>
                  <a:tcPr>
                    <a:solidFill>
                      <a:srgbClr val="111834"/>
                    </a:solidFill>
                  </a:tcPr>
                </a:tc>
              </a:tr>
              <a:tr h="520000">
                <a:tc>
                  <a:txBody>
                    <a:bodyPr/>
                    <a:lstStyle/>
                    <a:p>
                      <a:r>
                        <a:rPr sz="1200" b="0">
                          <a:solidFill>
                            <a:srgbClr val="E8EEFA"/>
                          </a:solidFill>
                          <a:latin typeface="Segoe UI"/>
                        </a:rPr>
                        <a:t>Profiler orqali kommunikatsiya ulushi aniqlangan</a:t>
                      </a:r>
                    </a:p>
                  </a:txBody>
                  <a:tcPr>
                    <a:solidFill>
                      <a:srgbClr val="161F40"/>
                    </a:solidFill>
                  </a:tcPr>
                </a:tc>
                <a:tc>
                  <a:txBody>
                    <a:bodyPr/>
                    <a:lstStyle/>
                    <a:p>
                      <a:r>
                        <a:rPr sz="1200" b="0">
                          <a:solidFill>
                            <a:srgbClr val="E8EEFA"/>
                          </a:solidFill>
                          <a:latin typeface="Segoe UI"/>
                        </a:rPr>
                        <a:t>10</a:t>
                      </a:r>
                    </a:p>
                  </a:txBody>
                  <a:tcPr>
                    <a:solidFill>
                      <a:srgbClr val="161F40"/>
                    </a:solidFill>
                  </a:tcPr>
                </a:tc>
              </a:tr>
              <a:tr h="520000">
                <a:tc>
                  <a:txBody>
                    <a:bodyPr/>
                    <a:lstStyle/>
                    <a:p>
                      <a:r>
                        <a:rPr sz="1200" b="0">
                          <a:solidFill>
                            <a:srgbClr val="E8EEFA"/>
                          </a:solidFill>
                          <a:latin typeface="Segoe UI"/>
                        </a:rPr>
                        <a:t>Parallel inferens amalga oshirilgan, all_gather to'g'ri, aniqlik mos</a:t>
                      </a:r>
                    </a:p>
                  </a:txBody>
                  <a:tcPr>
                    <a:solidFill>
                      <a:srgbClr val="111834"/>
                    </a:solidFill>
                  </a:tcPr>
                </a:tc>
                <a:tc>
                  <a:txBody>
                    <a:bodyPr/>
                    <a:lstStyle/>
                    <a:p>
                      <a:r>
                        <a:rPr sz="1200" b="0">
                          <a:solidFill>
                            <a:srgbClr val="E8EEFA"/>
                          </a:solidFill>
                          <a:latin typeface="Segoe UI"/>
                        </a:rPr>
                        <a:t>15</a:t>
                      </a:r>
                    </a:p>
                  </a:txBody>
                  <a:tcPr>
                    <a:solidFill>
                      <a:srgbClr val="111834"/>
                    </a:solidFill>
                  </a:tcPr>
                </a:tc>
              </a:tr>
              <a:tr h="520000">
                <a:tc>
                  <a:txBody>
                    <a:bodyPr/>
                    <a:lstStyle/>
                    <a:p>
                      <a:r>
                        <a:rPr sz="1200" b="0">
                          <a:solidFill>
                            <a:srgbClr val="E8EEFA"/>
                          </a:solidFill>
                          <a:latin typeface="Segoe UI"/>
                        </a:rPr>
                        <a:t>Ikki tugunli ishga tushirish yoki Ray Train varianti (kamida bittasi)</a:t>
                      </a:r>
                    </a:p>
                  </a:txBody>
                  <a:tcPr>
                    <a:solidFill>
                      <a:srgbClr val="161F40"/>
                    </a:solidFill>
                  </a:tcPr>
                </a:tc>
                <a:tc>
                  <a:txBody>
                    <a:bodyPr/>
                    <a:lstStyle/>
                    <a:p>
                      <a:r>
                        <a:rPr sz="1200" b="0">
                          <a:solidFill>
                            <a:srgbClr val="E8EEFA"/>
                          </a:solidFill>
                          <a:latin typeface="Segoe UI"/>
                        </a:rPr>
                        <a:t>10</a:t>
                      </a:r>
                    </a:p>
                  </a:txBody>
                  <a:tcPr>
                    <a:solidFill>
                      <a:srgbClr val="161F40"/>
                    </a:solidFill>
                  </a:tcPr>
                </a:tc>
              </a:tr>
              <a:tr h="520000">
                <a:tc>
                  <a:txBody>
                    <a:bodyPr/>
                    <a:lstStyle/>
                    <a:p>
                      <a:r>
                        <a:rPr sz="1200" b="0">
                          <a:solidFill>
                            <a:srgbClr val="E8EEFA"/>
                          </a:solidFill>
                          <a:latin typeface="Segoe UI"/>
                        </a:rPr>
                        <a:t>Tahlil sifati: bottleneck asosli aniqlangan, taklif sinovdan o'tgan</a:t>
                      </a:r>
                    </a:p>
                  </a:txBody>
                  <a:tcPr>
                    <a:solidFill>
                      <a:srgbClr val="111834"/>
                    </a:solidFill>
                  </a:tcPr>
                </a:tc>
                <a:tc>
                  <a:txBody>
                    <a:bodyPr/>
                    <a:lstStyle/>
                    <a:p>
                      <a:r>
                        <a:rPr sz="1200" b="0">
                          <a:solidFill>
                            <a:srgbClr val="E8EEFA"/>
                          </a:solidFill>
                          <a:latin typeface="Segoe UI"/>
                        </a:rPr>
                        <a:t>15</a:t>
                      </a:r>
                    </a:p>
                  </a:txBody>
                  <a:tcPr>
                    <a:solidFill>
                      <a:srgbClr val="111834"/>
                    </a:solidFill>
                  </a:tcPr>
                </a:tc>
              </a:tr>
              <a:tr h="520000">
                <a:tc>
                  <a:txBody>
                    <a:bodyPr/>
                    <a:lstStyle/>
                    <a:p>
                      <a:r>
                        <a:rPr sz="1200" b="0">
                          <a:solidFill>
                            <a:srgbClr val="E8EEFA"/>
                          </a:solidFill>
                          <a:latin typeface="Segoe UI"/>
                        </a:rPr>
                        <a:t>Hisobot rasmiyligi, kodning o'qilishi, takrorlanuvchanlik</a:t>
                      </a:r>
                    </a:p>
                  </a:txBody>
                  <a:tcPr>
                    <a:solidFill>
                      <a:srgbClr val="161F40"/>
                    </a:solidFill>
                  </a:tcPr>
                </a:tc>
                <a:tc>
                  <a:txBody>
                    <a:bodyPr/>
                    <a:lstStyle/>
                    <a:p>
                      <a:r>
                        <a:rPr sz="1200" b="0">
                          <a:solidFill>
                            <a:srgbClr val="E8EEFA"/>
                          </a:solidFill>
                          <a:latin typeface="Segoe UI"/>
                        </a:rPr>
                        <a:t>5</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6" dur="8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4a6fbc786f8f863f.jpg"/>
          <p:cNvPicPr>
            <a:picLocks noChangeAspect="1"/>
          </p:cNvPicPr>
          <p:nvPr/>
        </p:nvPicPr>
        <p:blipFill>
          <a:blip r:embed="rId2"/>
          <a:srcRect l="9848" r="9848"/>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ArnoldReinhold · Wikimedia Commons · CC BY-SA 4.0</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05</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Natijalarni tahlil qilish</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Natijalarni tahlil qilish</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54</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879476"/>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1959476"/>
            <a:ext cx="50000" cy="16955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607238"/>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1919476"/>
            <a:ext cx="5900000" cy="1775524"/>
          </a:xfrm>
          <a:prstGeom prst="rect">
            <a:avLst/>
          </a:prstGeom>
          <a:noFill/>
        </p:spPr>
        <p:txBody>
          <a:bodyPr wrap="square" anchor="ctr">
            <a:spAutoFit/>
          </a:bodyPr>
          <a:lstStyle/>
          <a:p>
            <a:r>
              <a:rPr sz="1400" b="1">
                <a:solidFill>
                  <a:srgbClr val="E8EEFA"/>
                </a:solidFill>
                <a:latin typeface="Segoe UI"/>
              </a:rPr>
              <a:t>Kutilgan jadvaldagi raqamlar bir nechta muhim xulosaga olib keladi.</a:t>
            </a:r>
          </a:p>
          <a:p>
            <a:pPr>
              <a:spcBef>
                <a:spcPts val="400"/>
              </a:spcBef>
            </a:pPr>
            <a:r>
              <a:rPr sz="1300">
                <a:solidFill>
                  <a:srgbClr val="AEBBD9"/>
                </a:solidFill>
                <a:latin typeface="Segoe UI"/>
              </a:rPr>
              <a:t>Birinchidan, bitta tugun ichida DDP samaradorligi GPU soni ortishi bilan asta-sekin pasayadi (93% → 83%): bunga ikki omil sabab — all-reduce hajmining har GPU uchun o'zgarmasligi va PCIe orqali 4 ta GPU bir vaqtda almashinuvi (NVLink bo'lmaganda PCIe kommutatori umumiy o'tkazuvchanlikni bo'lib beradi).</a:t>
            </a:r>
          </a:p>
        </p:txBody>
      </p:sp>
      <p:sp>
        <p:nvSpPr>
          <p:cNvPr id="33" name="Rounded Rectangle 32"/>
          <p:cNvSpPr/>
          <p:nvPr/>
        </p:nvSpPr>
        <p:spPr>
          <a:xfrm>
            <a:off x="550000" y="3845000"/>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69552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572762"/>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6" name="TextBox 35"/>
          <p:cNvSpPr txBox="1"/>
          <p:nvPr/>
        </p:nvSpPr>
        <p:spPr>
          <a:xfrm>
            <a:off x="1300000" y="3885000"/>
            <a:ext cx="5900000" cy="1775524"/>
          </a:xfrm>
          <a:prstGeom prst="rect">
            <a:avLst/>
          </a:prstGeom>
          <a:noFill/>
        </p:spPr>
        <p:txBody>
          <a:bodyPr wrap="square" anchor="ctr">
            <a:spAutoFit/>
          </a:bodyPr>
          <a:lstStyle/>
          <a:p>
            <a:r>
              <a:rPr sz="1400" b="1">
                <a:solidFill>
                  <a:srgbClr val="E8EEFA"/>
                </a:solidFill>
                <a:latin typeface="Segoe UI"/>
              </a:rPr>
              <a:t>Ikkinchidan, tugunlararo konfiguratsiya 10 GbE tarmoqda samaradorlikni ikki baravar yo'qotadi.</a:t>
            </a:r>
          </a:p>
          <a:p>
            <a:pPr>
              <a:spcBef>
                <a:spcPts val="400"/>
              </a:spcBef>
            </a:pPr>
            <a:r>
              <a:rPr sz="1300">
                <a:solidFill>
                  <a:srgbClr val="AEBBD9"/>
                </a:solidFill>
                <a:latin typeface="Segoe UI"/>
              </a:rPr>
              <a:t>Bu natijadan «ko'p tugun foydasiz» degan xulosa chiqmaydi; to'g'ri xulosa — tarmoq o'tkazuvchanligi hisoblash tezligiga mos kelishi kerak. Sanoat klasterlarida har GPU uchun 200–400 Gbit/s InfiniBand yoki RoCE ajratiladi va NCCL GPUDirect RDMA orqali CPU'ni chetlab o'tadi.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Natijalarni tahlil qilish</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55</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048a68667d252f9.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Anthere · Wikimedia Commons · CC BY-SA 4.0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648868"/>
            <a:ext cx="50000" cy="228226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29" name="TextBox 28"/>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Uchinchidan, parallel inferens deyarli ideal masshtablanadi, chunki jarayonlar o'rtasida qadam sayin sinxronizatsiya yo'q.</a:t>
            </a:r>
          </a:p>
          <a:p>
            <a:pPr>
              <a:spcBef>
                <a:spcPts val="400"/>
              </a:spcBef>
            </a:pPr>
            <a:r>
              <a:rPr sz="1400">
                <a:solidFill>
                  <a:srgbClr val="AEBBD9"/>
                </a:solidFill>
                <a:latin typeface="Segoe UI"/>
              </a:rPr>
              <a:t>Bu «noqulay parallel» (embarrassingly parallel) masala sinfiga kiradi. Biroq real xizmatda cheklov boshqa joyda — so'rovlarning kelishi notekis, paketlash kechikishni oshiradi va modelni har GPU'da nusxalash xotirani isrof qiladi. Shuning uchun inferens tizimlari o'lchovida img/s bilan birga p50/p99 kechikish ham keltirilishi shart.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Natijalarni tahlil qilish</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56</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9b07e9321548e59b.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Jasper Reichardt · Wikimedia Commons · CC BY-SA 4.0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2283880"/>
            <a:ext cx="6750000" cy="301224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363880"/>
            <a:ext cx="50000" cy="28522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29" name="TextBox 28"/>
          <p:cNvSpPr txBox="1"/>
          <p:nvPr/>
        </p:nvSpPr>
        <p:spPr>
          <a:xfrm>
            <a:off x="1300000" y="2323880"/>
            <a:ext cx="5900000" cy="2932240"/>
          </a:xfrm>
          <a:prstGeom prst="rect">
            <a:avLst/>
          </a:prstGeom>
          <a:noFill/>
        </p:spPr>
        <p:txBody>
          <a:bodyPr wrap="square" anchor="ctr">
            <a:spAutoFit/>
          </a:bodyPr>
          <a:lstStyle/>
          <a:p>
            <a:r>
              <a:rPr sz="1700" b="1">
                <a:solidFill>
                  <a:srgbClr val="E8EEFA"/>
                </a:solidFill>
                <a:latin typeface="Segoe UI"/>
              </a:rPr>
              <a:t>Cheklovlar va muqobillar: mashg'ulotda model bitta GPU'ga bemalol sig'adi, shuning uchun FSDP yoki tensor parallellik zaruriyati yuzaga kelmadi.</a:t>
            </a:r>
          </a:p>
          <a:p>
            <a:pPr>
              <a:spcBef>
                <a:spcPts val="400"/>
              </a:spcBef>
            </a:pPr>
            <a:r>
              <a:rPr sz="1600">
                <a:solidFill>
                  <a:srgbClr val="AEBBD9"/>
                </a:solidFill>
                <a:latin typeface="Segoe UI"/>
              </a:rPr>
              <a:t>Model 7B+ parametrga yetganda DDP ishlamay qoladi — har GPU'da to'liq nusxa saqlanmaydi — va FSDP (torch.distributed.fsdp.FullyShardedDataParallel) yoki DeepSpeed ZeRO-3 kerak bo'ladi; ular parametrlarni bo'lib saqlaydi, lekin har qatlam oldidan all-gather qilib, kommunikatsiyani 1.5 baravar oshiradi.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3ac77e5c8af152bd.jpg"/>
          <p:cNvPicPr>
            <a:picLocks noChangeAspect="1"/>
          </p:cNvPicPr>
          <p:nvPr/>
        </p:nvPicPr>
        <p:blipFill>
          <a:blip r:embed="rId2"/>
          <a:srcRect t="8040" b="8040"/>
          <a:stretch>
            <a:fillRect/>
          </a:stretch>
        </p:blipFill>
        <p:spPr>
          <a:xfrm>
            <a:off x="6300000" y="800000"/>
            <a:ext cx="5300000" cy="4950000"/>
          </a:xfrm>
          <a:prstGeom prst="roundRect">
            <a:avLst/>
          </a:prstGeom>
          <a:ln w="19050">
            <a:solidFill>
              <a:srgbClr val="22D3EE"/>
            </a:solidFill>
          </a:ln>
        </p:spPr>
      </p:pic>
      <p:sp>
        <p:nvSpPr>
          <p:cNvPr id="43" name="TextBox 42"/>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Asurnipal · Wikimedia Commons · CC BY-SA 4.0</a:t>
            </a:r>
          </a:p>
        </p:txBody>
      </p:sp>
      <p:sp>
        <p:nvSpPr>
          <p:cNvPr id="44" name="TextBox 43"/>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06</a:t>
            </a:r>
          </a:p>
        </p:txBody>
      </p:sp>
      <p:sp>
        <p:nvSpPr>
          <p:cNvPr id="45" name="TextBox 44"/>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6" name="TextBox 45"/>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Keng tarqalgan xatolar va amaliy tavsiyalar</a:t>
            </a:r>
          </a:p>
        </p:txBody>
      </p:sp>
      <p:sp>
        <p:nvSpPr>
          <p:cNvPr id="47" name="Rectangle 46"/>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9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150"/>
                            </p:stCondLst>
                            <p:childTnLst>
                              <p:par>
                                <p:cTn id="156" presetID="53" presetClass="entr" presetSubtype="16"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anim calcmode="lin" valueType="num">
                                      <p:cBhvr additive="base">
                                        <p:cTn id="159" dur="550" fill="hold"/>
                                        <p:tgtEl>
                                          <p:spTgt spid="41"/>
                                        </p:tgtEl>
                                        <p:attrNameLst>
                                          <p:attrName>ppt_w</p:attrName>
                                        </p:attrNameLst>
                                      </p:cBhvr>
                                      <p:tavLst>
                                        <p:tav tm="0">
                                          <p:val>
                                            <p:strVal val="0"/>
                                          </p:val>
                                        </p:tav>
                                        <p:tav tm="100000">
                                          <p:val>
                                            <p:strVal val="#ppt_w"/>
                                          </p:val>
                                        </p:tav>
                                      </p:tavLst>
                                    </p:anim>
                                    <p:anim calcmode="lin" valueType="num">
                                      <p:cBhvr additive="base">
                                        <p:cTn id="160" dur="550" fill="hold"/>
                                        <p:tgtEl>
                                          <p:spTgt spid="41"/>
                                        </p:tgtEl>
                                        <p:attrNameLst>
                                          <p:attrName>ppt_h</p:attrName>
                                        </p:attrNameLst>
                                      </p:cBhvr>
                                      <p:tavLst>
                                        <p:tav tm="0">
                                          <p:val>
                                            <p:strVal val="0"/>
                                          </p:val>
                                        </p:tav>
                                        <p:tav tm="100000">
                                          <p:val>
                                            <p:strVal val="#ppt_h"/>
                                          </p:val>
                                        </p:tav>
                                      </p:tavLst>
                                    </p:anim>
                                  </p:childTnLst>
                                </p:cTn>
                              </p:par>
                            </p:childTnLst>
                          </p:cTn>
                        </p:par>
                        <p:par>
                          <p:cTn id="161" fill="hold">
                            <p:stCondLst>
                              <p:cond delay="150"/>
                            </p:stCondLst>
                            <p:childTnLst>
                              <p:par>
                                <p:cTn id="162" presetID="53" presetClass="entr" presetSubtype="16" fill="hold" grpId="0" nodeType="after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550"/>
                                        <p:tgtEl>
                                          <p:spTgt spid="42"/>
                                        </p:tgtEl>
                                      </p:cBhvr>
                                    </p:animEffect>
                                    <p:anim calcmode="lin" valueType="num">
                                      <p:cBhvr additive="base">
                                        <p:cTn id="165" dur="550" fill="hold"/>
                                        <p:tgtEl>
                                          <p:spTgt spid="42"/>
                                        </p:tgtEl>
                                        <p:attrNameLst>
                                          <p:attrName>ppt_w</p:attrName>
                                        </p:attrNameLst>
                                      </p:cBhvr>
                                      <p:tavLst>
                                        <p:tav tm="0">
                                          <p:val>
                                            <p:strVal val="0"/>
                                          </p:val>
                                        </p:tav>
                                        <p:tav tm="100000">
                                          <p:val>
                                            <p:strVal val="#ppt_w"/>
                                          </p:val>
                                        </p:tav>
                                      </p:tavLst>
                                    </p:anim>
                                    <p:anim calcmode="lin" valueType="num">
                                      <p:cBhvr additive="base">
                                        <p:cTn id="166" dur="550" fill="hold"/>
                                        <p:tgtEl>
                                          <p:spTgt spid="42"/>
                                        </p:tgtEl>
                                        <p:attrNameLst>
                                          <p:attrName>ppt_h</p:attrName>
                                        </p:attrNameLst>
                                      </p:cBhvr>
                                      <p:tavLst>
                                        <p:tav tm="0">
                                          <p:val>
                                            <p:strVal val="0"/>
                                          </p:val>
                                        </p:tav>
                                        <p:tav tm="100000">
                                          <p:val>
                                            <p:strVal val="#ppt_h"/>
                                          </p:val>
                                        </p:tav>
                                      </p:tavLst>
                                    </p:anim>
                                  </p:childTnLst>
                                </p:cTn>
                              </p:par>
                            </p:childTnLst>
                          </p:cTn>
                        </p:par>
                        <p:par>
                          <p:cTn id="167" fill="hold">
                            <p:stCondLst>
                              <p:cond delay="150"/>
                            </p:stCondLst>
                            <p:childTnLst>
                              <p:par>
                                <p:cTn id="168" presetID="10" presetClass="entr" presetSubtype="0"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childTnLst>
                                </p:cTn>
                              </p:par>
                            </p:childTnLst>
                          </p:cTn>
                        </p:par>
                        <p:par>
                          <p:cTn id="171" fill="hold">
                            <p:stCondLst>
                              <p:cond delay="350"/>
                            </p:stCondLst>
                            <p:childTnLst>
                              <p:par>
                                <p:cTn id="172" presetID="53" presetClass="entr" presetSubtype="16" fill="hold" grpId="0" nodeType="after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550"/>
                                        <p:tgtEl>
                                          <p:spTgt spid="44"/>
                                        </p:tgtEl>
                                      </p:cBhvr>
                                    </p:animEffect>
                                    <p:anim calcmode="lin" valueType="num">
                                      <p:cBhvr additive="base">
                                        <p:cTn id="175" dur="550" fill="hold"/>
                                        <p:tgtEl>
                                          <p:spTgt spid="44"/>
                                        </p:tgtEl>
                                        <p:attrNameLst>
                                          <p:attrName>ppt_w</p:attrName>
                                        </p:attrNameLst>
                                      </p:cBhvr>
                                      <p:tavLst>
                                        <p:tav tm="0">
                                          <p:val>
                                            <p:strVal val="0"/>
                                          </p:val>
                                        </p:tav>
                                        <p:tav tm="100000">
                                          <p:val>
                                            <p:strVal val="#ppt_w"/>
                                          </p:val>
                                        </p:tav>
                                      </p:tavLst>
                                    </p:anim>
                                    <p:anim calcmode="lin" valueType="num">
                                      <p:cBhvr additive="base">
                                        <p:cTn id="176" dur="550" fill="hold"/>
                                        <p:tgtEl>
                                          <p:spTgt spid="44"/>
                                        </p:tgtEl>
                                        <p:attrNameLst>
                                          <p:attrName>ppt_h</p:attrName>
                                        </p:attrNameLst>
                                      </p:cBhvr>
                                      <p:tavLst>
                                        <p:tav tm="0">
                                          <p:val>
                                            <p:strVal val="0"/>
                                          </p:val>
                                        </p:tav>
                                        <p:tav tm="100000">
                                          <p:val>
                                            <p:strVal val="#ppt_h"/>
                                          </p:val>
                                        </p:tav>
                                      </p:tavLst>
                                    </p:anim>
                                  </p:childTnLst>
                                </p:cTn>
                              </p:par>
                            </p:childTnLst>
                          </p:cTn>
                        </p:par>
                        <p:par>
                          <p:cTn id="177" fill="hold">
                            <p:stCondLst>
                              <p:cond delay="450"/>
                            </p:stCondLst>
                            <p:childTnLst>
                              <p:par>
                                <p:cTn id="178" presetID="10" presetClass="entr" presetSubtype="0"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Effect transition="in" filter="fade">
                                      <p:cBhvr>
                                        <p:cTn id="180" dur="550"/>
                                        <p:tgtEl>
                                          <p:spTgt spid="45"/>
                                        </p:tgtEl>
                                      </p:cBhvr>
                                    </p:animEffect>
                                  </p:childTnLst>
                                </p:cTn>
                              </p:par>
                            </p:childTnLst>
                          </p:cTn>
                        </p:par>
                        <p:par>
                          <p:cTn id="181" fill="hold">
                            <p:stCondLst>
                              <p:cond delay="550"/>
                            </p:stCondLst>
                            <p:childTnLst>
                              <p:par>
                                <p:cTn id="182" presetID="2" presetClass="entr" presetSubtype="8" fill="hold" grpId="0" nodeType="afterEffect">
                                  <p:stCondLst>
                                    <p:cond delay="0"/>
                                  </p:stCondLst>
                                  <p:childTnLst>
                                    <p:set>
                                      <p:cBhvr>
                                        <p:cTn id="183" dur="1" fill="hold">
                                          <p:stCondLst>
                                            <p:cond delay="0"/>
                                          </p:stCondLst>
                                        </p:cTn>
                                        <p:tgtEl>
                                          <p:spTgt spid="46"/>
                                        </p:tgtEl>
                                        <p:attrNameLst>
                                          <p:attrName>style.visibility</p:attrName>
                                        </p:attrNameLst>
                                      </p:cBhvr>
                                      <p:to>
                                        <p:strVal val="visible"/>
                                      </p:to>
                                    </p:set>
                                    <p:anim calcmode="lin" valueType="num">
                                      <p:cBhvr additive="base">
                                        <p:cTn id="185" dur="550" fill="hold"/>
                                        <p:tgtEl>
                                          <p:spTgt spid="46"/>
                                        </p:tgtEl>
                                        <p:attrNameLst>
                                          <p:attrName>ppt_x</p:attrName>
                                        </p:attrNameLst>
                                      </p:cBhvr>
                                      <p:tavLst>
                                        <p:tav tm="0">
                                          <p:val>
                                            <p:strVal val="0-#ppt_w/2"/>
                                          </p:val>
                                        </p:tav>
                                        <p:tav tm="100000">
                                          <p:val>
                                            <p:strVal val="#ppt_x"/>
                                          </p:val>
                                        </p:tav>
                                      </p:tavLst>
                                    </p:anim>
                                    <p:anim calcmode="lin" valueType="num">
                                      <p:cBhvr additive="base">
                                        <p:cTn id="186" dur="550" fill="hold"/>
                                        <p:tgtEl>
                                          <p:spTgt spid="46"/>
                                        </p:tgtEl>
                                        <p:attrNameLst>
                                          <p:attrName>ppt_y</p:attrName>
                                        </p:attrNameLst>
                                      </p:cBhvr>
                                      <p:tavLst>
                                        <p:tav tm="0">
                                          <p:val>
                                            <p:strVal val="#ppt_y"/>
                                          </p:val>
                                        </p:tav>
                                        <p:tav tm="100000">
                                          <p:val>
                                            <p:strVal val="#ppt_y"/>
                                          </p:val>
                                        </p:tav>
                                      </p:tavLst>
                                    </p:anim>
                                  </p:childTnLst>
                                </p:cTn>
                              </p:par>
                            </p:childTnLst>
                          </p:cTn>
                        </p:par>
                        <p:par>
                          <p:cTn id="187" fill="hold">
                            <p:stCondLst>
                              <p:cond delay="650"/>
                            </p:stCondLst>
                            <p:childTnLst>
                              <p:par>
                                <p:cTn id="188" presetID="22" presetClass="entr" presetSubtype="8" fill="hold" grpId="0" nodeType="afterEffect">
                                  <p:stCondLst>
                                    <p:cond delay="0"/>
                                  </p:stCondLst>
                                  <p:childTnLst>
                                    <p:set>
                                      <p:cBhvr>
                                        <p:cTn id="189" dur="1" fill="hold">
                                          <p:stCondLst>
                                            <p:cond delay="0"/>
                                          </p:stCondLst>
                                        </p:cTn>
                                        <p:tgtEl>
                                          <p:spTgt spid="47"/>
                                        </p:tgtEl>
                                        <p:attrNameLst>
                                          <p:attrName>style.visibility</p:attrName>
                                        </p:attrNameLst>
                                      </p:cBhvr>
                                      <p:to>
                                        <p:strVal val="visible"/>
                                      </p:to>
                                    </p:set>
                                    <p:animEffect transition="in" filter="wipe(left)">
                                      <p:cBhvr>
                                        <p:cTn id="191" dur="8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58</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8058ee55edef2eb4.jpg"/>
          <p:cNvPicPr>
            <a:picLocks noChangeAspect="1"/>
          </p:cNvPicPr>
          <p:nvPr/>
        </p:nvPicPr>
        <p:blipFill>
          <a:blip r:embed="rId2"/>
          <a:srcRect t="15021" b="15021"/>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42478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504780"/>
            <a:ext cx="50000" cy="1343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197652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1464780"/>
            <a:ext cx="5900000" cy="1423480"/>
          </a:xfrm>
          <a:prstGeom prst="rect">
            <a:avLst/>
          </a:prstGeom>
          <a:noFill/>
        </p:spPr>
        <p:txBody>
          <a:bodyPr wrap="square" anchor="ctr">
            <a:spAutoFit/>
          </a:bodyPr>
          <a:lstStyle/>
          <a:p>
            <a:r>
              <a:rPr sz="1400" b="0">
                <a:solidFill>
                  <a:srgbClr val="E8EEFA"/>
                </a:solidFill>
                <a:latin typeface="Segoe UI"/>
              </a:rPr>
              <a:t>set_epoch chaqirilmaydi. Natijada har epoxada bir xil aralashtirish, model sifati sezilarli pasayadi, lekin hech qanday xato chiqmaydi. Har doim sampler.set_epoch(epoch) ni epoxa boshida chaqiring.</a:t>
            </a:r>
          </a:p>
        </p:txBody>
      </p:sp>
      <p:sp>
        <p:nvSpPr>
          <p:cNvPr id="31" name="Rounded Rectangle 30"/>
          <p:cNvSpPr/>
          <p:nvPr/>
        </p:nvSpPr>
        <p:spPr>
          <a:xfrm>
            <a:off x="550000" y="303826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118260"/>
            <a:ext cx="50000" cy="13434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078260"/>
            <a:ext cx="5900000" cy="1423480"/>
          </a:xfrm>
          <a:prstGeom prst="rect">
            <a:avLst/>
          </a:prstGeom>
          <a:noFill/>
        </p:spPr>
        <p:txBody>
          <a:bodyPr wrap="square" anchor="ctr">
            <a:spAutoFit/>
          </a:bodyPr>
          <a:lstStyle/>
          <a:p>
            <a:r>
              <a:rPr sz="1400" b="0">
                <a:solidFill>
                  <a:srgbClr val="E8EEFA"/>
                </a:solidFill>
                <a:latin typeface="Segoe UI"/>
              </a:rPr>
              <a:t>O'rganish tezligi masshtablanmaydi. Global paket 4 baravar oshganda LR o'zgarmasa, yaqinlashish sekinlashadi; chiziqli qoida (lr  world_size) va 3–5 epoxali isitish standart amaliyot. Juda katta paketlarda (8k+) LARS/LAMB optimizatorlari kerak.</a:t>
            </a:r>
          </a:p>
        </p:txBody>
      </p:sp>
      <p:sp>
        <p:nvSpPr>
          <p:cNvPr id="35" name="Rounded Rectangle 34"/>
          <p:cNvSpPr/>
          <p:nvPr/>
        </p:nvSpPr>
        <p:spPr>
          <a:xfrm>
            <a:off x="550000" y="465174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0000" y="4731740"/>
            <a:ext cx="50000" cy="134348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0000" y="520348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8" name="TextBox 37"/>
          <p:cNvSpPr txBox="1"/>
          <p:nvPr/>
        </p:nvSpPr>
        <p:spPr>
          <a:xfrm>
            <a:off x="1300000" y="4691740"/>
            <a:ext cx="5900000" cy="1423480"/>
          </a:xfrm>
          <a:prstGeom prst="rect">
            <a:avLst/>
          </a:prstGeom>
          <a:noFill/>
        </p:spPr>
        <p:txBody>
          <a:bodyPr wrap="square" anchor="ctr">
            <a:spAutoFit/>
          </a:bodyPr>
          <a:lstStyle/>
          <a:p>
            <a:r>
              <a:rPr sz="1400" b="0">
                <a:solidFill>
                  <a:srgbClr val="E8EEFA"/>
                </a:solidFill>
                <a:latin typeface="Segoe UI"/>
              </a:rPr>
              <a:t>Barcha ranklar fayl yozadi yoki log chiqaradi. Checkpoint faqat rank == 0 da saqlanishi, print va TensorBoard yozuvlari ham faqat bitta rankdan bo'lishi kerak; aks holda fayl buziladi va loglar 4 baravar takrorlanadi.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par>
                          <p:cTn id="80" fill="hold">
                            <p:stCondLst>
                              <p:cond delay="750"/>
                            </p:stCondLst>
                            <p:childTnLst>
                              <p:par>
                                <p:cTn id="81" presetID="42"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50"/>
                                        <p:tgtEl>
                                          <p:spTgt spid="35"/>
                                        </p:tgtEl>
                                      </p:cBhvr>
                                    </p:animEffect>
                                    <p:anim calcmode="lin" valueType="num">
                                      <p:cBhvr additive="base">
                                        <p:cTn id="84" dur="550" fill="hold"/>
                                        <p:tgtEl>
                                          <p:spTgt spid="35"/>
                                        </p:tgtEl>
                                        <p:attrNameLst>
                                          <p:attrName>ppt_x</p:attrName>
                                        </p:attrNameLst>
                                      </p:cBhvr>
                                      <p:tavLst>
                                        <p:tav tm="0">
                                          <p:val>
                                            <p:strVal val="#ppt_x"/>
                                          </p:val>
                                        </p:tav>
                                        <p:tav tm="100000">
                                          <p:val>
                                            <p:strVal val="#ppt_x"/>
                                          </p:val>
                                        </p:tav>
                                      </p:tavLst>
                                    </p:anim>
                                    <p:anim calcmode="lin" valueType="num">
                                      <p:cBhvr additive="base">
                                        <p:cTn id="85" dur="550" fill="hold"/>
                                        <p:tgtEl>
                                          <p:spTgt spid="35"/>
                                        </p:tgtEl>
                                        <p:attrNameLst>
                                          <p:attrName>ppt_y</p:attrName>
                                        </p:attrNameLst>
                                      </p:cBhvr>
                                      <p:tavLst>
                                        <p:tav tm="0">
                                          <p:val>
                                            <p:strVal val="#ppt_y+.08"/>
                                          </p:val>
                                        </p:tav>
                                        <p:tav tm="100000">
                                          <p:val>
                                            <p:strVal val="#ppt_y"/>
                                          </p:val>
                                        </p:tav>
                                      </p:tavLst>
                                    </p:anim>
                                  </p:childTnLst>
                                </p:cTn>
                              </p:par>
                            </p:childTnLst>
                          </p:cTn>
                        </p:par>
                        <p:par>
                          <p:cTn id="86" fill="hold">
                            <p:stCondLst>
                              <p:cond delay="750"/>
                            </p:stCondLst>
                            <p:childTnLst>
                              <p:par>
                                <p:cTn id="87" presetID="42" presetClass="entr" presetSubtype="0" fill="hold" grpId="0" nodeType="after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50"/>
                                        <p:tgtEl>
                                          <p:spTgt spid="36"/>
                                        </p:tgtEl>
                                      </p:cBhvr>
                                    </p:animEffect>
                                    <p:anim calcmode="lin" valueType="num">
                                      <p:cBhvr additive="base">
                                        <p:cTn id="90" dur="550" fill="hold"/>
                                        <p:tgtEl>
                                          <p:spTgt spid="36"/>
                                        </p:tgtEl>
                                        <p:attrNameLst>
                                          <p:attrName>ppt_x</p:attrName>
                                        </p:attrNameLst>
                                      </p:cBhvr>
                                      <p:tavLst>
                                        <p:tav tm="0">
                                          <p:val>
                                            <p:strVal val="#ppt_x"/>
                                          </p:val>
                                        </p:tav>
                                        <p:tav tm="100000">
                                          <p:val>
                                            <p:strVal val="#ppt_x"/>
                                          </p:val>
                                        </p:tav>
                                      </p:tavLst>
                                    </p:anim>
                                    <p:anim calcmode="lin" valueType="num">
                                      <p:cBhvr additive="base">
                                        <p:cTn id="91" dur="550" fill="hold"/>
                                        <p:tgtEl>
                                          <p:spTgt spid="36"/>
                                        </p:tgtEl>
                                        <p:attrNameLst>
                                          <p:attrName>ppt_y</p:attrName>
                                        </p:attrNameLst>
                                      </p:cBhvr>
                                      <p:tavLst>
                                        <p:tav tm="0">
                                          <p:val>
                                            <p:strVal val="#ppt_y+.08"/>
                                          </p:val>
                                        </p:tav>
                                        <p:tav tm="100000">
                                          <p:val>
                                            <p:strVal val="#ppt_y"/>
                                          </p:val>
                                        </p:tav>
                                      </p:tavLst>
                                    </p:anim>
                                  </p:childTnLst>
                                </p:cTn>
                              </p:par>
                            </p:childTnLst>
                          </p:cTn>
                        </p:par>
                        <p:par>
                          <p:cTn id="92" fill="hold">
                            <p:stCondLst>
                              <p:cond delay="750"/>
                            </p:stCondLst>
                            <p:childTnLst>
                              <p:par>
                                <p:cTn id="93" presetID="53" presetClass="entr" presetSubtype="16" fill="hold" grpId="0" nodeType="after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50"/>
                                        <p:tgtEl>
                                          <p:spTgt spid="37"/>
                                        </p:tgtEl>
                                      </p:cBhvr>
                                    </p:animEffect>
                                    <p:anim calcmode="lin" valueType="num">
                                      <p:cBhvr additive="base">
                                        <p:cTn id="96" dur="550" fill="hold"/>
                                        <p:tgtEl>
                                          <p:spTgt spid="37"/>
                                        </p:tgtEl>
                                        <p:attrNameLst>
                                          <p:attrName>ppt_w</p:attrName>
                                        </p:attrNameLst>
                                      </p:cBhvr>
                                      <p:tavLst>
                                        <p:tav tm="0">
                                          <p:val>
                                            <p:strVal val="0"/>
                                          </p:val>
                                        </p:tav>
                                        <p:tav tm="100000">
                                          <p:val>
                                            <p:strVal val="#ppt_w"/>
                                          </p:val>
                                        </p:tav>
                                      </p:tavLst>
                                    </p:anim>
                                    <p:anim calcmode="lin" valueType="num">
                                      <p:cBhvr additive="base">
                                        <p:cTn id="97" dur="550" fill="hold"/>
                                        <p:tgtEl>
                                          <p:spTgt spid="37"/>
                                        </p:tgtEl>
                                        <p:attrNameLst>
                                          <p:attrName>ppt_h</p:attrName>
                                        </p:attrNameLst>
                                      </p:cBhvr>
                                      <p:tavLst>
                                        <p:tav tm="0">
                                          <p:val>
                                            <p:strVal val="0"/>
                                          </p:val>
                                        </p:tav>
                                        <p:tav tm="100000">
                                          <p:val>
                                            <p:strVal val="#ppt_h"/>
                                          </p:val>
                                        </p:tav>
                                      </p:tavLst>
                                    </p:anim>
                                  </p:childTnLst>
                                </p:cTn>
                              </p:par>
                            </p:childTnLst>
                          </p:cTn>
                        </p:par>
                        <p:par>
                          <p:cTn id="98" fill="hold">
                            <p:stCondLst>
                              <p:cond delay="750"/>
                            </p:stCondLst>
                            <p:childTnLst>
                              <p:par>
                                <p:cTn id="99" presetID="42" presetClass="entr" presetSubtype="0" fill="hold" grpId="0" nodeType="after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50"/>
                                        <p:tgtEl>
                                          <p:spTgt spid="38"/>
                                        </p:tgtEl>
                                      </p:cBhvr>
                                    </p:animEffect>
                                    <p:anim calcmode="lin" valueType="num">
                                      <p:cBhvr additive="base">
                                        <p:cTn id="102" dur="550" fill="hold"/>
                                        <p:tgtEl>
                                          <p:spTgt spid="38"/>
                                        </p:tgtEl>
                                        <p:attrNameLst>
                                          <p:attrName>ppt_x</p:attrName>
                                        </p:attrNameLst>
                                      </p:cBhvr>
                                      <p:tavLst>
                                        <p:tav tm="0">
                                          <p:val>
                                            <p:strVal val="#ppt_x"/>
                                          </p:val>
                                        </p:tav>
                                        <p:tav tm="100000">
                                          <p:val>
                                            <p:strVal val="#ppt_x"/>
                                          </p:val>
                                        </p:tav>
                                      </p:tavLst>
                                    </p:anim>
                                    <p:anim calcmode="lin" valueType="num">
                                      <p:cBhvr additive="base">
                                        <p:cTn id="103" dur="550" fill="hold"/>
                                        <p:tgtEl>
                                          <p:spTgt spid="3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59</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23152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311520"/>
            <a:ext cx="50000" cy="13434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78326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0" name="TextBox 29"/>
          <p:cNvSpPr txBox="1"/>
          <p:nvPr/>
        </p:nvSpPr>
        <p:spPr>
          <a:xfrm>
            <a:off x="1300000" y="2271520"/>
            <a:ext cx="5900000" cy="1423480"/>
          </a:xfrm>
          <a:prstGeom prst="rect">
            <a:avLst/>
          </a:prstGeom>
          <a:noFill/>
        </p:spPr>
        <p:txBody>
          <a:bodyPr wrap="square" anchor="ctr">
            <a:spAutoFit/>
          </a:bodyPr>
          <a:lstStyle/>
          <a:p>
            <a:r>
              <a:rPr sz="1400" b="0">
                <a:solidFill>
                  <a:srgbClr val="E8EEFA"/>
                </a:solidFill>
                <a:latin typeface="Segoe UI"/>
              </a:rPr>
              <a:t>DDP o'ramidan keyin model.module unutiladi. model.state_dict() DDP o'ramida module. prefiksi bilan saqlanadi; yuklashda mos kelmaslik xatosi chiqadi. model.module.state_dict() ni saqlang yoki yuklashda prefiksni olib tashlang.</a:t>
            </a:r>
          </a:p>
        </p:txBody>
      </p:sp>
      <p:sp>
        <p:nvSpPr>
          <p:cNvPr id="31" name="Rounded Rectangle 30"/>
          <p:cNvSpPr/>
          <p:nvPr/>
        </p:nvSpPr>
        <p:spPr>
          <a:xfrm>
            <a:off x="550000" y="384500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3434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39674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4" name="TextBox 33"/>
          <p:cNvSpPr txBox="1"/>
          <p:nvPr/>
        </p:nvSpPr>
        <p:spPr>
          <a:xfrm>
            <a:off x="1300000" y="3885000"/>
            <a:ext cx="5900000" cy="1423480"/>
          </a:xfrm>
          <a:prstGeom prst="rect">
            <a:avLst/>
          </a:prstGeom>
          <a:noFill/>
        </p:spPr>
        <p:txBody>
          <a:bodyPr wrap="square" anchor="ctr">
            <a:spAutoFit/>
          </a:bodyPr>
          <a:lstStyle/>
          <a:p>
            <a:r>
              <a:rPr sz="1500" b="1">
                <a:solidFill>
                  <a:srgbClr val="E8EEFA"/>
                </a:solidFill>
                <a:latin typeface="Segoe UI"/>
              </a:rPr>
              <a:t>GPU vaqtini time.time() bilan sinxronlashsiz o'lchash. CUDA asinxron.</a:t>
            </a:r>
          </a:p>
          <a:p>
            <a:pPr>
              <a:spcBef>
                <a:spcPts val="400"/>
              </a:spcBef>
            </a:pPr>
            <a:r>
              <a:rPr sz="1400">
                <a:solidFill>
                  <a:srgbClr val="AEBBD9"/>
                </a:solidFill>
                <a:latin typeface="Segoe UI"/>
              </a:rPr>
              <a:t>Torch.cuda.synchronize() siz o'lchov faqat kernel navbatga qo'yilgan vaqtni ko'rsatadi. Barcha o'lchovlardan oldin va keyin sinxronlang, isitish iteratsiyalarini chiqarib tashlang.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60</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14f53225cfc5ce25.jpg"/>
          <p:cNvPicPr>
            <a:picLocks noChangeAspect="1"/>
          </p:cNvPicPr>
          <p:nvPr/>
        </p:nvPicPr>
        <p:blipFill>
          <a:blip r:embed="rId2"/>
          <a:srcRect l="18062" r="18062"/>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842128"/>
            <a:ext cx="50000" cy="181287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548564"/>
            <a:ext cx="400000" cy="40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31" name="TextBox 30"/>
          <p:cNvSpPr txBox="1"/>
          <p:nvPr/>
        </p:nvSpPr>
        <p:spPr>
          <a:xfrm>
            <a:off x="1300000" y="1802128"/>
            <a:ext cx="5900000" cy="1892872"/>
          </a:xfrm>
          <a:prstGeom prst="rect">
            <a:avLst/>
          </a:prstGeom>
          <a:noFill/>
        </p:spPr>
        <p:txBody>
          <a:bodyPr wrap="square" anchor="ctr">
            <a:spAutoFit/>
          </a:bodyPr>
          <a:lstStyle/>
          <a:p>
            <a:r>
              <a:rPr sz="1400" b="0">
                <a:solidFill>
                  <a:srgbClr val="E8EEFA"/>
                </a:solidFill>
                <a:latin typeface="Segoe UI"/>
              </a:rPr>
              <a:t>Osilib qolgan (hang) jarayonlar. Bir rankda istisno chiqsa, boshqalar all-reduce'da abadiy kutadi. torchrun bu holatni aniqlab, barcha jarayonlarni to'xtatadi, lekin qo'lda mp.spawn ishlatganda timeout va NCCL_ASYNC_ERROR_HANDLING=1 sozlang. Shartli kod yo'llari (if rank == 0: dist.all_reduce(...)) hech qachon yozilmasin — kollektivlar barcha ranklarda chaqirilishi shart.</a:t>
            </a:r>
          </a:p>
        </p:txBody>
      </p:sp>
      <p:sp>
        <p:nvSpPr>
          <p:cNvPr id="32" name="Rounded Rectangle 31"/>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81287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63143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07</a:t>
            </a:r>
          </a:p>
        </p:txBody>
      </p:sp>
      <p:sp>
        <p:nvSpPr>
          <p:cNvPr id="35" name="TextBox 34"/>
          <p:cNvSpPr txBox="1"/>
          <p:nvPr/>
        </p:nvSpPr>
        <p:spPr>
          <a:xfrm>
            <a:off x="1300000" y="3885000"/>
            <a:ext cx="5900000" cy="1892872"/>
          </a:xfrm>
          <a:prstGeom prst="rect">
            <a:avLst/>
          </a:prstGeom>
          <a:noFill/>
        </p:spPr>
        <p:txBody>
          <a:bodyPr wrap="square" anchor="ctr">
            <a:spAutoFit/>
          </a:bodyPr>
          <a:lstStyle/>
          <a:p>
            <a:r>
              <a:rPr sz="1400" b="0">
                <a:solidFill>
                  <a:srgbClr val="E8EEFA"/>
                </a:solidFill>
                <a:latin typeface="Segoe UI"/>
              </a:rPr>
              <a:t>NCCL noto'g'ri interfeysni tanlaydi. Ikki tugunli ishga tushirishda Docker ko'prigi yoki VPN interfeysi tanlansa, tezlik 100 baravar pasayadi. NCCL_DEBUG=INFO bilan tekshiring, NCCL_SOCKET_IFNAME ni aniq ko'rsating.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61</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bb7e281db7959a7e.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Carlo Nardone from Roma, Italy · Wikimedia Commons · CC BY-SA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795656"/>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875656"/>
            <a:ext cx="50000" cy="177934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5653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08</a:t>
            </a:r>
          </a:p>
        </p:txBody>
      </p:sp>
      <p:sp>
        <p:nvSpPr>
          <p:cNvPr id="31" name="TextBox 30"/>
          <p:cNvSpPr txBox="1"/>
          <p:nvPr/>
        </p:nvSpPr>
        <p:spPr>
          <a:xfrm>
            <a:off x="1300000" y="1835656"/>
            <a:ext cx="5900000" cy="1859344"/>
          </a:xfrm>
          <a:prstGeom prst="rect">
            <a:avLst/>
          </a:prstGeom>
          <a:noFill/>
        </p:spPr>
        <p:txBody>
          <a:bodyPr wrap="square" anchor="ctr">
            <a:spAutoFit/>
          </a:bodyPr>
          <a:lstStyle/>
          <a:p>
            <a:r>
              <a:rPr sz="1600" b="0">
                <a:solidFill>
                  <a:srgbClr val="E8EEFA"/>
                </a:solidFill>
                <a:latin typeface="Segoe UI"/>
              </a:rPr>
              <a:t>Ma'lumotlar quvuri bottleneck. GPU bandligi past bo'lsa, num_workers ni oshiring, tasvirlarni oldindan o'lchamini o'zgartirib saqlang, NVIDIA DALI yoki FFCV kabi tezlatilgan yuklovchilarni sinang. Taqsimlangan tizimda bu muammo GPU soniga proporsional kuchayadi.</a:t>
            </a:r>
          </a:p>
        </p:txBody>
      </p:sp>
      <p:sp>
        <p:nvSpPr>
          <p:cNvPr id="32" name="Rounded Rectangle 31"/>
          <p:cNvSpPr/>
          <p:nvPr/>
        </p:nvSpPr>
        <p:spPr>
          <a:xfrm>
            <a:off x="550000" y="3845000"/>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77934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614672"/>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09</a:t>
            </a:r>
          </a:p>
        </p:txBody>
      </p:sp>
      <p:sp>
        <p:nvSpPr>
          <p:cNvPr id="35" name="TextBox 34"/>
          <p:cNvSpPr txBox="1"/>
          <p:nvPr/>
        </p:nvSpPr>
        <p:spPr>
          <a:xfrm>
            <a:off x="1300000" y="3885000"/>
            <a:ext cx="5900000" cy="1859344"/>
          </a:xfrm>
          <a:prstGeom prst="rect">
            <a:avLst/>
          </a:prstGeom>
          <a:noFill/>
        </p:spPr>
        <p:txBody>
          <a:bodyPr wrap="square" anchor="ctr">
            <a:spAutoFit/>
          </a:bodyPr>
          <a:lstStyle/>
          <a:p>
            <a:r>
              <a:rPr sz="1600" b="0">
                <a:solidFill>
                  <a:srgbClr val="E8EEFA"/>
                </a:solidFill>
                <a:latin typeface="Segoe UI"/>
              </a:rPr>
              <a:t>Takrorlanuvchanlik. Har o'lchovni kamida 3 marta takrorlang, median qiymatni keltiring; GPU chastotasi va harorati (nvidia-smi -q -d CLOCK) o'lchovlar orasida farq qilishi mumkin.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LABORATORIYA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Virtual laboratoriya va kodlar</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A5 · Taqsimlangan sun'iy intellekt tizimlarini ishlab chiqish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62</a:t>
            </a:r>
          </a:p>
        </p:txBody>
      </p:sp>
      <p:sp>
        <p:nvSpPr>
          <p:cNvPr id="26" name="Rounded Rectangle 25"/>
          <p:cNvSpPr/>
          <p:nvPr/>
        </p:nvSpPr>
        <p:spPr>
          <a:xfrm>
            <a:off x="8150000" y="1450000"/>
            <a:ext cx="3500000" cy="3500000"/>
          </a:xfrm>
          <a:prstGeom prst="roundRect">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2"/>
          <a:stretch>
            <a:fillRect/>
          </a:stretch>
        </p:blipFill>
        <p:spPr>
          <a:xfrm>
            <a:off x="8300000" y="1600000"/>
            <a:ext cx="3200000" cy="3200000"/>
          </a:xfrm>
          <a:prstGeom prst="rect">
            <a:avLst/>
          </a:prstGeom>
        </p:spPr>
      </p:pic>
      <p:sp>
        <p:nvSpPr>
          <p:cNvPr id="28" name="TextBox 27"/>
          <p:cNvSpPr txBox="1"/>
          <p:nvPr/>
        </p:nvSpPr>
        <p:spPr>
          <a:xfrm>
            <a:off x="600000" y="1500000"/>
            <a:ext cx="7300000" cy="4600000"/>
          </a:xfrm>
          <a:prstGeom prst="rect">
            <a:avLst/>
          </a:prstGeom>
          <a:noFill/>
        </p:spPr>
        <p:txBody>
          <a:bodyPr wrap="square" anchor="t" lIns="50800" rIns="50800">
            <a:spAutoFit/>
          </a:bodyPr>
          <a:lstStyle/>
          <a:p>
            <a:pPr algn="l"/>
            <a:r>
              <a:rPr sz="1800" b="0">
                <a:solidFill>
                  <a:srgbClr val="E8EEFA"/>
                </a:solidFill>
                <a:latin typeface="Segoe UI"/>
              </a:rPr>
              <a:t>Saytda bajarish: https://aiscan.airi.uz/ktm/ → Mavzular → A5 → 🧪 Virtual bajarish (7 bosqich)</a:t>
            </a:r>
          </a:p>
          <a:p>
            <a:pPr algn="l"/>
            <a:r>
              <a:rPr sz="1800" b="0">
                <a:solidFill>
                  <a:srgbClr val="E8EEFA"/>
                </a:solidFill>
                <a:latin typeface="Segoe UI"/>
              </a:rPr>
              <a:t>Kodlarni ko‘chirib olish — QR kod yoki:</a:t>
            </a:r>
          </a:p>
          <a:p>
            <a:pPr algn="l"/>
            <a:r>
              <a:rPr sz="1800" b="0">
                <a:solidFill>
                  <a:srgbClr val="E8EEFA"/>
                </a:solidFill>
                <a:latin typeface="Segoe UI"/>
              </a:rPr>
              <a:t>git clone https://github.com/sayka7/ktm_labs.git</a:t>
            </a:r>
          </a:p>
          <a:p>
            <a:pPr algn="l"/>
            <a:r>
              <a:rPr sz="1800" b="0">
                <a:solidFill>
                  <a:srgbClr val="E8EEFA"/>
                </a:solidFill>
                <a:latin typeface="Segoe UI"/>
              </a:rPr>
              <a:t>Mustaqil topshiriq: 20 variantdan o‘zingizniki (jurnal raqami bo‘yicha)</a:t>
            </a:r>
          </a:p>
          <a:p>
            <a:pPr algn="l"/>
            <a:r>
              <a:rPr sz="1800" b="0">
                <a:solidFill>
                  <a:srgbClr val="E8EEFA"/>
                </a:solidFill>
                <a:latin typeface="Segoe U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350"/>
                            </p:stCondLst>
                            <p:childTnLst>
                              <p:par>
                                <p:cTn id="25" presetID="42"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anim calcmode="lin" valueType="num">
                                      <p:cBhvr additive="base">
                                        <p:cTn id="28" dur="550" fill="hold"/>
                                        <p:tgtEl>
                                          <p:spTgt spid="28"/>
                                        </p:tgtEl>
                                        <p:attrNameLst>
                                          <p:attrName>ppt_x</p:attrName>
                                        </p:attrNameLst>
                                      </p:cBhvr>
                                      <p:tavLst>
                                        <p:tav tm="0">
                                          <p:val>
                                            <p:strVal val="#ppt_x"/>
                                          </p:val>
                                        </p:tav>
                                        <p:tav tm="100000">
                                          <p:val>
                                            <p:strVal val="#ppt_x"/>
                                          </p:val>
                                        </p:tav>
                                      </p:tavLst>
                                    </p:anim>
                                    <p:anim calcmode="lin" valueType="num">
                                      <p:cBhvr additive="base">
                                        <p:cTn id="29"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8"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0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0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0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0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0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0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0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0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5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5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5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45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45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5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5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45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45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45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45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5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45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45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5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5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45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45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5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45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45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45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0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0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0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0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0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0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10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0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0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0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10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0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0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0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100000" y="766666"/>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10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10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610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75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75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75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75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75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75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75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75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75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75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7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3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3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3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030000" y="658571"/>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030000" y="887142"/>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030000" y="1115714"/>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030000" y="1344285"/>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030000" y="1572857"/>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30000" y="1801428"/>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6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6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6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13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13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3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0000" y="2500000"/>
            <a:ext cx="10800000" cy="1100000"/>
          </a:xfrm>
          <a:prstGeom prst="rect">
            <a:avLst/>
          </a:prstGeom>
          <a:noFill/>
        </p:spPr>
        <p:txBody>
          <a:bodyPr wrap="square" anchor="t" lIns="50800" rIns="50800">
            <a:spAutoFit/>
          </a:bodyPr>
          <a:lstStyle/>
          <a:p>
            <a:pPr algn="ctr"/>
            <a:r>
              <a:rPr sz="4400" b="1">
                <a:solidFill>
                  <a:srgbClr val="E8EEFA"/>
                </a:solidFill>
                <a:latin typeface="Segoe UI"/>
              </a:rPr>
              <a:t>E’tiboringiz uchun rahmat!</a:t>
            </a:r>
          </a:p>
        </p:txBody>
      </p:sp>
      <p:sp>
        <p:nvSpPr>
          <p:cNvPr id="90" name="Rectangle 89"/>
          <p:cNvSpPr/>
          <p:nvPr/>
        </p:nvSpPr>
        <p:spPr>
          <a:xfrm>
            <a:off x="4800000" y="3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0000" y="3850000"/>
            <a:ext cx="10800000" cy="500000"/>
          </a:xfrm>
          <a:prstGeom prst="rect">
            <a:avLst/>
          </a:prstGeom>
          <a:noFill/>
        </p:spPr>
        <p:txBody>
          <a:bodyPr wrap="square" anchor="t" lIns="50800" rIns="50800">
            <a:spAutoFit/>
          </a:bodyPr>
          <a:lstStyle/>
          <a:p>
            <a:pPr algn="ctr"/>
            <a:r>
              <a:rPr sz="2600" b="1">
                <a:solidFill>
                  <a:srgbClr val="22D3EE"/>
                </a:solidFill>
                <a:latin typeface="Segoe UI"/>
              </a:rPr>
              <a:t>Savollar?</a:t>
            </a:r>
          </a:p>
        </p:txBody>
      </p:sp>
      <p:sp>
        <p:nvSpPr>
          <p:cNvPr id="92" name="TextBox 91"/>
          <p:cNvSpPr txBox="1"/>
          <p:nvPr/>
        </p:nvSpPr>
        <p:spPr>
          <a:xfrm>
            <a:off x="1200000" y="4800000"/>
            <a:ext cx="9800000" cy="800000"/>
          </a:xfrm>
          <a:prstGeom prst="rect">
            <a:avLst/>
          </a:prstGeom>
          <a:noFill/>
        </p:spPr>
        <p:txBody>
          <a:bodyPr wrap="square" anchor="t" lIns="50800" rIns="50800">
            <a:spAutoFit/>
          </a:bodyPr>
          <a:lstStyle/>
          <a:p>
            <a:pPr algn="ctr"/>
            <a:r>
              <a:rPr sz="1400" b="0">
                <a:solidFill>
                  <a:srgbClr val="AEBBD9"/>
                </a:solidFill>
                <a:latin typeface="Segoe UI"/>
              </a:rPr>
              <a:t>Mavzu matni va materiallar: https://aiscan.airi.uz/ktm/#/c/mis2104/mavzu/A5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0"/>
                            </p:stCondLst>
                            <p:childTnLst>
                              <p:par>
                                <p:cTn id="236" presetID="10" presetClass="entr" presetSubtype="0" fill="hold" grpId="0" nodeType="afterEffect">
                                  <p:stCondLst>
                                    <p:cond delay="0"/>
                                  </p:stCondLst>
                                  <p:childTnLst>
                                    <p:set>
                                      <p:cBhvr>
                                        <p:cTn id="237" dur="1" fill="hold">
                                          <p:stCondLst>
                                            <p:cond delay="0"/>
                                          </p:stCondLst>
                                        </p:cTn>
                                        <p:tgtEl>
                                          <p:spTgt spid="61"/>
                                        </p:tgtEl>
                                        <p:attrNameLst>
                                          <p:attrName>style.visibility</p:attrName>
                                        </p:attrNameLst>
                                      </p:cBhvr>
                                      <p:to>
                                        <p:strVal val="visible"/>
                                      </p:to>
                                    </p:set>
                                    <p:animEffect transition="in" filter="fade">
                                      <p:cBhvr>
                                        <p:cTn id="238" dur="550"/>
                                        <p:tgtEl>
                                          <p:spTgt spid="61"/>
                                        </p:tgtEl>
                                      </p:cBhvr>
                                    </p:animEffect>
                                  </p:childTnLst>
                                </p:cTn>
                              </p:par>
                            </p:childTnLst>
                          </p:cTn>
                        </p:par>
                        <p:par>
                          <p:cTn id="239" fill="hold">
                            <p:stCondLst>
                              <p:cond delay="0"/>
                            </p:stCondLst>
                            <p:childTnLst>
                              <p:par>
                                <p:cTn id="240" presetID="10" presetClass="entr" presetSubtype="0" fill="hold" grpId="0" nodeType="afterEffect">
                                  <p:stCondLst>
                                    <p:cond delay="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550"/>
                                        <p:tgtEl>
                                          <p:spTgt spid="62"/>
                                        </p:tgtEl>
                                      </p:cBhvr>
                                    </p:animEffect>
                                  </p:childTnLst>
                                </p:cTn>
                              </p:par>
                            </p:childTnLst>
                          </p:cTn>
                        </p:par>
                        <p:par>
                          <p:cTn id="243" fill="hold">
                            <p:stCondLst>
                              <p:cond delay="0"/>
                            </p:stCondLst>
                            <p:childTnLst>
                              <p:par>
                                <p:cTn id="244" presetID="10" presetClass="entr" presetSubtype="0" fill="hold" grpId="0" nodeType="after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fade">
                                      <p:cBhvr>
                                        <p:cTn id="246" dur="550"/>
                                        <p:tgtEl>
                                          <p:spTgt spid="63"/>
                                        </p:tgtEl>
                                      </p:cBhvr>
                                    </p:animEffect>
                                  </p:childTnLst>
                                </p:cTn>
                              </p:par>
                            </p:childTnLst>
                          </p:cTn>
                        </p:par>
                        <p:par>
                          <p:cTn id="247" fill="hold">
                            <p:stCondLst>
                              <p:cond delay="0"/>
                            </p:stCondLst>
                            <p:childTnLst>
                              <p:par>
                                <p:cTn id="248" presetID="10" presetClass="entr" presetSubtype="0" fill="hold" grpId="0" nodeType="after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fade">
                                      <p:cBhvr>
                                        <p:cTn id="250" dur="550"/>
                                        <p:tgtEl>
                                          <p:spTgt spid="64"/>
                                        </p:tgtEl>
                                      </p:cBhvr>
                                    </p:animEffect>
                                  </p:childTnLst>
                                </p:cTn>
                              </p:par>
                            </p:childTnLst>
                          </p:cTn>
                        </p:par>
                        <p:par>
                          <p:cTn id="251" fill="hold">
                            <p:stCondLst>
                              <p:cond delay="0"/>
                            </p:stCondLst>
                            <p:childTnLst>
                              <p:par>
                                <p:cTn id="252" presetID="10" presetClass="entr" presetSubtype="0" fill="hold" grpId="0" nodeType="afterEffect">
                                  <p:stCondLst>
                                    <p:cond delay="0"/>
                                  </p:stCondLst>
                                  <p:childTnLst>
                                    <p:set>
                                      <p:cBhvr>
                                        <p:cTn id="253" dur="1" fill="hold">
                                          <p:stCondLst>
                                            <p:cond delay="0"/>
                                          </p:stCondLst>
                                        </p:cTn>
                                        <p:tgtEl>
                                          <p:spTgt spid="65"/>
                                        </p:tgtEl>
                                        <p:attrNameLst>
                                          <p:attrName>style.visibility</p:attrName>
                                        </p:attrNameLst>
                                      </p:cBhvr>
                                      <p:to>
                                        <p:strVal val="visible"/>
                                      </p:to>
                                    </p:set>
                                    <p:animEffect transition="in" filter="fade">
                                      <p:cBhvr>
                                        <p:cTn id="254" dur="550"/>
                                        <p:tgtEl>
                                          <p:spTgt spid="65"/>
                                        </p:tgtEl>
                                      </p:cBhvr>
                                    </p:animEffect>
                                  </p:childTnLst>
                                </p:cTn>
                              </p:par>
                            </p:childTnLst>
                          </p:cTn>
                        </p:par>
                        <p:par>
                          <p:cTn id="255"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66"/>
                                        </p:tgtEl>
                                        <p:attrNameLst>
                                          <p:attrName>style.visibility</p:attrName>
                                        </p:attrNameLst>
                                      </p:cBhvr>
                                      <p:to>
                                        <p:strVal val="visible"/>
                                      </p:to>
                                    </p:set>
                                    <p:animEffect transition="in" filter="fade">
                                      <p:cBhvr>
                                        <p:cTn id="258" dur="550"/>
                                        <p:tgtEl>
                                          <p:spTgt spid="66"/>
                                        </p:tgtEl>
                                      </p:cBhvr>
                                    </p:animEffect>
                                  </p:childTnLst>
                                </p:cTn>
                              </p:par>
                            </p:childTnLst>
                          </p:cTn>
                        </p:par>
                        <p:par>
                          <p:cTn id="259" fill="hold">
                            <p:stCondLst>
                              <p:cond delay="0"/>
                            </p:stCondLst>
                            <p:childTnLst>
                              <p:par>
                                <p:cTn id="260" presetID="10" presetClass="entr" presetSubtype="0" fill="hold" grpId="0" nodeType="afterEffect">
                                  <p:stCondLst>
                                    <p:cond delay="0"/>
                                  </p:stCondLst>
                                  <p:childTnLst>
                                    <p:set>
                                      <p:cBhvr>
                                        <p:cTn id="261" dur="1" fill="hold">
                                          <p:stCondLst>
                                            <p:cond delay="0"/>
                                          </p:stCondLst>
                                        </p:cTn>
                                        <p:tgtEl>
                                          <p:spTgt spid="67"/>
                                        </p:tgtEl>
                                        <p:attrNameLst>
                                          <p:attrName>style.visibility</p:attrName>
                                        </p:attrNameLst>
                                      </p:cBhvr>
                                      <p:to>
                                        <p:strVal val="visible"/>
                                      </p:to>
                                    </p:set>
                                    <p:animEffect transition="in" filter="fade">
                                      <p:cBhvr>
                                        <p:cTn id="262" dur="550"/>
                                        <p:tgtEl>
                                          <p:spTgt spid="67"/>
                                        </p:tgtEl>
                                      </p:cBhvr>
                                    </p:animEffect>
                                  </p:childTnLst>
                                </p:cTn>
                              </p:par>
                            </p:childTnLst>
                          </p:cTn>
                        </p:par>
                        <p:par>
                          <p:cTn id="263" fill="hold">
                            <p:stCondLst>
                              <p:cond delay="0"/>
                            </p:stCondLst>
                            <p:childTnLst>
                              <p:par>
                                <p:cTn id="264" presetID="10" presetClass="entr" presetSubtype="0" fill="hold" grpId="0" nodeType="afterEffect">
                                  <p:stCondLst>
                                    <p:cond delay="0"/>
                                  </p:stCondLst>
                                  <p:childTnLst>
                                    <p:set>
                                      <p:cBhvr>
                                        <p:cTn id="265" dur="1" fill="hold">
                                          <p:stCondLst>
                                            <p:cond delay="0"/>
                                          </p:stCondLst>
                                        </p:cTn>
                                        <p:tgtEl>
                                          <p:spTgt spid="68"/>
                                        </p:tgtEl>
                                        <p:attrNameLst>
                                          <p:attrName>style.visibility</p:attrName>
                                        </p:attrNameLst>
                                      </p:cBhvr>
                                      <p:to>
                                        <p:strVal val="visible"/>
                                      </p:to>
                                    </p:set>
                                    <p:animEffect transition="in" filter="fade">
                                      <p:cBhvr>
                                        <p:cTn id="266" dur="550"/>
                                        <p:tgtEl>
                                          <p:spTgt spid="68"/>
                                        </p:tgtEl>
                                      </p:cBhvr>
                                    </p:animEffect>
                                  </p:childTnLst>
                                </p:cTn>
                              </p:par>
                            </p:childTnLst>
                          </p:cTn>
                        </p:par>
                        <p:par>
                          <p:cTn id="267" fill="hold">
                            <p:stCondLst>
                              <p:cond delay="0"/>
                            </p:stCondLst>
                            <p:childTnLst>
                              <p:par>
                                <p:cTn id="268" presetID="10" presetClass="entr" presetSubtype="0" fill="hold" grpId="0" nodeType="afterEffect">
                                  <p:stCondLst>
                                    <p:cond delay="0"/>
                                  </p:stCondLst>
                                  <p:childTnLst>
                                    <p:set>
                                      <p:cBhvr>
                                        <p:cTn id="269" dur="1" fill="hold">
                                          <p:stCondLst>
                                            <p:cond delay="0"/>
                                          </p:stCondLst>
                                        </p:cTn>
                                        <p:tgtEl>
                                          <p:spTgt spid="69"/>
                                        </p:tgtEl>
                                        <p:attrNameLst>
                                          <p:attrName>style.visibility</p:attrName>
                                        </p:attrNameLst>
                                      </p:cBhvr>
                                      <p:to>
                                        <p:strVal val="visible"/>
                                      </p:to>
                                    </p:set>
                                    <p:animEffect transition="in" filter="fade">
                                      <p:cBhvr>
                                        <p:cTn id="270" dur="550"/>
                                        <p:tgtEl>
                                          <p:spTgt spid="69"/>
                                        </p:tgtEl>
                                      </p:cBhvr>
                                    </p:animEffect>
                                  </p:childTnLst>
                                </p:cTn>
                              </p:par>
                            </p:childTnLst>
                          </p:cTn>
                        </p:par>
                        <p:par>
                          <p:cTn id="271" fill="hold">
                            <p:stCondLst>
                              <p:cond delay="0"/>
                            </p:stCondLst>
                            <p:childTnLst>
                              <p:par>
                                <p:cTn id="272" presetID="10" presetClass="entr" presetSubtype="0" fill="hold" grpId="0" nodeType="afterEffect">
                                  <p:stCondLst>
                                    <p:cond delay="0"/>
                                  </p:stCondLst>
                                  <p:childTnLst>
                                    <p:set>
                                      <p:cBhvr>
                                        <p:cTn id="273" dur="1" fill="hold">
                                          <p:stCondLst>
                                            <p:cond delay="0"/>
                                          </p:stCondLst>
                                        </p:cTn>
                                        <p:tgtEl>
                                          <p:spTgt spid="70"/>
                                        </p:tgtEl>
                                        <p:attrNameLst>
                                          <p:attrName>style.visibility</p:attrName>
                                        </p:attrNameLst>
                                      </p:cBhvr>
                                      <p:to>
                                        <p:strVal val="visible"/>
                                      </p:to>
                                    </p:set>
                                    <p:animEffect transition="in" filter="fade">
                                      <p:cBhvr>
                                        <p:cTn id="274" dur="550"/>
                                        <p:tgtEl>
                                          <p:spTgt spid="70"/>
                                        </p:tgtEl>
                                      </p:cBhvr>
                                    </p:animEffect>
                                  </p:childTnLst>
                                </p:cTn>
                              </p:par>
                            </p:childTnLst>
                          </p:cTn>
                        </p:par>
                        <p:par>
                          <p:cTn id="275" fill="hold">
                            <p:stCondLst>
                              <p:cond delay="0"/>
                            </p:stCondLst>
                            <p:childTnLst>
                              <p:par>
                                <p:cTn id="276" presetID="10" presetClass="entr" presetSubtype="0" fill="hold" grpId="0" nodeType="afterEffect">
                                  <p:stCondLst>
                                    <p:cond delay="0"/>
                                  </p:stCondLst>
                                  <p:childTnLst>
                                    <p:set>
                                      <p:cBhvr>
                                        <p:cTn id="277" dur="1" fill="hold">
                                          <p:stCondLst>
                                            <p:cond delay="0"/>
                                          </p:stCondLst>
                                        </p:cTn>
                                        <p:tgtEl>
                                          <p:spTgt spid="71"/>
                                        </p:tgtEl>
                                        <p:attrNameLst>
                                          <p:attrName>style.visibility</p:attrName>
                                        </p:attrNameLst>
                                      </p:cBhvr>
                                      <p:to>
                                        <p:strVal val="visible"/>
                                      </p:to>
                                    </p:set>
                                    <p:animEffect transition="in" filter="fade">
                                      <p:cBhvr>
                                        <p:cTn id="278" dur="550"/>
                                        <p:tgtEl>
                                          <p:spTgt spid="71"/>
                                        </p:tgtEl>
                                      </p:cBhvr>
                                    </p:animEffect>
                                  </p:childTnLst>
                                </p:cTn>
                              </p:par>
                            </p:childTnLst>
                          </p:cTn>
                        </p:par>
                        <p:par>
                          <p:cTn id="279" fill="hold">
                            <p:stCondLst>
                              <p:cond delay="0"/>
                            </p:stCondLst>
                            <p:childTnLst>
                              <p:par>
                                <p:cTn id="280" presetID="10" presetClass="entr" presetSubtype="0" fill="hold" grpId="0" nodeType="afterEffect">
                                  <p:stCondLst>
                                    <p:cond delay="0"/>
                                  </p:stCondLst>
                                  <p:childTnLst>
                                    <p:set>
                                      <p:cBhvr>
                                        <p:cTn id="281" dur="1" fill="hold">
                                          <p:stCondLst>
                                            <p:cond delay="0"/>
                                          </p:stCondLst>
                                        </p:cTn>
                                        <p:tgtEl>
                                          <p:spTgt spid="72"/>
                                        </p:tgtEl>
                                        <p:attrNameLst>
                                          <p:attrName>style.visibility</p:attrName>
                                        </p:attrNameLst>
                                      </p:cBhvr>
                                      <p:to>
                                        <p:strVal val="visible"/>
                                      </p:to>
                                    </p:set>
                                    <p:animEffect transition="in" filter="fade">
                                      <p:cBhvr>
                                        <p:cTn id="282" dur="550"/>
                                        <p:tgtEl>
                                          <p:spTgt spid="72"/>
                                        </p:tgtEl>
                                      </p:cBhvr>
                                    </p:animEffect>
                                  </p:childTnLst>
                                </p:cTn>
                              </p:par>
                            </p:childTnLst>
                          </p:cTn>
                        </p:par>
                        <p:par>
                          <p:cTn id="283" fill="hold">
                            <p:stCondLst>
                              <p:cond delay="0"/>
                            </p:stCondLst>
                            <p:childTnLst>
                              <p:par>
                                <p:cTn id="284" presetID="10" presetClass="entr" presetSubtype="0" fill="hold" grpId="0" nodeType="afterEffect">
                                  <p:stCondLst>
                                    <p:cond delay="0"/>
                                  </p:stCondLst>
                                  <p:childTnLst>
                                    <p:set>
                                      <p:cBhvr>
                                        <p:cTn id="285" dur="1" fill="hold">
                                          <p:stCondLst>
                                            <p:cond delay="0"/>
                                          </p:stCondLst>
                                        </p:cTn>
                                        <p:tgtEl>
                                          <p:spTgt spid="73"/>
                                        </p:tgtEl>
                                        <p:attrNameLst>
                                          <p:attrName>style.visibility</p:attrName>
                                        </p:attrNameLst>
                                      </p:cBhvr>
                                      <p:to>
                                        <p:strVal val="visible"/>
                                      </p:to>
                                    </p:set>
                                    <p:animEffect transition="in" filter="fade">
                                      <p:cBhvr>
                                        <p:cTn id="286" dur="550"/>
                                        <p:tgtEl>
                                          <p:spTgt spid="73"/>
                                        </p:tgtEl>
                                      </p:cBhvr>
                                    </p:animEffect>
                                  </p:childTnLst>
                                </p:cTn>
                              </p:par>
                            </p:childTnLst>
                          </p:cTn>
                        </p:par>
                        <p:par>
                          <p:cTn id="287" fill="hold">
                            <p:stCondLst>
                              <p:cond delay="0"/>
                            </p:stCondLst>
                            <p:childTnLst>
                              <p:par>
                                <p:cTn id="288" presetID="10" presetClass="entr" presetSubtype="0" fill="hold" grpId="0" nodeType="afterEffect">
                                  <p:stCondLst>
                                    <p:cond delay="0"/>
                                  </p:stCondLst>
                                  <p:childTnLst>
                                    <p:set>
                                      <p:cBhvr>
                                        <p:cTn id="289" dur="1" fill="hold">
                                          <p:stCondLst>
                                            <p:cond delay="0"/>
                                          </p:stCondLst>
                                        </p:cTn>
                                        <p:tgtEl>
                                          <p:spTgt spid="74"/>
                                        </p:tgtEl>
                                        <p:attrNameLst>
                                          <p:attrName>style.visibility</p:attrName>
                                        </p:attrNameLst>
                                      </p:cBhvr>
                                      <p:to>
                                        <p:strVal val="visible"/>
                                      </p:to>
                                    </p:set>
                                    <p:animEffect transition="in" filter="fade">
                                      <p:cBhvr>
                                        <p:cTn id="290" dur="550"/>
                                        <p:tgtEl>
                                          <p:spTgt spid="74"/>
                                        </p:tgtEl>
                                      </p:cBhvr>
                                    </p:animEffect>
                                  </p:childTnLst>
                                </p:cTn>
                              </p:par>
                            </p:childTnLst>
                          </p:cTn>
                        </p:par>
                        <p:par>
                          <p:cTn id="291" fill="hold">
                            <p:stCondLst>
                              <p:cond delay="0"/>
                            </p:stCondLst>
                            <p:childTnLst>
                              <p:par>
                                <p:cTn id="292" presetID="10" presetClass="entr" presetSubtype="0" fill="hold" grpId="0" nodeType="afterEffect">
                                  <p:stCondLst>
                                    <p:cond delay="0"/>
                                  </p:stCondLst>
                                  <p:childTnLst>
                                    <p:set>
                                      <p:cBhvr>
                                        <p:cTn id="293" dur="1" fill="hold">
                                          <p:stCondLst>
                                            <p:cond delay="0"/>
                                          </p:stCondLst>
                                        </p:cTn>
                                        <p:tgtEl>
                                          <p:spTgt spid="75"/>
                                        </p:tgtEl>
                                        <p:attrNameLst>
                                          <p:attrName>style.visibility</p:attrName>
                                        </p:attrNameLst>
                                      </p:cBhvr>
                                      <p:to>
                                        <p:strVal val="visible"/>
                                      </p:to>
                                    </p:set>
                                    <p:animEffect transition="in" filter="fade">
                                      <p:cBhvr>
                                        <p:cTn id="294" dur="550"/>
                                        <p:tgtEl>
                                          <p:spTgt spid="75"/>
                                        </p:tgtEl>
                                      </p:cBhvr>
                                    </p:animEffect>
                                  </p:childTnLst>
                                </p:cTn>
                              </p:par>
                            </p:childTnLst>
                          </p:cTn>
                        </p:par>
                        <p:par>
                          <p:cTn id="295" fill="hold">
                            <p:stCondLst>
                              <p:cond delay="0"/>
                            </p:stCondLst>
                            <p:childTnLst>
                              <p:par>
                                <p:cTn id="296" presetID="10" presetClass="entr" presetSubtype="0" fill="hold" grpId="0" nodeType="afterEffect">
                                  <p:stCondLst>
                                    <p:cond delay="0"/>
                                  </p:stCondLst>
                                  <p:childTnLst>
                                    <p:set>
                                      <p:cBhvr>
                                        <p:cTn id="297" dur="1" fill="hold">
                                          <p:stCondLst>
                                            <p:cond delay="0"/>
                                          </p:stCondLst>
                                        </p:cTn>
                                        <p:tgtEl>
                                          <p:spTgt spid="76"/>
                                        </p:tgtEl>
                                        <p:attrNameLst>
                                          <p:attrName>style.visibility</p:attrName>
                                        </p:attrNameLst>
                                      </p:cBhvr>
                                      <p:to>
                                        <p:strVal val="visible"/>
                                      </p:to>
                                    </p:set>
                                    <p:animEffect transition="in" filter="fade">
                                      <p:cBhvr>
                                        <p:cTn id="298" dur="550"/>
                                        <p:tgtEl>
                                          <p:spTgt spid="76"/>
                                        </p:tgtEl>
                                      </p:cBhvr>
                                    </p:animEffect>
                                  </p:childTnLst>
                                </p:cTn>
                              </p:par>
                            </p:childTnLst>
                          </p:cTn>
                        </p:par>
                        <p:par>
                          <p:cTn id="299" fill="hold">
                            <p:stCondLst>
                              <p:cond delay="0"/>
                            </p:stCondLst>
                            <p:childTnLst>
                              <p:par>
                                <p:cTn id="300" presetID="10" presetClass="entr" presetSubtype="0" fill="hold" grpId="0" nodeType="afterEffect">
                                  <p:stCondLst>
                                    <p:cond delay="0"/>
                                  </p:stCondLst>
                                  <p:childTnLst>
                                    <p:set>
                                      <p:cBhvr>
                                        <p:cTn id="301" dur="1" fill="hold">
                                          <p:stCondLst>
                                            <p:cond delay="0"/>
                                          </p:stCondLst>
                                        </p:cTn>
                                        <p:tgtEl>
                                          <p:spTgt spid="77"/>
                                        </p:tgtEl>
                                        <p:attrNameLst>
                                          <p:attrName>style.visibility</p:attrName>
                                        </p:attrNameLst>
                                      </p:cBhvr>
                                      <p:to>
                                        <p:strVal val="visible"/>
                                      </p:to>
                                    </p:set>
                                    <p:animEffect transition="in" filter="fade">
                                      <p:cBhvr>
                                        <p:cTn id="302" dur="550"/>
                                        <p:tgtEl>
                                          <p:spTgt spid="77"/>
                                        </p:tgtEl>
                                      </p:cBhvr>
                                    </p:animEffect>
                                  </p:childTnLst>
                                </p:cTn>
                              </p:par>
                            </p:childTnLst>
                          </p:cTn>
                        </p:par>
                        <p:par>
                          <p:cTn id="303" fill="hold">
                            <p:stCondLst>
                              <p:cond delay="0"/>
                            </p:stCondLst>
                            <p:childTnLst>
                              <p:par>
                                <p:cTn id="304" presetID="10" presetClass="entr" presetSubtype="0" fill="hold" grpId="0" nodeType="afterEffect">
                                  <p:stCondLst>
                                    <p:cond delay="0"/>
                                  </p:stCondLst>
                                  <p:childTnLst>
                                    <p:set>
                                      <p:cBhvr>
                                        <p:cTn id="305" dur="1" fill="hold">
                                          <p:stCondLst>
                                            <p:cond delay="0"/>
                                          </p:stCondLst>
                                        </p:cTn>
                                        <p:tgtEl>
                                          <p:spTgt spid="78"/>
                                        </p:tgtEl>
                                        <p:attrNameLst>
                                          <p:attrName>style.visibility</p:attrName>
                                        </p:attrNameLst>
                                      </p:cBhvr>
                                      <p:to>
                                        <p:strVal val="visible"/>
                                      </p:to>
                                    </p:set>
                                    <p:animEffect transition="in" filter="fade">
                                      <p:cBhvr>
                                        <p:cTn id="306" dur="550"/>
                                        <p:tgtEl>
                                          <p:spTgt spid="78"/>
                                        </p:tgtEl>
                                      </p:cBhvr>
                                    </p:animEffect>
                                  </p:childTnLst>
                                </p:cTn>
                              </p:par>
                            </p:childTnLst>
                          </p:cTn>
                        </p:par>
                        <p:par>
                          <p:cTn id="307" fill="hold">
                            <p:stCondLst>
                              <p:cond delay="0"/>
                            </p:stCondLst>
                            <p:childTnLst>
                              <p:par>
                                <p:cTn id="308" presetID="10" presetClass="entr" presetSubtype="0" fill="hold" grpId="0" nodeType="afterEffect">
                                  <p:stCondLst>
                                    <p:cond delay="0"/>
                                  </p:stCondLst>
                                  <p:childTnLst>
                                    <p:set>
                                      <p:cBhvr>
                                        <p:cTn id="309" dur="1" fill="hold">
                                          <p:stCondLst>
                                            <p:cond delay="0"/>
                                          </p:stCondLst>
                                        </p:cTn>
                                        <p:tgtEl>
                                          <p:spTgt spid="79"/>
                                        </p:tgtEl>
                                        <p:attrNameLst>
                                          <p:attrName>style.visibility</p:attrName>
                                        </p:attrNameLst>
                                      </p:cBhvr>
                                      <p:to>
                                        <p:strVal val="visible"/>
                                      </p:to>
                                    </p:set>
                                    <p:animEffect transition="in" filter="fade">
                                      <p:cBhvr>
                                        <p:cTn id="310" dur="550"/>
                                        <p:tgtEl>
                                          <p:spTgt spid="79"/>
                                        </p:tgtEl>
                                      </p:cBhvr>
                                    </p:animEffect>
                                  </p:childTnLst>
                                </p:cTn>
                              </p:par>
                            </p:childTnLst>
                          </p:cTn>
                        </p:par>
                        <p:par>
                          <p:cTn id="311" fill="hold">
                            <p:stCondLst>
                              <p:cond delay="0"/>
                            </p:stCondLst>
                            <p:childTnLst>
                              <p:par>
                                <p:cTn id="312" presetID="10" presetClass="entr" presetSubtype="0" fill="hold" grpId="0" nodeType="afterEffect">
                                  <p:stCondLst>
                                    <p:cond delay="0"/>
                                  </p:stCondLst>
                                  <p:childTnLst>
                                    <p:set>
                                      <p:cBhvr>
                                        <p:cTn id="313" dur="1" fill="hold">
                                          <p:stCondLst>
                                            <p:cond delay="0"/>
                                          </p:stCondLst>
                                        </p:cTn>
                                        <p:tgtEl>
                                          <p:spTgt spid="80"/>
                                        </p:tgtEl>
                                        <p:attrNameLst>
                                          <p:attrName>style.visibility</p:attrName>
                                        </p:attrNameLst>
                                      </p:cBhvr>
                                      <p:to>
                                        <p:strVal val="visible"/>
                                      </p:to>
                                    </p:set>
                                    <p:animEffect transition="in" filter="fade">
                                      <p:cBhvr>
                                        <p:cTn id="314" dur="550"/>
                                        <p:tgtEl>
                                          <p:spTgt spid="80"/>
                                        </p:tgtEl>
                                      </p:cBhvr>
                                    </p:animEffect>
                                  </p:childTnLst>
                                </p:cTn>
                              </p:par>
                            </p:childTnLst>
                          </p:cTn>
                        </p:par>
                        <p:par>
                          <p:cTn id="315" fill="hold">
                            <p:stCondLst>
                              <p:cond delay="0"/>
                            </p:stCondLst>
                            <p:childTnLst>
                              <p:par>
                                <p:cTn id="316" presetID="10" presetClass="entr" presetSubtype="0" fill="hold" grpId="0" nodeType="afterEffect">
                                  <p:stCondLst>
                                    <p:cond delay="0"/>
                                  </p:stCondLst>
                                  <p:childTnLst>
                                    <p:set>
                                      <p:cBhvr>
                                        <p:cTn id="317" dur="1" fill="hold">
                                          <p:stCondLst>
                                            <p:cond delay="0"/>
                                          </p:stCondLst>
                                        </p:cTn>
                                        <p:tgtEl>
                                          <p:spTgt spid="81"/>
                                        </p:tgtEl>
                                        <p:attrNameLst>
                                          <p:attrName>style.visibility</p:attrName>
                                        </p:attrNameLst>
                                      </p:cBhvr>
                                      <p:to>
                                        <p:strVal val="visible"/>
                                      </p:to>
                                    </p:set>
                                    <p:animEffect transition="in" filter="fade">
                                      <p:cBhvr>
                                        <p:cTn id="318" dur="550"/>
                                        <p:tgtEl>
                                          <p:spTgt spid="81"/>
                                        </p:tgtEl>
                                      </p:cBhvr>
                                    </p:animEffect>
                                  </p:childTnLst>
                                </p:cTn>
                              </p:par>
                            </p:childTnLst>
                          </p:cTn>
                        </p:par>
                        <p:par>
                          <p:cTn id="319" fill="hold">
                            <p:stCondLst>
                              <p:cond delay="0"/>
                            </p:stCondLst>
                            <p:childTnLst>
                              <p:par>
                                <p:cTn id="320" presetID="10" presetClass="entr" presetSubtype="0" fill="hold" grpId="0" nodeType="afterEffect">
                                  <p:stCondLst>
                                    <p:cond delay="0"/>
                                  </p:stCondLst>
                                  <p:childTnLst>
                                    <p:set>
                                      <p:cBhvr>
                                        <p:cTn id="321" dur="1" fill="hold">
                                          <p:stCondLst>
                                            <p:cond delay="0"/>
                                          </p:stCondLst>
                                        </p:cTn>
                                        <p:tgtEl>
                                          <p:spTgt spid="82"/>
                                        </p:tgtEl>
                                        <p:attrNameLst>
                                          <p:attrName>style.visibility</p:attrName>
                                        </p:attrNameLst>
                                      </p:cBhvr>
                                      <p:to>
                                        <p:strVal val="visible"/>
                                      </p:to>
                                    </p:set>
                                    <p:animEffect transition="in" filter="fade">
                                      <p:cBhvr>
                                        <p:cTn id="322" dur="550"/>
                                        <p:tgtEl>
                                          <p:spTgt spid="82"/>
                                        </p:tgtEl>
                                      </p:cBhvr>
                                    </p:animEffect>
                                  </p:childTnLst>
                                </p:cTn>
                              </p:par>
                            </p:childTnLst>
                          </p:cTn>
                        </p:par>
                        <p:par>
                          <p:cTn id="323" fill="hold">
                            <p:stCondLst>
                              <p:cond delay="0"/>
                            </p:stCondLst>
                            <p:childTnLst>
                              <p:par>
                                <p:cTn id="324" presetID="10" presetClass="entr" presetSubtype="0" fill="hold" grpId="0" nodeType="afterEffect">
                                  <p:stCondLst>
                                    <p:cond delay="0"/>
                                  </p:stCondLst>
                                  <p:childTnLst>
                                    <p:set>
                                      <p:cBhvr>
                                        <p:cTn id="325" dur="1" fill="hold">
                                          <p:stCondLst>
                                            <p:cond delay="0"/>
                                          </p:stCondLst>
                                        </p:cTn>
                                        <p:tgtEl>
                                          <p:spTgt spid="83"/>
                                        </p:tgtEl>
                                        <p:attrNameLst>
                                          <p:attrName>style.visibility</p:attrName>
                                        </p:attrNameLst>
                                      </p:cBhvr>
                                      <p:to>
                                        <p:strVal val="visible"/>
                                      </p:to>
                                    </p:set>
                                    <p:animEffect transition="in" filter="fade">
                                      <p:cBhvr>
                                        <p:cTn id="326" dur="550"/>
                                        <p:tgtEl>
                                          <p:spTgt spid="83"/>
                                        </p:tgtEl>
                                      </p:cBhvr>
                                    </p:animEffect>
                                  </p:childTnLst>
                                </p:cTn>
                              </p:par>
                            </p:childTnLst>
                          </p:cTn>
                        </p:par>
                        <p:par>
                          <p:cTn id="327" fill="hold">
                            <p:stCondLst>
                              <p:cond delay="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50"/>
                                        <p:tgtEl>
                                          <p:spTgt spid="84"/>
                                        </p:tgtEl>
                                      </p:cBhvr>
                                    </p:animEffect>
                                  </p:childTnLst>
                                </p:cTn>
                              </p:par>
                            </p:childTnLst>
                          </p:cTn>
                        </p:par>
                        <p:par>
                          <p:cTn id="331" fill="hold">
                            <p:stCondLst>
                              <p:cond delay="0"/>
                            </p:stCondLst>
                            <p:childTnLst>
                              <p:par>
                                <p:cTn id="332" presetID="10" presetClass="entr" presetSubtype="0" fill="hold" grpId="0" nodeType="afterEffect">
                                  <p:stCondLst>
                                    <p:cond delay="0"/>
                                  </p:stCondLst>
                                  <p:childTnLst>
                                    <p:set>
                                      <p:cBhvr>
                                        <p:cTn id="333" dur="1" fill="hold">
                                          <p:stCondLst>
                                            <p:cond delay="0"/>
                                          </p:stCondLst>
                                        </p:cTn>
                                        <p:tgtEl>
                                          <p:spTgt spid="85"/>
                                        </p:tgtEl>
                                        <p:attrNameLst>
                                          <p:attrName>style.visibility</p:attrName>
                                        </p:attrNameLst>
                                      </p:cBhvr>
                                      <p:to>
                                        <p:strVal val="visible"/>
                                      </p:to>
                                    </p:set>
                                    <p:animEffect transition="in" filter="fade">
                                      <p:cBhvr>
                                        <p:cTn id="334" dur="550"/>
                                        <p:tgtEl>
                                          <p:spTgt spid="85"/>
                                        </p:tgtEl>
                                      </p:cBhvr>
                                    </p:animEffect>
                                  </p:childTnLst>
                                </p:cTn>
                              </p:par>
                            </p:childTnLst>
                          </p:cTn>
                        </p:par>
                        <p:par>
                          <p:cTn id="335" fill="hold">
                            <p:stCondLst>
                              <p:cond delay="0"/>
                            </p:stCondLst>
                            <p:childTnLst>
                              <p:par>
                                <p:cTn id="336" presetID="10" presetClass="entr" presetSubtype="0" fill="hold" grpId="0" nodeType="afterEffect">
                                  <p:stCondLst>
                                    <p:cond delay="0"/>
                                  </p:stCondLst>
                                  <p:childTnLst>
                                    <p:set>
                                      <p:cBhvr>
                                        <p:cTn id="337" dur="1" fill="hold">
                                          <p:stCondLst>
                                            <p:cond delay="0"/>
                                          </p:stCondLst>
                                        </p:cTn>
                                        <p:tgtEl>
                                          <p:spTgt spid="86"/>
                                        </p:tgtEl>
                                        <p:attrNameLst>
                                          <p:attrName>style.visibility</p:attrName>
                                        </p:attrNameLst>
                                      </p:cBhvr>
                                      <p:to>
                                        <p:strVal val="visible"/>
                                      </p:to>
                                    </p:set>
                                    <p:animEffect transition="in" filter="fade">
                                      <p:cBhvr>
                                        <p:cTn id="338" dur="550"/>
                                        <p:tgtEl>
                                          <p:spTgt spid="86"/>
                                        </p:tgtEl>
                                      </p:cBhvr>
                                    </p:animEffect>
                                  </p:childTnLst>
                                </p:cTn>
                              </p:par>
                            </p:childTnLst>
                          </p:cTn>
                        </p:par>
                        <p:par>
                          <p:cTn id="339" fill="hold">
                            <p:stCondLst>
                              <p:cond delay="0"/>
                            </p:stCondLst>
                            <p:childTnLst>
                              <p:par>
                                <p:cTn id="340" presetID="10" presetClass="entr" presetSubtype="0" fill="hold" grpId="0" nodeType="afterEffect">
                                  <p:stCondLst>
                                    <p:cond delay="0"/>
                                  </p:stCondLst>
                                  <p:childTnLst>
                                    <p:set>
                                      <p:cBhvr>
                                        <p:cTn id="341" dur="1" fill="hold">
                                          <p:stCondLst>
                                            <p:cond delay="0"/>
                                          </p:stCondLst>
                                        </p:cTn>
                                        <p:tgtEl>
                                          <p:spTgt spid="87"/>
                                        </p:tgtEl>
                                        <p:attrNameLst>
                                          <p:attrName>style.visibility</p:attrName>
                                        </p:attrNameLst>
                                      </p:cBhvr>
                                      <p:to>
                                        <p:strVal val="visible"/>
                                      </p:to>
                                    </p:set>
                                    <p:animEffect transition="in" filter="fade">
                                      <p:cBhvr>
                                        <p:cTn id="342" dur="550"/>
                                        <p:tgtEl>
                                          <p:spTgt spid="87"/>
                                        </p:tgtEl>
                                      </p:cBhvr>
                                    </p:animEffect>
                                  </p:childTnLst>
                                </p:cTn>
                              </p:par>
                            </p:childTnLst>
                          </p:cTn>
                        </p:par>
                        <p:par>
                          <p:cTn id="343" fill="hold">
                            <p:stCondLst>
                              <p:cond delay="0"/>
                            </p:stCondLst>
                            <p:childTnLst>
                              <p:par>
                                <p:cTn id="344" presetID="10" presetClass="entr" presetSubtype="0" fill="hold" grpId="0" nodeType="afterEffect">
                                  <p:stCondLst>
                                    <p:cond delay="0"/>
                                  </p:stCondLst>
                                  <p:childTnLst>
                                    <p:set>
                                      <p:cBhvr>
                                        <p:cTn id="345" dur="1" fill="hold">
                                          <p:stCondLst>
                                            <p:cond delay="0"/>
                                          </p:stCondLst>
                                        </p:cTn>
                                        <p:tgtEl>
                                          <p:spTgt spid="88"/>
                                        </p:tgtEl>
                                        <p:attrNameLst>
                                          <p:attrName>style.visibility</p:attrName>
                                        </p:attrNameLst>
                                      </p:cBhvr>
                                      <p:to>
                                        <p:strVal val="visible"/>
                                      </p:to>
                                    </p:set>
                                    <p:animEffect transition="in" filter="fade">
                                      <p:cBhvr>
                                        <p:cTn id="346" dur="550"/>
                                        <p:tgtEl>
                                          <p:spTgt spid="88"/>
                                        </p:tgtEl>
                                      </p:cBhvr>
                                    </p:animEffect>
                                  </p:childTnLst>
                                </p:cTn>
                              </p:par>
                            </p:childTnLst>
                          </p:cTn>
                        </p:par>
                        <p:par>
                          <p:cTn id="347" fill="hold">
                            <p:stCondLst>
                              <p:cond delay="200"/>
                            </p:stCondLst>
                            <p:childTnLst>
                              <p:par>
                                <p:cTn id="348" presetID="53" presetClass="entr" presetSubtype="16" fill="hold" grpId="0" nodeType="afterEffect">
                                  <p:stCondLst>
                                    <p:cond delay="0"/>
                                  </p:stCondLst>
                                  <p:childTnLst>
                                    <p:set>
                                      <p:cBhvr>
                                        <p:cTn id="349" dur="1" fill="hold">
                                          <p:stCondLst>
                                            <p:cond delay="0"/>
                                          </p:stCondLst>
                                        </p:cTn>
                                        <p:tgtEl>
                                          <p:spTgt spid="89"/>
                                        </p:tgtEl>
                                        <p:attrNameLst>
                                          <p:attrName>style.visibility</p:attrName>
                                        </p:attrNameLst>
                                      </p:cBhvr>
                                      <p:to>
                                        <p:strVal val="visible"/>
                                      </p:to>
                                    </p:set>
                                    <p:animEffect transition="in" filter="fade">
                                      <p:cBhvr>
                                        <p:cTn id="350" dur="550"/>
                                        <p:tgtEl>
                                          <p:spTgt spid="89"/>
                                        </p:tgtEl>
                                      </p:cBhvr>
                                    </p:animEffect>
                                    <p:anim calcmode="lin" valueType="num">
                                      <p:cBhvr additive="base">
                                        <p:cTn id="351" dur="550" fill="hold"/>
                                        <p:tgtEl>
                                          <p:spTgt spid="89"/>
                                        </p:tgtEl>
                                        <p:attrNameLst>
                                          <p:attrName>ppt_w</p:attrName>
                                        </p:attrNameLst>
                                      </p:cBhvr>
                                      <p:tavLst>
                                        <p:tav tm="0">
                                          <p:val>
                                            <p:strVal val="0"/>
                                          </p:val>
                                        </p:tav>
                                        <p:tav tm="100000">
                                          <p:val>
                                            <p:strVal val="#ppt_w"/>
                                          </p:val>
                                        </p:tav>
                                      </p:tavLst>
                                    </p:anim>
                                    <p:anim calcmode="lin" valueType="num">
                                      <p:cBhvr additive="base">
                                        <p:cTn id="352" dur="550" fill="hold"/>
                                        <p:tgtEl>
                                          <p:spTgt spid="89"/>
                                        </p:tgtEl>
                                        <p:attrNameLst>
                                          <p:attrName>ppt_h</p:attrName>
                                        </p:attrNameLst>
                                      </p:cBhvr>
                                      <p:tavLst>
                                        <p:tav tm="0">
                                          <p:val>
                                            <p:strVal val="0"/>
                                          </p:val>
                                        </p:tav>
                                        <p:tav tm="100000">
                                          <p:val>
                                            <p:strVal val="#ppt_h"/>
                                          </p:val>
                                        </p:tav>
                                      </p:tavLst>
                                    </p:anim>
                                  </p:childTnLst>
                                </p:cTn>
                              </p:par>
                            </p:childTnLst>
                          </p:cTn>
                        </p:par>
                        <p:par>
                          <p:cTn id="353" fill="hold">
                            <p:stCondLst>
                              <p:cond delay="350"/>
                            </p:stCondLst>
                            <p:childTnLst>
                              <p:par>
                                <p:cTn id="354" presetID="22" presetClass="entr" presetSubtype="8" fill="hold" grpId="0" nodeType="afterEffect">
                                  <p:stCondLst>
                                    <p:cond delay="0"/>
                                  </p:stCondLst>
                                  <p:childTnLst>
                                    <p:set>
                                      <p:cBhvr>
                                        <p:cTn id="355" dur="1" fill="hold">
                                          <p:stCondLst>
                                            <p:cond delay="0"/>
                                          </p:stCondLst>
                                        </p:cTn>
                                        <p:tgtEl>
                                          <p:spTgt spid="90"/>
                                        </p:tgtEl>
                                        <p:attrNameLst>
                                          <p:attrName>style.visibility</p:attrName>
                                        </p:attrNameLst>
                                      </p:cBhvr>
                                      <p:to>
                                        <p:strVal val="visible"/>
                                      </p:to>
                                    </p:set>
                                    <p:animEffect transition="in" filter="wipe(left)">
                                      <p:cBhvr>
                                        <p:cTn id="357" dur="800"/>
                                        <p:tgtEl>
                                          <p:spTgt spid="90"/>
                                        </p:tgtEl>
                                      </p:cBhvr>
                                    </p:animEffect>
                                  </p:childTnLst>
                                </p:cTn>
                              </p:par>
                            </p:childTnLst>
                          </p:cTn>
                        </p:par>
                        <p:par>
                          <p:cTn id="358" fill="hold">
                            <p:stCondLst>
                              <p:cond delay="500"/>
                            </p:stCondLst>
                            <p:childTnLst>
                              <p:par>
                                <p:cTn id="359" presetID="42" presetClass="entr" presetSubtype="0" fill="hold" grpId="0" nodeType="afterEffect">
                                  <p:stCondLst>
                                    <p:cond delay="0"/>
                                  </p:stCondLst>
                                  <p:childTnLst>
                                    <p:set>
                                      <p:cBhvr>
                                        <p:cTn id="360" dur="1" fill="hold">
                                          <p:stCondLst>
                                            <p:cond delay="0"/>
                                          </p:stCondLst>
                                        </p:cTn>
                                        <p:tgtEl>
                                          <p:spTgt spid="91"/>
                                        </p:tgtEl>
                                        <p:attrNameLst>
                                          <p:attrName>style.visibility</p:attrName>
                                        </p:attrNameLst>
                                      </p:cBhvr>
                                      <p:to>
                                        <p:strVal val="visible"/>
                                      </p:to>
                                    </p:set>
                                    <p:animEffect transition="in" filter="fade">
                                      <p:cBhvr>
                                        <p:cTn id="361" dur="550"/>
                                        <p:tgtEl>
                                          <p:spTgt spid="91"/>
                                        </p:tgtEl>
                                      </p:cBhvr>
                                    </p:animEffect>
                                    <p:anim calcmode="lin" valueType="num">
                                      <p:cBhvr additive="base">
                                        <p:cTn id="362" dur="550" fill="hold"/>
                                        <p:tgtEl>
                                          <p:spTgt spid="91"/>
                                        </p:tgtEl>
                                        <p:attrNameLst>
                                          <p:attrName>ppt_x</p:attrName>
                                        </p:attrNameLst>
                                      </p:cBhvr>
                                      <p:tavLst>
                                        <p:tav tm="0">
                                          <p:val>
                                            <p:strVal val="#ppt_x"/>
                                          </p:val>
                                        </p:tav>
                                        <p:tav tm="100000">
                                          <p:val>
                                            <p:strVal val="#ppt_x"/>
                                          </p:val>
                                        </p:tav>
                                      </p:tavLst>
                                    </p:anim>
                                    <p:anim calcmode="lin" valueType="num">
                                      <p:cBhvr additive="base">
                                        <p:cTn id="363" dur="550" fill="hold"/>
                                        <p:tgtEl>
                                          <p:spTgt spid="91"/>
                                        </p:tgtEl>
                                        <p:attrNameLst>
                                          <p:attrName>ppt_y</p:attrName>
                                        </p:attrNameLst>
                                      </p:cBhvr>
                                      <p:tavLst>
                                        <p:tav tm="0">
                                          <p:val>
                                            <p:strVal val="#ppt_y+.08"/>
                                          </p:val>
                                        </p:tav>
                                        <p:tav tm="100000">
                                          <p:val>
                                            <p:strVal val="#ppt_y"/>
                                          </p:val>
                                        </p:tav>
                                      </p:tavLst>
                                    </p:anim>
                                  </p:childTnLst>
                                </p:cTn>
                              </p:par>
                            </p:childTnLst>
                          </p:cTn>
                        </p:par>
                        <p:par>
                          <p:cTn id="364" fill="hold">
                            <p:stCondLst>
                              <p:cond delay="650"/>
                            </p:stCondLst>
                            <p:childTnLst>
                              <p:par>
                                <p:cTn id="365" presetID="10" presetClass="entr" presetSubtype="0" fill="hold" grpId="0" nodeType="afterEffect">
                                  <p:stCondLst>
                                    <p:cond delay="0"/>
                                  </p:stCondLst>
                                  <p:childTnLst>
                                    <p:set>
                                      <p:cBhvr>
                                        <p:cTn id="366" dur="1" fill="hold">
                                          <p:stCondLst>
                                            <p:cond delay="0"/>
                                          </p:stCondLst>
                                        </p:cTn>
                                        <p:tgtEl>
                                          <p:spTgt spid="92"/>
                                        </p:tgtEl>
                                        <p:attrNameLst>
                                          <p:attrName>style.visibility</p:attrName>
                                        </p:attrNameLst>
                                      </p:cBhvr>
                                      <p:to>
                                        <p:strVal val="visible"/>
                                      </p:to>
                                    </p:set>
                                    <p:animEffect transition="in" filter="fade">
                                      <p:cBhvr>
                                        <p:cTn id="367" dur="55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
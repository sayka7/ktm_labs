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Ushbu amaliy mashg'ulotning maqsadi — magistrantlarda bitta hisoblash qurilmasi doirasidan chiqib, bir nechta GPU yoki bir nechta tugun (node) ustida ishlaydigan taqsimlangan sun'iy intellekt tizimini mustaqil yig'ish, ishga tushirish va uning samaradorligini miqdoriy baholash ko'nikmasini shakllantirishdir. Mashg'ulot yakunida talaba quyidagilarga qodir bo'ladi:</a:t>
            </a:r>
          </a:p>
          <a:p/>
          <a:p>
            <a:r>
              <a:t>PyTorch Distributed (torch.distributed) kutubxonasi va torchrun ishga tushirgichi yordamida ma'lumotlar parallelligi (Distributed Data Parallel, DDP) asosida ko'p GPU'li o'qitish skriptini yozish, jarayonlar guruhini (process group) to'g'ri boshlash va yakunlash.</a:t>
            </a:r>
          </a:p>
          <a:p/>
          <a:p>
            <a:r>
              <a:t>Ray va MPI (Message Passing Interface) yondashuvlarining DDP'dan farqini tushuntirish va berilgan masala uchun qaysi birini tanlashni asoslash.</a:t>
            </a:r>
          </a:p>
          <a:p/>
          <a:p>
            <a:r>
              <a:t>Kuchli va kuchsiz masshtablash (strong/weak scaling) tushunchalarini ajratish, masshtablash samaradorligi (scaling efficiency) koeffitsiyentini hisoblash va natijalarni jadval ko'rinishida rasmiylashtirish.</a:t>
            </a:r>
          </a:p>
          <a:p/>
          <a:p>
            <a:r>
              <a:t>Taqsimlangan inferens (parallel inference) uchun ma'lumotlarni bo'lib yuborish (sharding) va natijalarni yig'ish (all-gather) sxemasini amalga oshirish, o'tkazuvchanlik (throughput) va kechikish (latency) ko'rsatkichlarini o'lchash.</a:t>
            </a:r>
          </a:p>
          <a:p/>
          <a:p>
            <a:r>
              <a:t>Kommunikatsiya xarajatlari, sinxronizatsiya nuqtalari va to'g'ri bo'lmagan konfiguratsiya tufayli yuzaga keladigan tipik muammolarni aniqlash va bartaraf etish.</a:t>
            </a:r>
          </a:p>
          <a:p/>
          <a:p>
            <a:r>
              <a:t>Mavzu fanning TN3 (parallel va taqsimlangan hisoblash texnologiyalarini qo'llash), TN5 (AI tizimlarini bulutli va klasterli infratuzilmaga joylashtirish) va TN6 (unumdorlikni o'lchash, tahlil qilish va optimallashtirish) o'rganish natijalariga bevosita xizmat qiladi; shuningdek, M3 va M7 ma'ruzalarida berilgan nazariy bilimlarni amaliyotda mustahkamlaydi.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Ushbu amaliy mashg'ulotning maqsadi — magistrantlarda bitta hisoblash qurilmasi doirasidan chiqib, bir nechta GPU yoki bir nechta tugun (node) ustida ishlaydigan taqsimlangan sun'iy intellekt tizimini mustaqil yig'ish, ishga tushirish va uning samaradorligini miqdoriy baholash ko'nikmasini shakllantirishdir. Mashg'ulot yakunida talaba quyidagilarga qodir bo'ladi:</a:t>
            </a:r>
          </a:p>
          <a:p/>
          <a:p>
            <a:r>
              <a:t>PyTorch Distributed (torch.distributed) kutubxonasi va torchrun ishga tushirgichi yordamida ma'lumotlar parallelligi (Distributed Data Parallel, DDP) asosida ko'p GPU'li o'qitish skriptini yozish, jarayonlar guruhini (process group) to'g'ri boshlash va yakunlash.</a:t>
            </a:r>
          </a:p>
          <a:p/>
          <a:p>
            <a:r>
              <a:t>Ray va MPI (Message Passing Interface) yondashuvlarining DDP'dan farqini tushuntirish va berilgan masala uchun qaysi birini tanlashni asoslash.</a:t>
            </a:r>
          </a:p>
          <a:p/>
          <a:p>
            <a:r>
              <a:t>Kuchli va kuchsiz masshtablash (strong/weak scaling) tushunchalarini ajratish, masshtablash samaradorligi (scaling efficiency) koeffitsiyentini hisoblash va natijalarni jadval ko'rinishida rasmiylashtirish.</a:t>
            </a:r>
          </a:p>
          <a:p/>
          <a:p>
            <a:r>
              <a:t>Taqsimlangan inferens (parallel inference) uchun ma'lumotlarni bo'lib yuborish (sharding) va natijalarni yig'ish (all-gather) sxemasini amalga oshirish, o'tkazuvchanlik (throughput) va kechikish (latency) ko'rsatkichlarini o'lchash.</a:t>
            </a:r>
          </a:p>
          <a:p/>
          <a:p>
            <a:r>
              <a:t>Kommunikatsiya xarajatlari, sinxronizatsiya nuqtalari va to'g'ri bo'lmagan konfiguratsiya tufayli yuzaga keladigan tipik muammolarni aniqlash va bartaraf etish.</a:t>
            </a:r>
          </a:p>
          <a:p/>
          <a:p>
            <a:r>
              <a:t>Mavzu fanning TN3 (parallel va taqsimlangan hisoblash texnologiyalarini qo'llash), TN5 (AI tizimlarini bulutli va klasterli infratuzilmaga joylashtirish) va TN6 (unumdorlikni o'lchash, tahlil qilish va optimallashtirish) o'rganish natijalariga bevosita xizmat qiladi; shuningdek, M3 va M7 ma'ruzalarida berilgan nazariy bilimlarni amaliyotda mustahkamlaydi.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Zamonaviy chuqur o'rganish modellarining o'lchami va o'quv to'plamlarining hajmi bitta tezlatkich (accelerator) imkoniyatlaridan ancha oshib ketdi. Masalan, ImageNet-1k ustida ResNet-50 modelini 90 epoxa davomida bitta NVIDIA A100 GPU'da o'qitish taxminan 20–24 soat vaqt oladi; 8 ta GPU'li bitta DGX serverida esa bu vaqt 3 soat atrofiga tushadi, 256 GPU'li klasterda bir necha daqiqa ichida bajariladi. Katta til modellari (Large Language Models, LLM) uchun taqsimlangan o'qitish umuman muqobilsiz: 70 milliard parametrli modelning faqat og'irliklari FP16 aniqlikda 140 GB xotira talab qiladi, bu esa hatto 80 GB'li H100 ga ham sig'maydi. Shuning uchun taqsimlangan hisoblash bugun «qo'shimcha optimizatsiya» emas, balki sun'iy intellekt tizimlari muhandisining tayanch ko'nikmasidir.</a:t>
            </a:r>
          </a:p>
          <a:p/>
          <a:p>
            <a:r>
              <a:t>Sanoat kontekstida taqsimlangan AI tizimlari uchta asosiy ko'rinishda uchraydi. Birinchisi — taqsimlangan o'qitish (distributed training), bunda modelni o'qitish ishi ko'plab GPU'lar orasida bo'linadi va har bir qadamda gradientlar sinxronlashtiriladi. Ikkinchisi — parallel inferens (parallel inference), bunda bir xil model nusxalari ko'plab so'rovlarni bir vaqtda qayta ishlaydi yoki bitta katta model bir nechta qurilmaga bo'linadi. Uchinchisi — taqsimlangan ma'lumot tayyorlash (data preprocessing), bunda Ray Data yoki Spark kabi vositalar terabaytlab xom ma'lumotni parallel ravishda tozalaydi va tokenlaydi. Ushbu amaliy mashg'ulotda dastlabki ikkita ko'rinish bilan amaliy ishlaymiz.</a:t>
            </a:r>
          </a:p>
          <a:p/>
          <a:p>
            <a:r>
              <a:t>Taqsimlangan tizimni ishlab chiqishdagi asosiy muhandislik muammosi — hisoblash va kommunikatsiya o'rtasidagi muvozanat. Qancha ko'p GPU qo'shsak, har bir GPU'ga to'g'ri keladigan hisoblash ulushi kamayadi, lekin ular orasidagi gradient almashinuvi hajmi o'zgarmaydi yoki hatto o'sadi. Natijada ma'lum bir nuqtadan keyin qo'shimcha GPU'lar deyarli foyda bermaydi — bu Amdal qonunining (Amdahl's law) amaliy ko'rinishi. Shu sababli taqsimlangan tizim muhandisining vazifasi faqat «ishlashiga erishish» emas, balki masshtablash samaradorligini o'lchash va uni cheklovchi omilni (bottleneck) aniqlashdir. Mashg'ulot davomida aynan shu o'lchov madaniyatini shakllantiramiz: har bir konfiguratsiya uchun o'tkazuvchanlik, tezlashish (speedup) va samaradorlik koeffitsiyenti hisoblanadi va jadvalga kiritiladi.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Taqsimlangan o'qitishda to'rtta asosiy parallellik turi farqlanadi. Ma'lumotlar parallelligi (data parallelism) — eng keng tarqalgan usul: modelning to'liq nusxasi har bir GPU'da saqlanadi, global mini-paket (batch) GPU'lar soniga teng bo'laklarga bo'linadi, har bir GPU o'z bo'lagida oldinga va orqaga o'tishni (forward/backward) hisoblaydi, so'ngra gradientlar barcha GPU'lar orasida o'rtachalashtiriladi. Model parallelligi (model parallelism) — model qatlamlari turli qurilmalarga joylashtiriladi; bu model bitta GPU xotirasiga sig'maganda zarur. Tensor parallelligi (tensor parallelism) — bitta katta matritsali ko'paytirish bir nechta GPU'ga ustunlar yoki satrlar bo'yicha bo'linadi (Megatron-LM yondashuvi). Quvur (pipeline) parallelligi — qatlamlar bosqichlarga guruhlanadi va mikro-paketlar konveyer tarzida o'tkaziladi (GPipe, PipeDream). Amaliyotda yirik tizimlarda bularning kombinatsiyasi — 3D parallellik qo'llaniladi.</a:t>
            </a:r>
          </a:p>
          <a:p/>
          <a:p>
            <a:r>
              <a:t>Ushbu mashg'ulotda asosiy e'tibor DDP'ga qaratiladi, chunki u eng ko'p qo'llaniladi va boshqa usullarni tushunish uchun poydevor bo'ladi. Fully Sharded Data Parallel (FSDP) haqida esa qo'shimcha topshiriqda so'z yuritiladi.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PyTorch'da taqsimlangan hisoblashning asosi — torch.distributed paketi. Unda har bir GPU uchun alohida operatsion tizim jarayoni (process) ishga tushiriladi, bu jarayonlar bitta jarayonlar guruhiga (process group) birlashtiriladi. Har bir jarayon ikki identifikatorga ega: rank — global tartib raqami (0 dan world_size - 1 gacha) va local_rank — ayni tugundagi tartib raqami (odatda GPU indeksi bilan bir xil). world_size — jami jarayonlar soni.</a:t>
            </a:r>
          </a:p>
          <a:p/>
          <a:p>
            <a:r>
              <a:t>Jarayonlar orasidagi xabar almashinuvi backend orqali amalga oshiriladi. GPU'lar uchun standart tanlov — NCCL (NVIDIA Collective Communications Library), u NVLink, PCIe va InfiniBand topologiyasini avtomatik aniqlab, kollektiv operatsiyalarni (all-reduce, all-gather, broadcast, reduce-scatter) eng samarali yo'l bilan bajaradi. CPU uchun Gloo backend ishlatiladi; MPI backend esa PyTorch'ni MPI kutubxonasi bilan qayta kompilyatsiya qilishni talab qiladi va asosan HPC klasterlarida uchraydi.</a:t>
            </a:r>
          </a:p>
          <a:p/>
          <a:p>
            <a:r>
              <a:t>DistributedDataParallel (DDP) o'rami (wrapper) quyidagicha ishlaydi: modelni o'rab olish paytida 0-rankdagi parametrlar barcha jarayonlarga broadcast qilinadi, shu bilan barcha nusxalar bir xil boshlang'ich holatga ega bo'ladi. Orqaga o'tish paytida har bir parametrning gradienti tayyor bo'lishi bilan u chelak (bucket, standart hajmi 25 MB) ga qo'shiladi; chelak to'lganda u uchun asinxron all-reduce boshlanadi. Shu tufayli kommunikatsiya orqaga o'tish hisoblashi bilan ustma-ust tushadi (overlap) — bu DDP'ning asosiy samaradorlik manbai. All-reduce tugaganda har bir jarayonda gradientlar o'rtacha qiymatga ega bo'ladi va optimizator qadami mahalliy, lekin bir xil natija bilan bajariladi.</a:t>
            </a:r>
          </a:p>
          <a:p/>
          <a:p>
            <a:r>
              <a:t>Muhim nuqta — ma'lumotlarni bo'lish. DistributedSampler har bir epoxada ma'lumotlar to'plamini world_size ta kesishmaydigan qismga bo'ladi va har bir jarayonga o'zining qismini beradi; epoxa boshida sampler.set_epoch(epoch) chaqirilmasa, barcha epoxalarda aralashtirish bir xil bo'ladi.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All-reduce operatsiyasining samaradorligi butun tizim unumdorligini belgilaydi. Sodda yondashuvda barcha gradientlar bitta parametr-serverga yuboriladi, u yig'adi va qaytaradi: bunda server tarmoq o'tkazuvchanligi N ta ishchi uchun chiziqli o'sib boruvchi yuk oladi. Halqa all-reduce (ring all-reduce) algoritmi bu muammoni hal qiladi: N ta jarayon halqa bo'ylab joylashadi, gradient vektori N bo'lakka bo'linadi, N-1 ta reduce-scatter qadamida har bir bo'lak qo'shni orqali aylanib to'liq yig'indiga aylanadi, so'ngra N-1 ta all-gather qadamida natija barchaga tarqatiladi. Har bir jarayon jami 2  (N-1) / N  S bayt yuboradi, bu yerda S — gradientlarning umumiy hajmi. N katta bo'lganda bu 2S ga intiladi va ishchilar sonidan deyarli bog'liq bo'lmay qoladi. Masalan, ResNet-50 (25.6 mln parametr, FP32 da 102 MB) uchun 8 GPU'da har bir GPU qadam sayin ~179 MB yuboradi; NVLink'ning 600 GB/s (A100) o'tkazuvchanligida bu 0.3 ms'dan kam, 100 Gbit/s InfiniBand'da esa ~15 ms, 10 Gbit/s Ethernet'da ~150 ms — bu yerda tarmoq bottleneck'ga aylanadi.</a:t>
            </a:r>
          </a:p>
          <a:p/>
          <a:p>
            <a:r>
              <a:t>Kommunikatsiya narxini kamaytirishning amaliy usullari: gradient to'plash (gradient accumulation — bir necha mikro-paket uchun bitta all-reduce), aralash aniqlik (gradientlarni BF16 da yuborish hajmni ikki baravar kamaytiradi), gradient siqish (compression) va chelak hajmini sozlash (bucket_cap_mb).</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Taqsimlangan tizimni baholashda quyidagi miqdorlar ishlatiladi. T(1) — bitta GPU'dagi bir epoxa (yoki belgilangan qadam soni) vaqti, T(N) — N GPU'dagi vaqt. Tezlashish S(N) = T(1) / T(N). Masshtablash samaradorligi E(N) = S(N) / N  100%. Ideal holda E = 100%; amaliyotda DDP uchun bitta tugun ichida 85–95%, tugunlar orasida 70–90% yaxshi natija hisoblanadi.</a:t>
            </a:r>
          </a:p>
          <a:p/>
          <a:p>
            <a:r>
              <a:t>Ikki rejimni farqlash shart. Kuchli masshtablash (strong scaling): global paket hajmi o'zgarmaydi, GPU qo'shilganda har biriga kamroq namuna tegadi; bu yerda GPU'lar «to'yinmay» qoladi va samaradorlik tez tushadi. Kuchsiz masshtablash (weak scaling): har bir GPU'dagi paket hajmi o'zgarmaydi, global paket N baravar o'sadi; bu o'qitishda odatiy rejim, lekin global paket juda kattalashsa, optimizatsiya sifati (aniqlik) pasayishi mumkin, shuning uchun o'rganish tezligi (learning rate) chiziqli masshtablash qoidasi bilan sozlanadi va dastlabki epoxalarda «isitish» (warmup) qo'llaniladi.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Ray — Python uchun umumiy maqsadli taqsimlangan hisoblash freymvorki. Uning asosiy abstraksiyalari — masofaviy funksiyalar (@ray.remote tasks) va aktorlar (actors, holatli masofaviy obyektlar). Ray Train moduli PyTorch DDP'ni o'rab oladi: foydalanuvchi o'qitish funksiyasini yozadi, TorchTrainer esa ishchilarni klasterda joylashtirish, muhit o'zgaruvchilarini sozlash, nosozlikdan tiklash (fault tolerance) va nazorat nuqtalarini (checkpoint) saqlashni o'z zimmasiga oladi. Ray'ning ustunligi — o'qitish, giperparametr qidiruvi (Ray Tune), ma'lumot tayyorlash (Ray Data) va inferens xizmati (Ray Serve) bitta klaster va bitta API ostida birlashishi. Kamchiligi — qo'shimcha abstraksiya qatlami va bosh tugun (head node) talab qilinishi.</a:t>
            </a:r>
          </a:p>
          <a:p/>
          <a:p>
            <a:r>
              <a:t>MPI — 1990-yillardan beri HPC klasterlarida standart bo'lgan xabar almashinuv interfeysi. mpirun -np 8 python train.py buyrug'i 8 ta jarayonni ishga tushiradi, har biri MPI.COMM_WORLD.Get_rank() orqali o'z rankini bilib oladi. PyTorch bilan MPI ikki yo'l bilan birlashadi: torch.distributed ning MPI backend'i orqali yoki Horovod kutubxonasi orqali (Horovod MPI yoki Gloo ustida NCCL all-reduce'ni ishlatadi). MPI'ning afzalligi — Slurm kabi klaster menejerlari bilan mukammal integratsiya va InfiniBand'dagi puxta sozlangan kollektivlar; kamchiligi — Python ekotizimi bilan nisbatan qo'pol integratsiya va nosozlikka chidamlilikning yo'qligi (bitta jarayon tushsa, butun ish to'xtaydi).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Ushbu bo'lim to'liq bajariladigan laboratoriya topshirig'idir. Topshiriq ikki qismdan iborat: (A) DDP bilan taqsimlangan o'qitish va masshtablash jadvalini to'ldirish; (B) taqsimlangan inferens o'tkazuvchanligini o'lchash. Qo'shimcha (C) qismida Ray Train bilan qayta amalga oshirish taklif qilinadi.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Apparat: kamida 2 ta NVIDIA GPU'li bitta server (laboratoriyada 4 × RTX 3090 yoki 4 × A100 tavsiya etiladi). Agar bitta GPU bo'lsa, Gloo backend bilan CPU'da 2–4 jarayon ishlatib, mantiqni tekshirish mumkin (unumdorlik o'lchovlari bu holda ma'nosiz bo'ladi).</a:t>
            </a:r>
          </a:p>
          <a:p/>
          <a:p>
            <a:r>
              <a:t>Dasturiy ta'minot: Ubuntu 22.04, NVIDIA drayver 535+, CUDA 12.x, Python 3.10+, PyTorch 2.3+ (pip install torch torchvision), nvidia-smi ishlashi.</a:t>
            </a:r>
          </a:p>
          <a:p/>
          <a:p>
            <a:r>
              <a:t>Ma'lumotlar: CIFAR-10 (torchvision avtomatik yuklaydi, 170 MB). Vaqtni tejash uchun 10 000 ta tasvirdan iborat qismi ishlatiladi.</a:t>
            </a:r>
          </a:p>
          <a:p/>
          <a:p>
            <a:r>
              <a:t>Ikki tugunli variant uchun: ikkala server bir xil tarmoqda, bir xil PyTorch versiyasi, 29500-port ochiq.</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Avval taqqoslash uchun asos (baseline) kerak. train_ddp.py skripti shunday yoziladiki, u torchrun siz oddiy Python skripti sifatida ham ishlaydi (world_size=1).</a:t>
            </a:r>
          </a:p>
          <a:p/>
          <a:p>
            <a:r>
              <a:t>Ishga tushirish:</a:t>
            </a:r>
          </a:p>
          <a:p/>
          <a:p>
            <a:r>
              <a:t>Nima bo'ldi va nega. Skript bitta jarayonda ishladi, world=1, DDP o'rami qo'llanilmadi. Chiqishda har epoxa uchun vaqt va img/s chiqdi. Birinchi epoxa odatda sekinroq bo'ladi (cuDNN avtomatik sozlash, ma'lumotlar keshi), shuning uchun o'lchov uchun 2- va 3-epoxa o'rtachasi olinadi. RTX 3090 da ResNet-18, paket 128 uchun taxminan 2 300–2 700 img/s kutiladi (taxminiy raqam). Bu qiymat jadvalda T(1) bo'lib xizmat qiladi.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torchrun har bir GPU uchun alohida jarayon yaratdi va RANK, LOCAL_RANK, WORLD_SIZE, MASTER_ADDR, MASTER_PORT muhit o'zgaruvchilarini o'rnatdi; skript ularni ko'rib NCCL guruhini boshladi. --standalone bayrog'i bitta tugun uchun rendezvous serverini avtomatik ko'taradi. Har bir GPU 128 tadan paket oladi, demak global paket 256 yoki 512 ga teng — bu kuchsiz masshtablash rejimi. Eng muhimi — DistributedSampler tufayli 10 000 tasvir GPU'lar orasida bo'lindi, shuning uchun epoxa vaqti deyarli N baravar qisqarishi kerak. Agar qisqarmasa, ko'pincha sabab DataLoader ishchilari (CPU) yoki disk tezligi bo'ladi: 4 GPU × 4 ishchi = 16 ta CPU jarayoni JPEG dekodlash bilan band bo'ladi.</a:t>
            </a:r>
          </a:p>
          <a:p/>
          <a:p>
            <a:r>
              <a:t>O'lchov vaqtida nvidia-smi dmon -s u buyrug'i bilan GPU bandligini kuzating: agar GPU-Util 60% dan past bo'lsa, bottleneck ma'lumotlar quvurida.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Jadvalda ncclKernel_AllReduce_ qatorlarining umumiy CUDA vaqti ko'rinadi. Uni T_step ga bo'lib kommunikatsiya ulushini topamiz. 4 × RTX 3090 (PCIe 4.0, NVLink yo'q) konfiguratsiyasida ResNet-18 uchun bu ulush odatda 8–15% ni tashkil qiladi; A100 NVLink'da 3–5% gacha tushadi. Agar ulush 30% dan oshsa — chelak hajmini oshirish yoki gradient to'plashni qo'llash kerak.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Ikki serverda (masalan, 10.10.0.71 va 10.10.0.72) bir xil kod va muhit bo'lsa:</a:t>
            </a:r>
          </a:p>
          <a:p/>
          <a:p>
            <a:r>
              <a:t>Foydali muhit o'zgaruvchilari: NCCL_DEBUG=INFO (NCCL qaysi interfeys va algoritmni tanlaganini ko'rsatadi), NCCL_SOCKET_IFNAME=eth0 (to'g'ri tarmoq kartasini majburlash), NCCL_IB_DISABLE=1 (InfiniBand yo'q bo'lsa).</a:t>
            </a:r>
          </a:p>
          <a:p/>
          <a:p>
            <a:r>
              <a:t>Nima bo'ldi va nega. Endi world_size=4, lekin 2 ta GPU juftligi oddiy Ethernet orqali bog'langan. All-reduce'ning bir qismi tarmoq orqali o'tadi, shuning uchun samaradorlik sezilarli tushadi. 10 Gbit/s tarmoqda ResNet-18 (45 MB gradient) uchun qadam sayin ~70 ms kommunikatsiya qo'shiladi — bu hisoblash vaqtiga (~50 ms) yaqin, demak samaradorlik 50–60% gacha tushishi tabiiy. Bu natija «yomon» emas, u tarmoqning cheklovchi omil ekanini ko'rsatadi va hisobotda shunday talqin qilinishi kerak.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Inferensda gradient yo'q, demak qadam sayin all-reduce ham yo'q; yagona kommunikatsiya — oxirida natijalarni yig'ish. Shu sababli parallel inferens o'qitishga qaraganda ancha yaxshi masshtablanadi (90–98%). Lekin e'tibor bering: DistributedSampler ma'lumotlar soni world_size ga bo'linmasa, oxirgi namunalarni takrorlab to'ldiradi — aniqlik hisoblashda bu kichik xato beradi; ishlab chiqarishda indekslar bo'yicha deduplikatsiya qilinadi. Ikkinchi muhim kuzatuv: GPU'ni to'yintirish uchun paket 256 etarli, lekin so'rovlar bittadan keladigan onlayn xizmatda bunday paketlash mumkin emas — u holda dinamik paketlash (dynamic batching, Triton Inference Server) yoki Ray Serve replikalari ishlatiladi.</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Kod hajmi qisqardi: prepare_model va prepare_data_loader DDP o'rami, qurilmaga ko'chirish va DistributedSamplerni avtomatik qo'shdi; ScalingConfig ishchilar sonini bildiradi; ikki tugunli klaster uchun kodni o'zgartirish shart emas — faqat ray start --head / ray start --address=... buyruqlari bilan klaster yig'iladi. Evaziga Ray'ning o'z jarayonlari xotira oladi va birinchi ishga tushish 10–20 soniya sekinroq.</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Quyidagi jadval 4 × RTX 3090 (PCIe 4.0, NVLink yo'q), ResNet-18, CIFAR-10, paket 128/GPU, BF16 autocast konfiguratsiyasi uchun taxminiy kutilgan qiymatlardir; talaba o'z o'lchovlarini aynan shu shaklda keltiradi.</a:t>
            </a:r>
          </a:p>
          <a:p/>
          <a:p>
            <a:r>
              <a:t>Jadvalda tezlashish S(N) = T(1)/T(N) epoxa vaqtlari bo'yicha (kuchsiz masshtablash rejimida img/s nisbati bilan bir xil ma'noni beradi) hisoblangan.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Hisobot 4–6 sahifa, PDF, quyidagi bo'limlar bilan topshiriladi:</a:t>
            </a:r>
          </a:p>
          <a:p/>
          <a:p>
            <a:r>
              <a:t>Muhit tavsifi: GPU modeli va soni, ulanish topologiyasi (nvidia-smi topo -m chiqishi), drayver/CUDA/PyTorch versiyalari, tarmoq turi.</a:t>
            </a:r>
          </a:p>
          <a:p/>
          <a:p>
            <a:r>
              <a:t>Bajarilgan buyruqlar va skriptning o'zgartirilgan qismlari (to'liq kod ilovada).</a:t>
            </a:r>
          </a:p>
          <a:p/>
          <a:p>
            <a:r>
              <a:t>To'ldirilgan masshtablash jadvali (yuqoridagi shaklda) va img/s ni GPU soniga bog'liq grafigi (matplotlib).</a:t>
            </a:r>
          </a:p>
          <a:p/>
          <a:p>
            <a:r>
              <a:t>Profiler jadvali fragmenti va kommunikatsiya ulushi hisobi.</a:t>
            </a:r>
          </a:p>
          <a:p/>
          <a:p>
            <a:r>
              <a:t>Tahlil: samaradorlik pasayishining sabablari, bottleneck, kamida 2 ta takomillashtirish taklifi va ulardan bittasining sinovi.</a:t>
            </a:r>
          </a:p>
          <a:p/>
          <a:p>
            <a:r>
              <a:t>Xulosa va javob berilgan nazorat savollari (kamida 3 ta).</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Hisobot 4–6 sahifa, PDF, quyidagi bo'limlar bilan topshiriladi:</a:t>
            </a:r>
          </a:p>
          <a:p/>
          <a:p>
            <a:r>
              <a:t>Muhit tavsifi: GPU modeli va soni, ulanish topologiyasi (nvidia-smi topo -m chiqishi), drayver/CUDA/PyTorch versiyalari, tarmoq turi.</a:t>
            </a:r>
          </a:p>
          <a:p/>
          <a:p>
            <a:r>
              <a:t>Bajarilgan buyruqlar va skriptning o'zgartirilgan qismlari (to'liq kod ilovada).</a:t>
            </a:r>
          </a:p>
          <a:p/>
          <a:p>
            <a:r>
              <a:t>To'ldirilgan masshtablash jadvali (yuqoridagi shaklda) va img/s ni GPU soniga bog'liq grafigi (matplotlib).</a:t>
            </a:r>
          </a:p>
          <a:p/>
          <a:p>
            <a:r>
              <a:t>Profiler jadvali fragmenti va kommunikatsiya ulushi hisobi.</a:t>
            </a:r>
          </a:p>
          <a:p/>
          <a:p>
            <a:r>
              <a:t>Tahlil: samaradorlik pasayishining sabablari, bottleneck, kamida 2 ta takomillashtirish taklifi va ulardan bittasining sinovi.</a:t>
            </a:r>
          </a:p>
          <a:p/>
          <a:p>
            <a:r>
              <a:t>Xulosa va javob berilgan nazorat savollari (kamida 3 ta).</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balldan past — qayta topshirish; 60–74 — qoniqarli; 75–89 — yaxshi; 90–100 — a'lo.</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Kutilgan jadvaldagi raqamlar bir nechta muhim xulosaga olib keladi. Birinchidan, bitta tugun ichida DDP samaradorligi GPU soni ortishi bilan asta-sekin pasayadi (93% → 83%): bunga ikki omil sabab — all-reduce hajmining har GPU uchun o'zgarmasligi va PCIe orqali 4 ta GPU bir vaqtda almashinuvi (NVLink bo'lmaganda PCIe kommutatori umumiy o'tkazuvchanlikni bo'lib beradi). ResNet-18 kabi kichik model uchun kommunikatsiya ulushi nisbatan katta, chunki hisoblash juda tez; ResNet-50 yoki ViT-B kabi og'irroq modellarda hisoblash vaqti ortib, nisbiy kommunikatsiya ulushi kamayadi va samaradorlik aksincha yuqoriroq chiqadi — bu «kattaroq model yaxshiroq masshtablanadi» paradoksi.</a:t>
            </a:r>
          </a:p>
          <a:p/>
          <a:p>
            <a:r>
              <a:t>Ikkinchidan, tugunlararo konfiguratsiya 10 GbE tarmoqda samaradorlikni ikki baravar yo'qotadi. Bu natijadan «ko'p tugun foydasiz» degan xulosa chiqmaydi; to'g'ri xulosa — tarmoq o'tkazuvchanligi hisoblash tezligiga mos kelishi kerak. Sanoat klasterlarida har GPU uchun 200–400 Gbit/s InfiniBand yoki RoCE ajratiladi va NCCL GPUDirect RDMA orqali CPU'ni chetlab o'tadi. Agar tez tarmoq bo'lmasa, gradient to'plash (masalan, 4 mikro-paketdan keyin bitta all-reduce) kommunikatsiya chastotasini 4 baravar kamaytiradi va samaradorlikni 51% dan 75–80% gacha ko'tarishi mumkin — bu talabaning sinovdan o'tkazishi kerak bo'lgan takliflardan biri.</a:t>
            </a:r>
          </a:p>
          <a:p/>
          <a:p>
            <a:r>
              <a:t>Uchinchidan, parallel inferens deyarli ideal masshtablanadi, chunki jarayonlar o'rtasida qadam sayin sinxronizatsiya yo'q. Bu «noqulay parallel» (embarrassingly parallel) masala sinfiga kiradi. Biroq real xizmatda cheklov boshqa joyda — so'rovlarning kelishi notekis, paketlash kechikishni oshiradi va modelni har GPU'da nusxalash xotirani isrof qiladi. Shuning uchun inferens tizimlari o'lchovida img/s bilan birga p50/p99 kechikish ham keltirilishi shart.</a:t>
            </a:r>
          </a:p>
          <a:p/>
          <a:p>
            <a:r>
              <a:t>Cheklovlar va muqobillar: mashg'ulotda model bitta GPU'ga bemalol sig'adi, shuning uchun FSDP yoki tensor parallellik zaruriyati yuzaga kelmadi. Model 7B+ parametrga yetganda DDP ishlamay qoladi — har GPU'da to'liq nusxa saqlanmaydi — va FSDP (torch.distributed.fsdp.FullyShardedDataParallel) yoki DeepSpeed ZeRO-3 kerak bo'ladi; ular parametrlarni bo'lib saqlaydi, lekin har qatlam oldidan all-gather qilib, kommunikatsiyani 1.5 baravar oshiradi. Shuningdek, bu yerda sinxron SGD ishlatildi; asinxron usullar (parametr-server, mahalliy SGD) sekin ishchilarga chidamli, lekin yaqinlashish kafolati zaifroq.</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set_epoch chaqirilmaydi. Natijada har epoxada bir xil aralashtirish, model sifati sezilarli pasayadi, lekin hech qanday xato chiqmaydi. Har doim sampler.set_epoch(epoch) ni epoxa boshida chaqiring.</a:t>
            </a:r>
          </a:p>
          <a:p/>
          <a:p>
            <a:r>
              <a:t>O'rganish tezligi masshtablanmaydi. Global paket 4 baravar oshganda LR o'zgarmasa, yaqinlashish sekinlashadi; chiziqli qoida (lr  world_size) va 3–5 epoxali isitish standart amaliyot. Juda katta paketlarda (8k+) LARS/LAMB optimizatorlari kerak.</a:t>
            </a:r>
          </a:p>
          <a:p/>
          <a:p>
            <a:r>
              <a:t>Barcha ranklar fayl yozadi yoki log chiqaradi. Checkpoint faqat rank == 0 da saqlanishi, print va TensorBoard yozuvlari ham faqat bitta rankdan bo'lishi kerak; aks holda fayl buziladi va loglar 4 baravar takrorlanadi.</a:t>
            </a:r>
          </a:p>
          <a:p/>
          <a:p>
            <a:r>
              <a:t>DDP o'ramidan keyin model.module unutiladi. model.state_dict() DDP o'ramida module. prefiksi bilan saqlanadi; yuklashda mos kelmaslik xatosi chiqadi. model.module.state_dict() ni saqlang yoki yuklashda prefiksni olib tashlang.</a:t>
            </a:r>
          </a:p>
          <a:p/>
          <a:p>
            <a:r>
              <a:t>GPU vaqtini time.time() bilan sinxronlashsiz o'lchash. CUDA asinxron — torch.cuda.synchronize() siz o'lchov faqat kernel navbatga qo'yilgan vaqtni ko'rsatadi. Barcha o'lchovlardan oldin va keyin sinxronlang, isitish iteratsiyalarini chiqarib tashlang.</a:t>
            </a:r>
          </a:p>
          <a:p/>
          <a:p>
            <a:r>
              <a:t>Osilib qolgan (hang) jarayonlar. Bir rankda istisno chiqsa, boshqalar all-reduce'da abadiy kutadi. torchrun bu holatni aniqlab, barcha jarayonlarni to'xtatadi, lekin qo'lda mp.spawn ishlatganda timeout va NCCL_ASYNC_ERROR_HANDLING=1 sozlang. Shartli kod yo'llari (if rank == 0: dist.all_reduce(...)) hech qachon yozilmasin — kollektivlar barcha ranklarda chaqirilishi shart.</a:t>
            </a:r>
          </a:p>
          <a:p/>
          <a:p>
            <a:r>
              <a:t>NCCL noto'g'ri interfeysni tanlaydi. Ikki tugunli ishga tushirishda Docker ko'prigi yoki VPN interfeysi tanlansa, tezlik 100 baravar pasayadi. NCCL_DEBUG=INFO bilan tekshiring, NCCL_SOCKET_IFNAME ni aniq ko'rsating.</a:t>
            </a:r>
          </a:p>
          <a:p/>
          <a:p>
            <a:r>
              <a:t>Ma'lumotlar quvuri bottleneck. GPU bandligi past bo'lsa, num_workers ni oshiring, tasvirlarni oldindan o'lchamini o'zgartirib saqlang, NVIDIA DALI yoki FFCV kabi tezlatilgan yuklovchilarni sinang. Taqsimlangan tizimda bu muammo GPU soniga proporsional kuchayadi.</a:t>
            </a:r>
          </a:p>
          <a:p/>
          <a:p>
            <a:r>
              <a:t>Takrorlanuvchanlik. Har o'lchovni kamida 3 marta takrorlang, median qiymatni keltiring; GPU chastotasi va harorati (nvidia-smi -q -d CLOCK) o'lchovlar orasida farq qilishi mumkin.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set_epoch chaqirilmaydi. Natijada har epoxada bir xil aralashtirish, model sifati sezilarli pasayadi, lekin hech qanday xato chiqmaydi. Har doim sampler.set_epoch(epoch) ni epoxa boshida chaqiring.</a:t>
            </a:r>
          </a:p>
          <a:p/>
          <a:p>
            <a:r>
              <a:t>O'rganish tezligi masshtablanmaydi. Global paket 4 baravar oshganda LR o'zgarmasa, yaqinlashish sekinlashadi; chiziqli qoida (lr  world_size) va 3–5 epoxali isitish standart amaliyot. Juda katta paketlarda (8k+) LARS/LAMB optimizatorlari kerak.</a:t>
            </a:r>
          </a:p>
          <a:p/>
          <a:p>
            <a:r>
              <a:t>Barcha ranklar fayl yozadi yoki log chiqaradi. Checkpoint faqat rank == 0 da saqlanishi, print va TensorBoard yozuvlari ham faqat bitta rankdan bo'lishi kerak; aks holda fayl buziladi va loglar 4 baravar takrorlanadi.</a:t>
            </a:r>
          </a:p>
          <a:p/>
          <a:p>
            <a:r>
              <a:t>DDP o'ramidan keyin model.module unutiladi. model.state_dict() DDP o'ramida module. prefiksi bilan saqlanadi; yuklashda mos kelmaslik xatosi chiqadi. model.module.state_dict() ni saqlang yoki yuklashda prefiksni olib tashlang.</a:t>
            </a:r>
          </a:p>
          <a:p/>
          <a:p>
            <a:r>
              <a:t>GPU vaqtini time.time() bilan sinxronlashsiz o'lchash. CUDA asinxron — torch.cuda.synchronize() siz o'lchov faqat kernel navbatga qo'yilgan vaqtni ko'rsatadi. Barcha o'lchovlardan oldin va keyin sinxronlang, isitish iteratsiyalarini chiqarib tashlang.</a:t>
            </a:r>
          </a:p>
          <a:p/>
          <a:p>
            <a:r>
              <a:t>Osilib qolgan (hang) jarayonlar. Bir rankda istisno chiqsa, boshqalar all-reduce'da abadiy kutadi. torchrun bu holatni aniqlab, barcha jarayonlarni to'xtatadi, lekin qo'lda mp.spawn ishlatganda timeout va NCCL_ASYNC_ERROR_HANDLING=1 sozlang. Shartli kod yo'llari (if rank == 0: dist.all_reduce(...)) hech qachon yozilmasin — kollektivlar barcha ranklarda chaqirilishi shart.</a:t>
            </a:r>
          </a:p>
          <a:p/>
          <a:p>
            <a:r>
              <a:t>NCCL noto'g'ri interfeysni tanlaydi. Ikki tugunli ishga tushirishda Docker ko'prigi yoki VPN interfeysi tanlansa, tezlik 100 baravar pasayadi. NCCL_DEBUG=INFO bilan tekshiring, NCCL_SOCKET_IFNAME ni aniq ko'rsating.</a:t>
            </a:r>
          </a:p>
          <a:p/>
          <a:p>
            <a:r>
              <a:t>Ma'lumotlar quvuri bottleneck. GPU bandligi past bo'lsa, num_workers ni oshiring, tasvirlarni oldindan o'lchamini o'zgartirib saqlang, NVIDIA DALI yoki FFCV kabi tezlatilgan yuklovchilarni sinang. Taqsimlangan tizimda bu muammo GPU soniga proporsional kuchayadi.</a:t>
            </a:r>
          </a:p>
          <a:p/>
          <a:p>
            <a:r>
              <a:t>Takrorlanuvchanlik. Har o'lchovni kamida 3 marta takrorlang, median qiymatni keltiring; GPU chastotasi va harorati (nvidia-smi -q -d CLOCK) o'lchovlar orasida farq qilishi mumkin.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42845"/>
              </a:gs>
              <a:gs pos="100000">
                <a:srgbClr val="0F6E80"/>
              </a:gs>
            </a:gsLst>
            <a:lin scaled="0" ang="27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600000" y="-1200000"/>
            <a:ext cx="4600000" cy="4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200000" y="3900000"/>
            <a:ext cx="2600000" cy="2600000"/>
          </a:xfrm>
          <a:prstGeom prst="ellipse">
            <a:avLst/>
          </a:prstGeom>
          <a:solidFill>
            <a:srgbClr val="138F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300000" y="3300000"/>
            <a:ext cx="700000" cy="700000"/>
          </a:xfrm>
          <a:prstGeom prst="ellipse">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00000" y="4650000"/>
            <a:ext cx="2400000" cy="70000"/>
          </a:xfrm>
          <a:prstGeom prst="rect">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0000" y="700000"/>
            <a:ext cx="8000000" cy="500000"/>
          </a:xfrm>
          <a:prstGeom prst="rect">
            <a:avLst/>
          </a:prstGeom>
          <a:noFill/>
        </p:spPr>
        <p:txBody>
          <a:bodyPr wrap="square" anchor="t" lIns="50800" rIns="50800">
            <a:spAutoFit/>
          </a:bodyPr>
          <a:lstStyle/>
          <a:p>
            <a:pPr algn="l"/>
            <a:r>
              <a:rPr sz="1600" b="0">
                <a:solidFill>
                  <a:srgbClr val="A9C4E6"/>
                </a:solidFill>
                <a:latin typeface="Calibri"/>
              </a:rPr>
              <a:t>Sun'iy intellektga asoslangan kompyuter tizimlari muhandisligi</a:t>
            </a:r>
          </a:p>
        </p:txBody>
      </p:sp>
      <p:sp>
        <p:nvSpPr>
          <p:cNvPr id="8" name="TextBox 7"/>
          <p:cNvSpPr txBox="1"/>
          <p:nvPr/>
        </p:nvSpPr>
        <p:spPr>
          <a:xfrm>
            <a:off x="700000" y="1300000"/>
            <a:ext cx="8000000" cy="500000"/>
          </a:xfrm>
          <a:prstGeom prst="rect">
            <a:avLst/>
          </a:prstGeom>
          <a:noFill/>
        </p:spPr>
        <p:txBody>
          <a:bodyPr wrap="square" anchor="t" lIns="50800" rIns="50800">
            <a:spAutoFit/>
          </a:bodyPr>
          <a:lstStyle/>
          <a:p>
            <a:pPr algn="l"/>
            <a:r>
              <a:rPr sz="1600" b="1">
                <a:solidFill>
                  <a:srgbClr val="7FD6D7"/>
                </a:solidFill>
                <a:latin typeface="Calibri"/>
              </a:rPr>
              <a:t>LABORATORIYA ISHI · A5 · 2 soat</a:t>
            </a:r>
          </a:p>
        </p:txBody>
      </p:sp>
      <p:sp>
        <p:nvSpPr>
          <p:cNvPr id="9" name="TextBox 8"/>
          <p:cNvSpPr txBox="1"/>
          <p:nvPr/>
        </p:nvSpPr>
        <p:spPr>
          <a:xfrm>
            <a:off x="700000" y="1900000"/>
            <a:ext cx="6900000" cy="2600000"/>
          </a:xfrm>
          <a:prstGeom prst="rect">
            <a:avLst/>
          </a:prstGeom>
          <a:noFill/>
        </p:spPr>
        <p:txBody>
          <a:bodyPr wrap="square" anchor="t" lIns="50800" rIns="50800">
            <a:spAutoFit/>
          </a:bodyPr>
          <a:lstStyle/>
          <a:p>
            <a:pPr algn="l"/>
            <a:r>
              <a:rPr sz="3600" b="1">
                <a:solidFill>
                  <a:srgbClr val="FFFFFF"/>
                </a:solidFill>
                <a:latin typeface="Calibri"/>
              </a:rPr>
              <a:t>Taqsimlangan sun'iy intellekt tizimlarini ishlab chiqish</a:t>
            </a:r>
          </a:p>
        </p:txBody>
      </p:sp>
      <p:sp>
        <p:nvSpPr>
          <p:cNvPr id="10" name="TextBox 9"/>
          <p:cNvSpPr txBox="1"/>
          <p:nvPr/>
        </p:nvSpPr>
        <p:spPr>
          <a:xfrm>
            <a:off x="700000" y="4900000"/>
            <a:ext cx="8000000" cy="1200000"/>
          </a:xfrm>
          <a:prstGeom prst="rect">
            <a:avLst/>
          </a:prstGeom>
          <a:noFill/>
        </p:spPr>
        <p:txBody>
          <a:bodyPr wrap="square" anchor="t" lIns="50800" rIns="50800">
            <a:spAutoFit/>
          </a:bodyPr>
          <a:lstStyle/>
          <a:p>
            <a:pPr algn="l"/>
            <a:r>
              <a:rPr sz="1500" b="0">
                <a:solidFill>
                  <a:srgbClr val="D7E3F4"/>
                </a:solidFill>
                <a:latin typeface="Calibri"/>
              </a:rPr>
              <a:t>O‘qituvchi: S.Iskandarova, t.f.f.d. (PhD), dotsent</a:t>
            </a:r>
          </a:p>
          <a:p>
            <a:pPr algn="l"/>
            <a:r>
              <a:rPr sz="1500" b="0">
                <a:solidFill>
                  <a:srgbClr val="D7E3F4"/>
                </a:solidFill>
                <a:latin typeface="Calibri"/>
              </a:rPr>
              <a:t>2026-2027 o‘quv yili</a:t>
            </a:r>
          </a:p>
          <a:p>
            <a:pPr algn="l"/>
            <a:r>
              <a:rPr sz="1500" b="0">
                <a:solidFill>
                  <a:srgbClr val="D7E3F4"/>
                </a:solidFill>
                <a:latin typeface="Calibri"/>
              </a:rPr>
              <a:t>https://aiscan.airi.uz/ktm/</a:t>
            </a:r>
          </a:p>
        </p:txBody>
      </p:sp>
      <p:pic>
        <p:nvPicPr>
          <p:cNvPr id="11" name="Picture 10" descr="ac1ddc7e985ce9a3.jpg"/>
          <p:cNvPicPr>
            <a:picLocks noChangeAspect="1"/>
          </p:cNvPicPr>
          <p:nvPr/>
        </p:nvPicPr>
        <p:blipFill>
          <a:blip r:embed="rId2"/>
          <a:srcRect l="32273" r="32273"/>
          <a:stretch>
            <a:fillRect/>
          </a:stretch>
        </p:blipFill>
        <p:spPr>
          <a:xfrm>
            <a:off x="7900000" y="900000"/>
            <a:ext cx="3900000" cy="5050000"/>
          </a:xfrm>
          <a:prstGeom prst="rect">
            <a:avLst/>
          </a:prstGeom>
        </p:spPr>
      </p:pic>
      <p:sp>
        <p:nvSpPr>
          <p:cNvPr id="12" name="Rectangle 11"/>
          <p:cNvSpPr/>
          <p:nvPr/>
        </p:nvSpPr>
        <p:spPr>
          <a:xfrm>
            <a:off x="7900000" y="5650000"/>
            <a:ext cx="3900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80000" y="5650000"/>
            <a:ext cx="3740000" cy="300000"/>
          </a:xfrm>
          <a:prstGeom prst="rect">
            <a:avLst/>
          </a:prstGeom>
          <a:noFill/>
        </p:spPr>
        <p:txBody>
          <a:bodyPr wrap="square" anchor="ctr" lIns="50800" rIns="50800">
            <a:spAutoFit/>
          </a:bodyPr>
          <a:lstStyle/>
          <a:p>
            <a:pPr algn="l"/>
            <a:r>
              <a:rPr sz="900" b="0">
                <a:solidFill>
                  <a:srgbClr val="D7E3F4"/>
                </a:solidFill>
                <a:latin typeface="Calibri"/>
              </a:rPr>
              <a:t>Rasm: User de:User:FreeMO on de.wikipedia · Wikimedia Commons · Public domain</a:t>
            </a:r>
          </a:p>
        </p:txBody>
      </p:sp>
      <p:sp>
        <p:nvSpPr>
          <p:cNvPr id="14" name="Rectangle 13"/>
          <p:cNvSpPr/>
          <p:nvPr/>
        </p:nvSpPr>
        <p:spPr>
          <a:xfrm>
            <a:off x="7820000" y="820000"/>
            <a:ext cx="4060000" cy="5210000"/>
          </a:xfrm>
          <a:prstGeom prst="rect">
            <a:avLst/>
          </a:prstGeom>
          <a:noFill/>
          <a:ln w="381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00"/>
                            </p:stCondLst>
                            <p:childTnLst>
                              <p:par>
                                <p:cTn id="16" presetID="53" presetClass="entr" presetSubtype="16"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ppt_w</p:attrName>
                                        </p:attrNameLst>
                                      </p:cBhvr>
                                      <p:tavLst>
                                        <p:tav tm="0">
                                          <p:val>
                                            <p:strVal val="0"/>
                                          </p:val>
                                        </p:tav>
                                        <p:tav tm="100000">
                                          <p:val>
                                            <p:strVal val="#ppt_w"/>
                                          </p:val>
                                        </p:tav>
                                      </p:tavLst>
                                    </p:anim>
                                    <p:anim calcmode="lin" valueType="num">
                                      <p:cBhvr additive="base">
                                        <p:cTn id="20" dur="550" fill="hold"/>
                                        <p:tgtEl>
                                          <p:spTgt spid="5"/>
                                        </p:tgtEl>
                                        <p:attrNameLst>
                                          <p:attrName>ppt_h</p:attrName>
                                        </p:attrNameLst>
                                      </p:cBhvr>
                                      <p:tavLst>
                                        <p:tav tm="0">
                                          <p:val>
                                            <p:strVal val="0"/>
                                          </p:val>
                                        </p:tav>
                                        <p:tav tm="100000">
                                          <p:val>
                                            <p:strVal val="#ppt_h"/>
                                          </p:val>
                                        </p:tav>
                                      </p:tavLst>
                                    </p:anim>
                                  </p:childTnLst>
                                </p:cTn>
                              </p:par>
                            </p:childTnLst>
                          </p:cTn>
                        </p:par>
                        <p:par>
                          <p:cTn id="21" fill="hold">
                            <p:stCondLst>
                              <p:cond delay="400"/>
                            </p:stCondLst>
                            <p:childTnLst>
                              <p:par>
                                <p:cTn id="22" presetID="53" presetClass="entr" presetSubtype="16" fill="hold" grpId="0" nodeType="after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fade">
                                      <p:cBhvr>
                                        <p:cTn id="24" dur="550"/>
                                        <p:tgtEl>
                                          <p:spTgt spid="14"/>
                                        </p:tgtEl>
                                      </p:cBhvr>
                                    </p:animEffect>
                                    <p:anim calcmode="lin" valueType="num">
                                      <p:cBhvr additive="base">
                                        <p:cTn id="25" dur="550" fill="hold"/>
                                        <p:tgtEl>
                                          <p:spTgt spid="14"/>
                                        </p:tgtEl>
                                        <p:attrNameLst>
                                          <p:attrName>ppt_w</p:attrName>
                                        </p:attrNameLst>
                                      </p:cBhvr>
                                      <p:tavLst>
                                        <p:tav tm="0">
                                          <p:val>
                                            <p:strVal val="0"/>
                                          </p:val>
                                        </p:tav>
                                        <p:tav tm="100000">
                                          <p:val>
                                            <p:strVal val="#ppt_w"/>
                                          </p:val>
                                        </p:tav>
                                      </p:tavLst>
                                    </p:anim>
                                    <p:anim calcmode="lin" valueType="num">
                                      <p:cBhvr additive="base">
                                        <p:cTn id="26" dur="550" fill="hold"/>
                                        <p:tgtEl>
                                          <p:spTgt spid="14"/>
                                        </p:tgtEl>
                                        <p:attrNameLst>
                                          <p:attrName>ppt_h</p:attrName>
                                        </p:attrNameLst>
                                      </p:cBhvr>
                                      <p:tavLst>
                                        <p:tav tm="0">
                                          <p:val>
                                            <p:strVal val="0"/>
                                          </p:val>
                                        </p:tav>
                                        <p:tav tm="100000">
                                          <p:val>
                                            <p:strVal val="#ppt_h"/>
                                          </p:val>
                                        </p:tav>
                                      </p:tavLst>
                                    </p:anim>
                                  </p:childTnLst>
                                </p:cTn>
                              </p:par>
                            </p:childTnLst>
                          </p:cTn>
                        </p:par>
                        <p:par>
                          <p:cTn id="27" fill="hold">
                            <p:stCondLst>
                              <p:cond delay="400"/>
                            </p:stCondLst>
                            <p:childTnLst>
                              <p:par>
                                <p:cTn id="28" presetID="53" presetClass="entr" presetSubtype="16" fill="hold" grpId="0" nodeType="after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50"/>
                                        <p:tgtEl>
                                          <p:spTgt spid="11"/>
                                        </p:tgtEl>
                                      </p:cBhvr>
                                    </p:animEffect>
                                    <p:anim calcmode="lin" valueType="num">
                                      <p:cBhvr additive="base">
                                        <p:cTn id="31" dur="550" fill="hold"/>
                                        <p:tgtEl>
                                          <p:spTgt spid="11"/>
                                        </p:tgtEl>
                                        <p:attrNameLst>
                                          <p:attrName>ppt_w</p:attrName>
                                        </p:attrNameLst>
                                      </p:cBhvr>
                                      <p:tavLst>
                                        <p:tav tm="0">
                                          <p:val>
                                            <p:strVal val="0"/>
                                          </p:val>
                                        </p:tav>
                                        <p:tav tm="100000">
                                          <p:val>
                                            <p:strVal val="#ppt_w"/>
                                          </p:val>
                                        </p:tav>
                                      </p:tavLst>
                                    </p:anim>
                                    <p:anim calcmode="lin" valueType="num">
                                      <p:cBhvr additive="base">
                                        <p:cTn id="32" dur="550" fill="hold"/>
                                        <p:tgtEl>
                                          <p:spTgt spid="11"/>
                                        </p:tgtEl>
                                        <p:attrNameLst>
                                          <p:attrName>ppt_h</p:attrName>
                                        </p:attrNameLst>
                                      </p:cBhvr>
                                      <p:tavLst>
                                        <p:tav tm="0">
                                          <p:val>
                                            <p:strVal val="0"/>
                                          </p:val>
                                        </p:tav>
                                        <p:tav tm="100000">
                                          <p:val>
                                            <p:strVal val="#ppt_h"/>
                                          </p:val>
                                        </p:tav>
                                      </p:tavLst>
                                    </p:anim>
                                  </p:childTnLst>
                                </p:cTn>
                              </p:par>
                            </p:childTnLst>
                          </p:cTn>
                        </p:par>
                        <p:par>
                          <p:cTn id="33" fill="hold">
                            <p:stCondLst>
                              <p:cond delay="400"/>
                            </p:stCondLst>
                            <p:childTnLst>
                              <p:par>
                                <p:cTn id="34" presetID="10" presetClass="entr" presetSubtype="0" fill="hold" grpId="0" nodeType="afterEffect">
                                  <p:stCondLst>
                                    <p:cond delay="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550"/>
                                        <p:tgtEl>
                                          <p:spTgt spid="12"/>
                                        </p:tgtEl>
                                      </p:cBhvr>
                                    </p:animEffect>
                                  </p:childTnLst>
                                </p:cTn>
                              </p:par>
                            </p:childTnLst>
                          </p:cTn>
                        </p:par>
                        <p:par>
                          <p:cTn id="37" fill="hold">
                            <p:stCondLst>
                              <p:cond delay="400"/>
                            </p:stCondLst>
                            <p:childTnLst>
                              <p:par>
                                <p:cTn id="38" presetID="10" presetClass="entr" presetSubtype="0" fill="hold" grpId="0" nodeType="afterEffect">
                                  <p:stCondLst>
                                    <p:cond delay="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550"/>
                                        <p:tgtEl>
                                          <p:spTgt spid="13"/>
                                        </p:tgtEl>
                                      </p:cBhvr>
                                    </p:animEffect>
                                  </p:childTnLst>
                                </p:cTn>
                              </p:par>
                            </p:childTnLst>
                          </p:cTn>
                        </p:par>
                        <p:par>
                          <p:cTn id="41" fill="hold">
                            <p:stCondLst>
                              <p:cond delay="500"/>
                            </p:stCondLst>
                            <p:childTnLst>
                              <p:par>
                                <p:cTn id="42" presetID="10" presetClass="entr" presetSubtype="0" fill="hold" grpId="0" nodeType="afterEffect">
                                  <p:stCondLst>
                                    <p:cond delay="0"/>
                                  </p:stCondLst>
                                  <p:childTnLst>
                                    <p:set>
                                      <p:cBhvr>
                                        <p:cTn id="43" dur="1" fill="hold">
                                          <p:stCondLst>
                                            <p:cond delay="0"/>
                                          </p:stCondLst>
                                        </p:cTn>
                                        <p:tgtEl>
                                          <p:spTgt spid="7"/>
                                        </p:tgtEl>
                                        <p:attrNameLst>
                                          <p:attrName>style.visibility</p:attrName>
                                        </p:attrNameLst>
                                      </p:cBhvr>
                                      <p:to>
                                        <p:strVal val="visible"/>
                                      </p:to>
                                    </p:set>
                                    <p:animEffect transition="in" filter="fade">
                                      <p:cBhvr>
                                        <p:cTn id="44" dur="550"/>
                                        <p:tgtEl>
                                          <p:spTgt spid="7"/>
                                        </p:tgtEl>
                                      </p:cBhvr>
                                    </p:animEffect>
                                  </p:childTnLst>
                                </p:cTn>
                              </p:par>
                            </p:childTnLst>
                          </p:cTn>
                        </p:par>
                        <p:par>
                          <p:cTn id="45" fill="hold">
                            <p:stCondLst>
                              <p:cond delay="650"/>
                            </p:stCondLst>
                            <p:childTnLst>
                              <p:par>
                                <p:cTn id="46" presetID="2" presetClass="entr" presetSubtype="8" fill="hold" grpId="0" nodeType="afterEffect">
                                  <p:stCondLst>
                                    <p:cond delay="0"/>
                                  </p:stCondLst>
                                  <p:childTnLst>
                                    <p:set>
                                      <p:cBhvr>
                                        <p:cTn id="47" dur="1" fill="hold">
                                          <p:stCondLst>
                                            <p:cond delay="0"/>
                                          </p:stCondLst>
                                        </p:cTn>
                                        <p:tgtEl>
                                          <p:spTgt spid="8"/>
                                        </p:tgtEl>
                                        <p:attrNameLst>
                                          <p:attrName>style.visibility</p:attrName>
                                        </p:attrNameLst>
                                      </p:cBhvr>
                                      <p:to>
                                        <p:strVal val="visible"/>
                                      </p:to>
                                    </p:set>
                                    <p:anim calcmode="lin" valueType="num">
                                      <p:cBhvr additive="base">
                                        <p:cTn id="49" dur="550" fill="hold"/>
                                        <p:tgtEl>
                                          <p:spTgt spid="8"/>
                                        </p:tgtEl>
                                        <p:attrNameLst>
                                          <p:attrName>ppt_x</p:attrName>
                                        </p:attrNameLst>
                                      </p:cBhvr>
                                      <p:tavLst>
                                        <p:tav tm="0">
                                          <p:val>
                                            <p:strVal val="0-#ppt_w/2"/>
                                          </p:val>
                                        </p:tav>
                                        <p:tav tm="100000">
                                          <p:val>
                                            <p:strVal val="#ppt_x"/>
                                          </p:val>
                                        </p:tav>
                                      </p:tavLst>
                                    </p:anim>
                                    <p:anim calcmode="lin" valueType="num">
                                      <p:cBhvr additive="base">
                                        <p:cTn id="50" dur="550" fill="hold"/>
                                        <p:tgtEl>
                                          <p:spTgt spid="8"/>
                                        </p:tgtEl>
                                        <p:attrNameLst>
                                          <p:attrName>ppt_y</p:attrName>
                                        </p:attrNameLst>
                                      </p:cBhvr>
                                      <p:tavLst>
                                        <p:tav tm="0">
                                          <p:val>
                                            <p:strVal val="#ppt_y"/>
                                          </p:val>
                                        </p:tav>
                                        <p:tav tm="100000">
                                          <p:val>
                                            <p:strVal val="#ppt_y"/>
                                          </p:val>
                                        </p:tav>
                                      </p:tavLst>
                                    </p:anim>
                                  </p:childTnLst>
                                </p:cTn>
                              </p:par>
                            </p:childTnLst>
                          </p:cTn>
                        </p:par>
                        <p:par>
                          <p:cTn id="51" fill="hold">
                            <p:stCondLst>
                              <p:cond delay="800"/>
                            </p:stCondLst>
                            <p:childTnLst>
                              <p:par>
                                <p:cTn id="52" presetID="42" presetClass="entr" presetSubtype="0" fill="hold" grpId="0" nodeType="afterEffect">
                                  <p:stCondLst>
                                    <p:cond delay="0"/>
                                  </p:stCondLst>
                                  <p:childTnLst>
                                    <p:set>
                                      <p:cBhvr>
                                        <p:cTn id="53" dur="1" fill="hold">
                                          <p:stCondLst>
                                            <p:cond delay="0"/>
                                          </p:stCondLst>
                                        </p:cTn>
                                        <p:tgtEl>
                                          <p:spTgt spid="9"/>
                                        </p:tgtEl>
                                        <p:attrNameLst>
                                          <p:attrName>style.visibility</p:attrName>
                                        </p:attrNameLst>
                                      </p:cBhvr>
                                      <p:to>
                                        <p:strVal val="visible"/>
                                      </p:to>
                                    </p:set>
                                    <p:animEffect transition="in" filter="fade">
                                      <p:cBhvr>
                                        <p:cTn id="54" dur="550"/>
                                        <p:tgtEl>
                                          <p:spTgt spid="9"/>
                                        </p:tgtEl>
                                      </p:cBhvr>
                                    </p:animEffect>
                                    <p:anim calcmode="lin" valueType="num">
                                      <p:cBhvr additive="base">
                                        <p:cTn id="55" dur="550" fill="hold"/>
                                        <p:tgtEl>
                                          <p:spTgt spid="9"/>
                                        </p:tgtEl>
                                        <p:attrNameLst>
                                          <p:attrName>ppt_x</p:attrName>
                                        </p:attrNameLst>
                                      </p:cBhvr>
                                      <p:tavLst>
                                        <p:tav tm="0">
                                          <p:val>
                                            <p:strVal val="#ppt_x"/>
                                          </p:val>
                                        </p:tav>
                                        <p:tav tm="100000">
                                          <p:val>
                                            <p:strVal val="#ppt_x"/>
                                          </p:val>
                                        </p:tav>
                                      </p:tavLst>
                                    </p:anim>
                                    <p:anim calcmode="lin" valueType="num">
                                      <p:cBhvr additive="base">
                                        <p:cTn id="56" dur="550" fill="hold"/>
                                        <p:tgtEl>
                                          <p:spTgt spid="9"/>
                                        </p:tgtEl>
                                        <p:attrNameLst>
                                          <p:attrName>ppt_y</p:attrName>
                                        </p:attrNameLst>
                                      </p:cBhvr>
                                      <p:tavLst>
                                        <p:tav tm="0">
                                          <p:val>
                                            <p:strVal val="#ppt_y+.08"/>
                                          </p:val>
                                        </p:tav>
                                        <p:tav tm="100000">
                                          <p:val>
                                            <p:strVal val="#ppt_y"/>
                                          </p:val>
                                        </p:tav>
                                      </p:tavLst>
                                    </p:anim>
                                  </p:childTnLst>
                                </p:cTn>
                              </p:par>
                            </p:childTnLst>
                          </p:cTn>
                        </p:par>
                        <p:par>
                          <p:cTn id="57" fill="hold">
                            <p:stCondLst>
                              <p:cond delay="950"/>
                            </p:stCondLst>
                            <p:childTnLst>
                              <p:par>
                                <p:cTn id="58" presetID="22" presetClass="entr" presetSubtype="8" fill="hold" grpId="0" nodeType="afterEffect">
                                  <p:stCondLst>
                                    <p:cond delay="0"/>
                                  </p:stCondLst>
                                  <p:childTnLst>
                                    <p:set>
                                      <p:cBhvr>
                                        <p:cTn id="59" dur="1" fill="hold">
                                          <p:stCondLst>
                                            <p:cond delay="0"/>
                                          </p:stCondLst>
                                        </p:cTn>
                                        <p:tgtEl>
                                          <p:spTgt spid="6"/>
                                        </p:tgtEl>
                                        <p:attrNameLst>
                                          <p:attrName>style.visibility</p:attrName>
                                        </p:attrNameLst>
                                      </p:cBhvr>
                                      <p:to>
                                        <p:strVal val="visible"/>
                                      </p:to>
                                    </p:set>
                                    <p:animEffect transition="in" filter="wipe(left)">
                                      <p:cBhvr>
                                        <p:cTn id="61" dur="800"/>
                                        <p:tgtEl>
                                          <p:spTgt spid="6"/>
                                        </p:tgtEl>
                                      </p:cBhvr>
                                    </p:animEffect>
                                  </p:childTnLst>
                                </p:cTn>
                              </p:par>
                            </p:childTnLst>
                          </p:cTn>
                        </p:par>
                        <p:par>
                          <p:cTn id="62" fill="hold">
                            <p:stCondLst>
                              <p:cond delay="1100"/>
                            </p:stCondLst>
                            <p:childTnLst>
                              <p:par>
                                <p:cTn id="63" presetID="10" presetClass="entr" presetSubtype="0" fill="hold" grpId="0" nodeType="afterEffect">
                                  <p:stCondLst>
                                    <p:cond delay="0"/>
                                  </p:stCondLst>
                                  <p:childTnLst>
                                    <p:set>
                                      <p:cBhvr>
                                        <p:cTn id="64" dur="1" fill="hold">
                                          <p:stCondLst>
                                            <p:cond delay="0"/>
                                          </p:stCondLst>
                                        </p:cTn>
                                        <p:tgtEl>
                                          <p:spTgt spid="10"/>
                                        </p:tgtEl>
                                        <p:attrNameLst>
                                          <p:attrName>style.visibility</p:attrName>
                                        </p:attrNameLst>
                                      </p:cBhvr>
                                      <p:to>
                                        <p:strVal val="visible"/>
                                      </p:to>
                                    </p:set>
                                    <p:animEffect transition="in" filter="fade">
                                      <p:cBhvr>
                                        <p:cTn id="65" dur="5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14" grpId="0" animBg="1"/>
      <p:bldP spid="12" grpId="0" animBg="1"/>
      <p:bldP spid="13" grpId="0" animBg="1"/>
      <p:bldP spid="7" grpId="0" animBg="1"/>
      <p:bldP spid="8" grpId="0" animBg="1"/>
      <p:bldP spid="9" grpId="0" animBg="1"/>
      <p:bldP spid="6" grpId="0" animBg="1"/>
      <p:bldP spid="10"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LABORATORIYA REJASI</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Reja</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a:t>
            </a:r>
          </a:p>
        </p:txBody>
      </p:sp>
      <p:sp>
        <p:nvSpPr>
          <p:cNvPr id="10" name="Rounded Rectangle 9"/>
          <p:cNvSpPr/>
          <p:nvPr/>
        </p:nvSpPr>
        <p:spPr>
          <a:xfrm>
            <a:off x="550000" y="1300000"/>
            <a:ext cx="11100000" cy="725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300000"/>
            <a:ext cx="70000" cy="725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14325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300000"/>
            <a:ext cx="10050000" cy="725000"/>
          </a:xfrm>
          <a:prstGeom prst="rect">
            <a:avLst/>
          </a:prstGeom>
          <a:noFill/>
        </p:spPr>
        <p:txBody>
          <a:bodyPr wrap="square" anchor="ctr" lIns="50800" rIns="50800">
            <a:spAutoFit/>
          </a:bodyPr>
          <a:lstStyle/>
          <a:p>
            <a:pPr algn="l"/>
            <a:r>
              <a:rPr sz="1900" b="0">
                <a:solidFill>
                  <a:srgbClr val="1B2430"/>
                </a:solidFill>
                <a:latin typeface="Calibri"/>
              </a:rPr>
              <a:t>Mavzuning maqsadi va o'rganish natijalari</a:t>
            </a:r>
          </a:p>
        </p:txBody>
      </p:sp>
      <p:sp>
        <p:nvSpPr>
          <p:cNvPr id="14" name="Rounded Rectangle 13"/>
          <p:cNvSpPr/>
          <p:nvPr/>
        </p:nvSpPr>
        <p:spPr>
          <a:xfrm>
            <a:off x="550000" y="2145000"/>
            <a:ext cx="11100000" cy="725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145000"/>
            <a:ext cx="70000" cy="72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22775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145000"/>
            <a:ext cx="10050000" cy="725000"/>
          </a:xfrm>
          <a:prstGeom prst="rect">
            <a:avLst/>
          </a:prstGeom>
          <a:noFill/>
        </p:spPr>
        <p:txBody>
          <a:bodyPr wrap="square" anchor="ctr" lIns="50800" rIns="50800">
            <a:spAutoFit/>
          </a:bodyPr>
          <a:lstStyle/>
          <a:p>
            <a:pPr algn="l"/>
            <a:r>
              <a:rPr sz="1900" b="0">
                <a:solidFill>
                  <a:srgbClr val="1B2430"/>
                </a:solidFill>
                <a:latin typeface="Calibri"/>
              </a:rPr>
              <a:t>Kirish</a:t>
            </a:r>
          </a:p>
        </p:txBody>
      </p:sp>
      <p:sp>
        <p:nvSpPr>
          <p:cNvPr id="18" name="Rounded Rectangle 17"/>
          <p:cNvSpPr/>
          <p:nvPr/>
        </p:nvSpPr>
        <p:spPr>
          <a:xfrm>
            <a:off x="550000" y="2990000"/>
            <a:ext cx="11100000" cy="725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2990000"/>
            <a:ext cx="70000" cy="725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31225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2990000"/>
            <a:ext cx="10050000" cy="725000"/>
          </a:xfrm>
          <a:prstGeom prst="rect">
            <a:avLst/>
          </a:prstGeom>
          <a:noFill/>
        </p:spPr>
        <p:txBody>
          <a:bodyPr wrap="square" anchor="ctr" lIns="50800" rIns="50800">
            <a:spAutoFit/>
          </a:bodyPr>
          <a:lstStyle/>
          <a:p>
            <a:pPr algn="l"/>
            <a:r>
              <a:rPr sz="1900" b="0">
                <a:solidFill>
                  <a:srgbClr val="1B2430"/>
                </a:solidFill>
                <a:latin typeface="Calibri"/>
              </a:rPr>
              <a:t>Nazariy asoslar</a:t>
            </a:r>
          </a:p>
        </p:txBody>
      </p:sp>
      <p:sp>
        <p:nvSpPr>
          <p:cNvPr id="22" name="Rounded Rectangle 21"/>
          <p:cNvSpPr/>
          <p:nvPr/>
        </p:nvSpPr>
        <p:spPr>
          <a:xfrm>
            <a:off x="550000" y="3835000"/>
            <a:ext cx="11100000" cy="725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3835000"/>
            <a:ext cx="70000" cy="725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00000" y="39675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5" name="TextBox 24"/>
          <p:cNvSpPr txBox="1"/>
          <p:nvPr/>
        </p:nvSpPr>
        <p:spPr>
          <a:xfrm>
            <a:off x="1450000" y="3835000"/>
            <a:ext cx="10050000" cy="725000"/>
          </a:xfrm>
          <a:prstGeom prst="rect">
            <a:avLst/>
          </a:prstGeom>
          <a:noFill/>
        </p:spPr>
        <p:txBody>
          <a:bodyPr wrap="square" anchor="ctr" lIns="50800" rIns="50800">
            <a:spAutoFit/>
          </a:bodyPr>
          <a:lstStyle/>
          <a:p>
            <a:pPr algn="l"/>
            <a:r>
              <a:rPr sz="1900" b="0">
                <a:solidFill>
                  <a:srgbClr val="1B2430"/>
                </a:solidFill>
                <a:latin typeface="Calibri"/>
              </a:rPr>
              <a:t>Amaliy misol</a:t>
            </a:r>
          </a:p>
        </p:txBody>
      </p:sp>
      <p:sp>
        <p:nvSpPr>
          <p:cNvPr id="26" name="Rounded Rectangle 25"/>
          <p:cNvSpPr/>
          <p:nvPr/>
        </p:nvSpPr>
        <p:spPr>
          <a:xfrm>
            <a:off x="550000" y="4680000"/>
            <a:ext cx="11100000" cy="725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4680000"/>
            <a:ext cx="70000" cy="725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00000" y="48125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9" name="TextBox 28"/>
          <p:cNvSpPr txBox="1"/>
          <p:nvPr/>
        </p:nvSpPr>
        <p:spPr>
          <a:xfrm>
            <a:off x="1450000" y="4680000"/>
            <a:ext cx="10050000" cy="725000"/>
          </a:xfrm>
          <a:prstGeom prst="rect">
            <a:avLst/>
          </a:prstGeom>
          <a:noFill/>
        </p:spPr>
        <p:txBody>
          <a:bodyPr wrap="square" anchor="ctr" lIns="50800" rIns="50800">
            <a:spAutoFit/>
          </a:bodyPr>
          <a:lstStyle/>
          <a:p>
            <a:pPr algn="l"/>
            <a:r>
              <a:rPr sz="1900" b="0">
                <a:solidFill>
                  <a:srgbClr val="1B2430"/>
                </a:solidFill>
                <a:latin typeface="Calibri"/>
              </a:rPr>
              <a:t>Natijalarni tahlil qilish</a:t>
            </a:r>
          </a:p>
        </p:txBody>
      </p:sp>
      <p:sp>
        <p:nvSpPr>
          <p:cNvPr id="30" name="Rounded Rectangle 29"/>
          <p:cNvSpPr/>
          <p:nvPr/>
        </p:nvSpPr>
        <p:spPr>
          <a:xfrm>
            <a:off x="550000" y="5525000"/>
            <a:ext cx="11100000" cy="725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5525000"/>
            <a:ext cx="70000" cy="725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800000" y="5657500"/>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33" name="TextBox 32"/>
          <p:cNvSpPr txBox="1"/>
          <p:nvPr/>
        </p:nvSpPr>
        <p:spPr>
          <a:xfrm>
            <a:off x="1450000" y="5525000"/>
            <a:ext cx="10050000" cy="725000"/>
          </a:xfrm>
          <a:prstGeom prst="rect">
            <a:avLst/>
          </a:prstGeom>
          <a:noFill/>
        </p:spPr>
        <p:txBody>
          <a:bodyPr wrap="square" anchor="ctr" lIns="50800" rIns="50800">
            <a:spAutoFit/>
          </a:bodyPr>
          <a:lstStyle/>
          <a:p>
            <a:pPr algn="l"/>
            <a:r>
              <a:rPr sz="1900" b="0">
                <a:solidFill>
                  <a:srgbClr val="1B2430"/>
                </a:solidFill>
                <a:latin typeface="Calibri"/>
              </a:rPr>
              <a:t>Keng tarqalgan xatolar va amaliy tavsiyalar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5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6"/>
                                        </p:tgtEl>
                                        <p:attrNameLst>
                                          <p:attrName>style.visibility</p:attrName>
                                        </p:attrNameLst>
                                      </p:cBhvr>
                                      <p:to>
                                        <p:strVal val="visible"/>
                                      </p:to>
                                    </p:set>
                                    <p:animEffect transition="in" filter="fade">
                                      <p:cBhvr>
                                        <p:cTn id="106" dur="550"/>
                                        <p:tgtEl>
                                          <p:spTgt spid="26"/>
                                        </p:tgtEl>
                                      </p:cBhvr>
                                    </p:animEffect>
                                    <p:anim calcmode="lin" valueType="num">
                                      <p:cBhvr additive="base">
                                        <p:cTn id="107" dur="550" fill="hold"/>
                                        <p:tgtEl>
                                          <p:spTgt spid="26"/>
                                        </p:tgtEl>
                                        <p:attrNameLst>
                                          <p:attrName>ppt_x</p:attrName>
                                        </p:attrNameLst>
                                      </p:cBhvr>
                                      <p:tavLst>
                                        <p:tav tm="0">
                                          <p:val>
                                            <p:strVal val="#ppt_x"/>
                                          </p:val>
                                        </p:tav>
                                        <p:tav tm="100000">
                                          <p:val>
                                            <p:strVal val="#ppt_x"/>
                                          </p:val>
                                        </p:tav>
                                      </p:tavLst>
                                    </p:anim>
                                    <p:anim calcmode="lin" valueType="num">
                                      <p:cBhvr additive="base">
                                        <p:cTn id="108" dur="550" fill="hold"/>
                                        <p:tgtEl>
                                          <p:spTgt spid="26"/>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7"/>
                                        </p:tgtEl>
                                        <p:attrNameLst>
                                          <p:attrName>style.visibility</p:attrName>
                                        </p:attrNameLst>
                                      </p:cBhvr>
                                      <p:to>
                                        <p:strVal val="visible"/>
                                      </p:to>
                                    </p:set>
                                    <p:animEffect transition="in" filter="fade">
                                      <p:cBhvr>
                                        <p:cTn id="112" dur="550"/>
                                        <p:tgtEl>
                                          <p:spTgt spid="27"/>
                                        </p:tgtEl>
                                      </p:cBhvr>
                                    </p:animEffect>
                                    <p:anim calcmode="lin" valueType="num">
                                      <p:cBhvr additive="base">
                                        <p:cTn id="113" dur="550" fill="hold"/>
                                        <p:tgtEl>
                                          <p:spTgt spid="27"/>
                                        </p:tgtEl>
                                        <p:attrNameLst>
                                          <p:attrName>ppt_x</p:attrName>
                                        </p:attrNameLst>
                                      </p:cBhvr>
                                      <p:tavLst>
                                        <p:tav tm="0">
                                          <p:val>
                                            <p:strVal val="#ppt_x"/>
                                          </p:val>
                                        </p:tav>
                                        <p:tav tm="100000">
                                          <p:val>
                                            <p:strVal val="#ppt_x"/>
                                          </p:val>
                                        </p:tav>
                                      </p:tavLst>
                                    </p:anim>
                                    <p:anim calcmode="lin" valueType="num">
                                      <p:cBhvr additive="base">
                                        <p:cTn id="114" dur="550" fill="hold"/>
                                        <p:tgtEl>
                                          <p:spTgt spid="27"/>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8"/>
                                        </p:tgtEl>
                                        <p:attrNameLst>
                                          <p:attrName>style.visibility</p:attrName>
                                        </p:attrNameLst>
                                      </p:cBhvr>
                                      <p:to>
                                        <p:strVal val="visible"/>
                                      </p:to>
                                    </p:set>
                                    <p:animEffect transition="in" filter="fade">
                                      <p:cBhvr>
                                        <p:cTn id="118" dur="550"/>
                                        <p:tgtEl>
                                          <p:spTgt spid="28"/>
                                        </p:tgtEl>
                                      </p:cBhvr>
                                    </p:animEffect>
                                    <p:anim calcmode="lin" valueType="num">
                                      <p:cBhvr additive="base">
                                        <p:cTn id="119" dur="550" fill="hold"/>
                                        <p:tgtEl>
                                          <p:spTgt spid="28"/>
                                        </p:tgtEl>
                                        <p:attrNameLst>
                                          <p:attrName>ppt_w</p:attrName>
                                        </p:attrNameLst>
                                      </p:cBhvr>
                                      <p:tavLst>
                                        <p:tav tm="0">
                                          <p:val>
                                            <p:strVal val="0"/>
                                          </p:val>
                                        </p:tav>
                                        <p:tav tm="100000">
                                          <p:val>
                                            <p:strVal val="#ppt_w"/>
                                          </p:val>
                                        </p:tav>
                                      </p:tavLst>
                                    </p:anim>
                                    <p:anim calcmode="lin" valueType="num">
                                      <p:cBhvr additive="base">
                                        <p:cTn id="120" dur="550" fill="hold"/>
                                        <p:tgtEl>
                                          <p:spTgt spid="28"/>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9"/>
                                        </p:tgtEl>
                                        <p:attrNameLst>
                                          <p:attrName>style.visibility</p:attrName>
                                        </p:attrNameLst>
                                      </p:cBhvr>
                                      <p:to>
                                        <p:strVal val="visible"/>
                                      </p:to>
                                    </p:set>
                                    <p:animEffect transition="in" filter="fade">
                                      <p:cBhvr>
                                        <p:cTn id="124" dur="550"/>
                                        <p:tgtEl>
                                          <p:spTgt spid="29"/>
                                        </p:tgtEl>
                                      </p:cBhvr>
                                    </p:animEffect>
                                    <p:anim calcmode="lin" valueType="num">
                                      <p:cBhvr additive="base">
                                        <p:cTn id="125" dur="550" fill="hold"/>
                                        <p:tgtEl>
                                          <p:spTgt spid="29"/>
                                        </p:tgtEl>
                                        <p:attrNameLst>
                                          <p:attrName>ppt_x</p:attrName>
                                        </p:attrNameLst>
                                      </p:cBhvr>
                                      <p:tavLst>
                                        <p:tav tm="0">
                                          <p:val>
                                            <p:strVal val="#ppt_x"/>
                                          </p:val>
                                        </p:tav>
                                        <p:tav tm="100000">
                                          <p:val>
                                            <p:strVal val="#ppt_x"/>
                                          </p:val>
                                        </p:tav>
                                      </p:tavLst>
                                    </p:anim>
                                    <p:anim calcmode="lin" valueType="num">
                                      <p:cBhvr additive="base">
                                        <p:cTn id="126" dur="550" fill="hold"/>
                                        <p:tgtEl>
                                          <p:spTgt spid="29"/>
                                        </p:tgtEl>
                                        <p:attrNameLst>
                                          <p:attrName>ppt_y</p:attrName>
                                        </p:attrNameLst>
                                      </p:cBhvr>
                                      <p:tavLst>
                                        <p:tav tm="0">
                                          <p:val>
                                            <p:strVal val="#ppt_y+.08"/>
                                          </p:val>
                                        </p:tav>
                                        <p:tav tm="100000">
                                          <p:val>
                                            <p:strVal val="#ppt_y"/>
                                          </p:val>
                                        </p:tav>
                                      </p:tavLst>
                                    </p:anim>
                                  </p:childTnLst>
                                </p:cTn>
                              </p:par>
                            </p:childTnLst>
                          </p:cTn>
                        </p:par>
                        <p:par>
                          <p:cTn id="127" fill="hold">
                            <p:stCondLst>
                              <p:cond delay="1320"/>
                            </p:stCondLst>
                            <p:childTnLst>
                              <p:par>
                                <p:cTn id="128" presetID="42" presetClass="entr" presetSubtype="0" fill="hold" grpId="0" nodeType="afterEffect">
                                  <p:stCondLst>
                                    <p:cond delay="0"/>
                                  </p:stCondLst>
                                  <p:childTnLst>
                                    <p:set>
                                      <p:cBhvr>
                                        <p:cTn id="129" dur="1" fill="hold">
                                          <p:stCondLst>
                                            <p:cond delay="0"/>
                                          </p:stCondLst>
                                        </p:cTn>
                                        <p:tgtEl>
                                          <p:spTgt spid="30"/>
                                        </p:tgtEl>
                                        <p:attrNameLst>
                                          <p:attrName>style.visibility</p:attrName>
                                        </p:attrNameLst>
                                      </p:cBhvr>
                                      <p:to>
                                        <p:strVal val="visible"/>
                                      </p:to>
                                    </p:set>
                                    <p:animEffect transition="in" filter="fade">
                                      <p:cBhvr>
                                        <p:cTn id="130" dur="550"/>
                                        <p:tgtEl>
                                          <p:spTgt spid="30"/>
                                        </p:tgtEl>
                                      </p:cBhvr>
                                    </p:animEffect>
                                    <p:anim calcmode="lin" valueType="num">
                                      <p:cBhvr additive="base">
                                        <p:cTn id="131" dur="550" fill="hold"/>
                                        <p:tgtEl>
                                          <p:spTgt spid="30"/>
                                        </p:tgtEl>
                                        <p:attrNameLst>
                                          <p:attrName>ppt_x</p:attrName>
                                        </p:attrNameLst>
                                      </p:cBhvr>
                                      <p:tavLst>
                                        <p:tav tm="0">
                                          <p:val>
                                            <p:strVal val="#ppt_x"/>
                                          </p:val>
                                        </p:tav>
                                        <p:tav tm="100000">
                                          <p:val>
                                            <p:strVal val="#ppt_x"/>
                                          </p:val>
                                        </p:tav>
                                      </p:tavLst>
                                    </p:anim>
                                    <p:anim calcmode="lin" valueType="num">
                                      <p:cBhvr additive="base">
                                        <p:cTn id="132" dur="550" fill="hold"/>
                                        <p:tgtEl>
                                          <p:spTgt spid="30"/>
                                        </p:tgtEl>
                                        <p:attrNameLst>
                                          <p:attrName>ppt_y</p:attrName>
                                        </p:attrNameLst>
                                      </p:cBhvr>
                                      <p:tavLst>
                                        <p:tav tm="0">
                                          <p:val>
                                            <p:strVal val="#ppt_y+.08"/>
                                          </p:val>
                                        </p:tav>
                                        <p:tav tm="100000">
                                          <p:val>
                                            <p:strVal val="#ppt_y"/>
                                          </p:val>
                                        </p:tav>
                                      </p:tavLst>
                                    </p:anim>
                                  </p:childTnLst>
                                </p:cTn>
                              </p:par>
                            </p:childTnLst>
                          </p:cTn>
                        </p:par>
                        <p:par>
                          <p:cTn id="133" fill="hold">
                            <p:stCondLst>
                              <p:cond delay="1320"/>
                            </p:stCondLst>
                            <p:childTnLst>
                              <p:par>
                                <p:cTn id="134" presetID="42" presetClass="entr" presetSubtype="0" fill="hold" grpId="0" nodeType="afterEffect">
                                  <p:stCondLst>
                                    <p:cond delay="0"/>
                                  </p:stCondLst>
                                  <p:childTnLst>
                                    <p:set>
                                      <p:cBhvr>
                                        <p:cTn id="135" dur="1" fill="hold">
                                          <p:stCondLst>
                                            <p:cond delay="0"/>
                                          </p:stCondLst>
                                        </p:cTn>
                                        <p:tgtEl>
                                          <p:spTgt spid="31"/>
                                        </p:tgtEl>
                                        <p:attrNameLst>
                                          <p:attrName>style.visibility</p:attrName>
                                        </p:attrNameLst>
                                      </p:cBhvr>
                                      <p:to>
                                        <p:strVal val="visible"/>
                                      </p:to>
                                    </p:set>
                                    <p:animEffect transition="in" filter="fade">
                                      <p:cBhvr>
                                        <p:cTn id="136" dur="550"/>
                                        <p:tgtEl>
                                          <p:spTgt spid="31"/>
                                        </p:tgtEl>
                                      </p:cBhvr>
                                    </p:animEffect>
                                    <p:anim calcmode="lin" valueType="num">
                                      <p:cBhvr additive="base">
                                        <p:cTn id="137" dur="550" fill="hold"/>
                                        <p:tgtEl>
                                          <p:spTgt spid="31"/>
                                        </p:tgtEl>
                                        <p:attrNameLst>
                                          <p:attrName>ppt_x</p:attrName>
                                        </p:attrNameLst>
                                      </p:cBhvr>
                                      <p:tavLst>
                                        <p:tav tm="0">
                                          <p:val>
                                            <p:strVal val="#ppt_x"/>
                                          </p:val>
                                        </p:tav>
                                        <p:tav tm="100000">
                                          <p:val>
                                            <p:strVal val="#ppt_x"/>
                                          </p:val>
                                        </p:tav>
                                      </p:tavLst>
                                    </p:anim>
                                    <p:anim calcmode="lin" valueType="num">
                                      <p:cBhvr additive="base">
                                        <p:cTn id="138" dur="550" fill="hold"/>
                                        <p:tgtEl>
                                          <p:spTgt spid="31"/>
                                        </p:tgtEl>
                                        <p:attrNameLst>
                                          <p:attrName>ppt_y</p:attrName>
                                        </p:attrNameLst>
                                      </p:cBhvr>
                                      <p:tavLst>
                                        <p:tav tm="0">
                                          <p:val>
                                            <p:strVal val="#ppt_y+.08"/>
                                          </p:val>
                                        </p:tav>
                                        <p:tav tm="100000">
                                          <p:val>
                                            <p:strVal val="#ppt_y"/>
                                          </p:val>
                                        </p:tav>
                                      </p:tavLst>
                                    </p:anim>
                                  </p:childTnLst>
                                </p:cTn>
                              </p:par>
                            </p:childTnLst>
                          </p:cTn>
                        </p:par>
                        <p:par>
                          <p:cTn id="139" fill="hold">
                            <p:stCondLst>
                              <p:cond delay="1320"/>
                            </p:stCondLst>
                            <p:childTnLst>
                              <p:par>
                                <p:cTn id="140" presetID="53" presetClass="entr" presetSubtype="16" fill="hold" grpId="0" nodeType="afterEffect">
                                  <p:stCondLst>
                                    <p:cond delay="0"/>
                                  </p:stCondLst>
                                  <p:childTnLst>
                                    <p:set>
                                      <p:cBhvr>
                                        <p:cTn id="141" dur="1" fill="hold">
                                          <p:stCondLst>
                                            <p:cond delay="0"/>
                                          </p:stCondLst>
                                        </p:cTn>
                                        <p:tgtEl>
                                          <p:spTgt spid="32"/>
                                        </p:tgtEl>
                                        <p:attrNameLst>
                                          <p:attrName>style.visibility</p:attrName>
                                        </p:attrNameLst>
                                      </p:cBhvr>
                                      <p:to>
                                        <p:strVal val="visible"/>
                                      </p:to>
                                    </p:set>
                                    <p:animEffect transition="in" filter="fade">
                                      <p:cBhvr>
                                        <p:cTn id="142" dur="550"/>
                                        <p:tgtEl>
                                          <p:spTgt spid="32"/>
                                        </p:tgtEl>
                                      </p:cBhvr>
                                    </p:animEffect>
                                    <p:anim calcmode="lin" valueType="num">
                                      <p:cBhvr additive="base">
                                        <p:cTn id="143" dur="550" fill="hold"/>
                                        <p:tgtEl>
                                          <p:spTgt spid="32"/>
                                        </p:tgtEl>
                                        <p:attrNameLst>
                                          <p:attrName>ppt_w</p:attrName>
                                        </p:attrNameLst>
                                      </p:cBhvr>
                                      <p:tavLst>
                                        <p:tav tm="0">
                                          <p:val>
                                            <p:strVal val="0"/>
                                          </p:val>
                                        </p:tav>
                                        <p:tav tm="100000">
                                          <p:val>
                                            <p:strVal val="#ppt_w"/>
                                          </p:val>
                                        </p:tav>
                                      </p:tavLst>
                                    </p:anim>
                                    <p:anim calcmode="lin" valueType="num">
                                      <p:cBhvr additive="base">
                                        <p:cTn id="144" dur="550" fill="hold"/>
                                        <p:tgtEl>
                                          <p:spTgt spid="32"/>
                                        </p:tgtEl>
                                        <p:attrNameLst>
                                          <p:attrName>ppt_h</p:attrName>
                                        </p:attrNameLst>
                                      </p:cBhvr>
                                      <p:tavLst>
                                        <p:tav tm="0">
                                          <p:val>
                                            <p:strVal val="0"/>
                                          </p:val>
                                        </p:tav>
                                        <p:tav tm="100000">
                                          <p:val>
                                            <p:strVal val="#ppt_h"/>
                                          </p:val>
                                        </p:tav>
                                      </p:tavLst>
                                    </p:anim>
                                  </p:childTnLst>
                                </p:cTn>
                              </p:par>
                            </p:childTnLst>
                          </p:cTn>
                        </p:par>
                        <p:par>
                          <p:cTn id="145" fill="hold">
                            <p:stCondLst>
                              <p:cond delay="1320"/>
                            </p:stCondLst>
                            <p:childTnLst>
                              <p:par>
                                <p:cTn id="146" presetID="42" presetClass="entr" presetSubtype="0" fill="hold" grpId="0" nodeType="afterEffect">
                                  <p:stCondLst>
                                    <p:cond delay="0"/>
                                  </p:stCondLst>
                                  <p:childTnLst>
                                    <p:set>
                                      <p:cBhvr>
                                        <p:cTn id="147" dur="1" fill="hold">
                                          <p:stCondLst>
                                            <p:cond delay="0"/>
                                          </p:stCondLst>
                                        </p:cTn>
                                        <p:tgtEl>
                                          <p:spTgt spid="33"/>
                                        </p:tgtEl>
                                        <p:attrNameLst>
                                          <p:attrName>style.visibility</p:attrName>
                                        </p:attrNameLst>
                                      </p:cBhvr>
                                      <p:to>
                                        <p:strVal val="visible"/>
                                      </p:to>
                                    </p:set>
                                    <p:animEffect transition="in" filter="fade">
                                      <p:cBhvr>
                                        <p:cTn id="148" dur="550"/>
                                        <p:tgtEl>
                                          <p:spTgt spid="33"/>
                                        </p:tgtEl>
                                      </p:cBhvr>
                                    </p:animEffect>
                                    <p:anim calcmode="lin" valueType="num">
                                      <p:cBhvr additive="base">
                                        <p:cTn id="149" dur="550" fill="hold"/>
                                        <p:tgtEl>
                                          <p:spTgt spid="33"/>
                                        </p:tgtEl>
                                        <p:attrNameLst>
                                          <p:attrName>ppt_x</p:attrName>
                                        </p:attrNameLst>
                                      </p:cBhvr>
                                      <p:tavLst>
                                        <p:tav tm="0">
                                          <p:val>
                                            <p:strVal val="#ppt_x"/>
                                          </p:val>
                                        </p:tav>
                                        <p:tav tm="100000">
                                          <p:val>
                                            <p:strVal val="#ppt_x"/>
                                          </p:val>
                                        </p:tav>
                                      </p:tavLst>
                                    </p:anim>
                                    <p:anim calcmode="lin" valueType="num">
                                      <p:cBhvr additive="base">
                                        <p:cTn id="150" dur="550" fill="hold"/>
                                        <p:tgtEl>
                                          <p:spTgt spid="3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f5b12c50fbc01189.jpg"/>
          <p:cNvPicPr>
            <a:picLocks noChangeAspect="1"/>
          </p:cNvPicPr>
          <p:nvPr/>
        </p:nvPicPr>
        <p:blipFill>
          <a:blip r:embed="rId2"/>
          <a:srcRect l="17782" r="17782"/>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The original uploader was Kaewkasi at  Wikipedia. · Wikimedia Commons · CC BY-SA 3.0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01</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Mavzuning maqsadi va o'rganish natijalari</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Mavzuning maqsadi va o'rganish natijalari (1)</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Ushbu amaliy mashg'ulotning maqsadi — magistrantlarda bitta hisoblash qurilmasi doirasidan chiqib, bir nechta GPU yoki bir nechta tugun (node) ustida ishlaydigan taqsimlangan sun'iy…</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PyTorch Distributed (torch.distributed) kutubxonasi va torchrun ishga tushirgichi yordamida ma'lumotlar parallelligi (Distributed Data Parallel, DDP) asosida ko'p GPU'li o'qitish skriptini…</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Ray va MPI (Message Passing Interface) yondashuvlarining DDP'dan farqini tushuntirish va berilgan masala uchun qaysi birini tanlashni asoslash.</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Kuchli va kuchsiz masshtablash (strong/weak scaling) tushunchalarini ajratish, masshtablash samaradorligi (scaling efficiency) koeffitsiyentini hisoblash va natijalarni jadval ko'rinishida…</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Taqsimlangan inferens (parallel inference) uchun ma'lumotlarni bo'lib yuborish (sharding) va natijalarni yig'ish (all-gather) sxemasini amalga oshirish, o'tkazuvchanlik (throughput) va…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Mavzuning maqsadi va o'rganish natijalari (2)</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5</a:t>
            </a:r>
          </a:p>
        </p:txBody>
      </p:sp>
      <p:sp>
        <p:nvSpPr>
          <p:cNvPr id="9" name="Rounded Rectangle 8"/>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2076666"/>
            <a:ext cx="70000" cy="1250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471666"/>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12" name="TextBox 11"/>
          <p:cNvSpPr txBox="1"/>
          <p:nvPr/>
        </p:nvSpPr>
        <p:spPr>
          <a:xfrm>
            <a:off x="1450000" y="2076666"/>
            <a:ext cx="10050000" cy="1250000"/>
          </a:xfrm>
          <a:prstGeom prst="rect">
            <a:avLst/>
          </a:prstGeom>
          <a:noFill/>
        </p:spPr>
        <p:txBody>
          <a:bodyPr wrap="square" anchor="ctr" lIns="50800" rIns="50800">
            <a:spAutoFit/>
          </a:bodyPr>
          <a:lstStyle/>
          <a:p>
            <a:pPr algn="l"/>
            <a:r>
              <a:rPr sz="1800" b="0">
                <a:solidFill>
                  <a:srgbClr val="1B2430"/>
                </a:solidFill>
                <a:latin typeface="Calibri"/>
              </a:rPr>
              <a:t>Kommunikatsiya xarajatlari, sinxronizatsiya nuqtalari va to'g'ri bo'lmagan konfiguratsiya tufayli yuzaga keladigan tipik muammolarni aniqlash va bartaraf etish.</a:t>
            </a:r>
          </a:p>
        </p:txBody>
      </p:sp>
      <p:sp>
        <p:nvSpPr>
          <p:cNvPr id="13" name="Rounded Rectangle 12"/>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344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384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16" name="TextBox 15"/>
          <p:cNvSpPr txBox="1"/>
          <p:nvPr/>
        </p:nvSpPr>
        <p:spPr>
          <a:xfrm>
            <a:off x="1450000" y="3446666"/>
            <a:ext cx="10050000" cy="1250000"/>
          </a:xfrm>
          <a:prstGeom prst="rect">
            <a:avLst/>
          </a:prstGeom>
          <a:noFill/>
        </p:spPr>
        <p:txBody>
          <a:bodyPr wrap="square" anchor="ctr" lIns="50800" rIns="50800">
            <a:spAutoFit/>
          </a:bodyPr>
          <a:lstStyle/>
          <a:p>
            <a:pPr algn="l"/>
            <a:r>
              <a:rPr sz="1800" b="0">
                <a:solidFill>
                  <a:srgbClr val="1B2430"/>
                </a:solidFill>
                <a:latin typeface="Calibri"/>
              </a:rPr>
              <a:t>Mavzu fanning TN3 (parallel va taqsimlangan hisoblash texnologiyalarini qo'llash), TN5 (AI tizimlarini bulutli va klasterli infratuzilmaga joylashtirish) va TN6 (unumdorlikni o'lchash,…</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99a9d797ecdbcf11.jpg"/>
          <p:cNvPicPr>
            <a:picLocks noChangeAspect="1"/>
          </p:cNvPicPr>
          <p:nvPr/>
        </p:nvPicPr>
        <p:blipFill>
          <a:blip r:embed="rId2"/>
          <a:srcRect l="24293" r="24293"/>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Dennis van Zuijlekom · Wikimedia Commons · CC BY-SA 2.0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02</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Kirish</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Kirish</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7</a:t>
            </a:r>
          </a:p>
        </p:txBody>
      </p:sp>
      <p:sp>
        <p:nvSpPr>
          <p:cNvPr id="9" name="Rounded Rectangle 8"/>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Zamonaviy chuqur o'rganish modellarining o'lchami va o'quv to'plamlarining hajmi bitta tezlatkich (accelerator) imkoniyatlaridan ancha oshib ketdi. Masalan, ImageNet-1k ustida ResNet-50 modelini 90 epoxa davomida bitta NVIDIA A100 GPU'da o'qitish taxminan…</a:t>
            </a:r>
          </a:p>
        </p:txBody>
      </p:sp>
      <p:sp>
        <p:nvSpPr>
          <p:cNvPr id="13" name="Rounded Rectangle 12"/>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Sanoat kontekstida taqsimlangan AI tizimlari uchta asosiy ko'rinishda uchraydi. Birinchisi — taqsimlangan o'qitish (distributed training), bunda modelni o'qitish ishi ko'plab GPU'lar orasida bo'linadi va har bir qadamda gradientlar sinxronlashtiriladi.</a:t>
            </a:r>
          </a:p>
        </p:txBody>
      </p:sp>
      <p:sp>
        <p:nvSpPr>
          <p:cNvPr id="17" name="Rounded Rectangle 16"/>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Taqsimlangan tizimni ishlab chiqishdagi asosiy muhandislik muammosi — hisoblash va kommunikatsiya o'rtasidagi muvozanat. Qancha ko'p GPU qo'shsak, har bir GPU'ga to'g'ri keladigan hisoblash ulushi kamayadi, lekin ular orasidagi gradient almashinuvi hajmi…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5444aa4f2bf4a3c.jpg"/>
          <p:cNvPicPr>
            <a:picLocks noChangeAspect="1"/>
          </p:cNvPicPr>
          <p:nvPr/>
        </p:nvPicPr>
        <p:blipFill>
          <a:blip r:embed="rId2"/>
          <a:srcRect l="25837" r="25837"/>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Levin Holtkamp · Wikimedia Commons · CC BY-SA 4.0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03</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Nazariy asoslar</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Parallellik turlari va ularning qo'llanish sohalari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9</a:t>
            </a:r>
          </a:p>
        </p:txBody>
      </p:sp>
      <p:sp>
        <p:nvSpPr>
          <p:cNvPr id="10" name="Rounded Rectangle 9"/>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076666"/>
            <a:ext cx="10050000" cy="1250000"/>
          </a:xfrm>
          <a:prstGeom prst="rect">
            <a:avLst/>
          </a:prstGeom>
          <a:noFill/>
        </p:spPr>
        <p:txBody>
          <a:bodyPr wrap="square" anchor="ctr" lIns="50800" rIns="50800">
            <a:spAutoFit/>
          </a:bodyPr>
          <a:lstStyle/>
          <a:p>
            <a:pPr algn="l"/>
            <a:r>
              <a:rPr sz="1600" b="0">
                <a:solidFill>
                  <a:srgbClr val="1B2430"/>
                </a:solidFill>
                <a:latin typeface="Calibri"/>
              </a:rPr>
              <a:t>Taqsimlangan o'qitishda to'rtta asosiy parallellik turi farqlanadi. Ma'lumotlar parallelligi (data parallelism) — eng keng tarqalgan usul: modelning to'liq nusxasi har bir GPU'da saqlanadi, global mini-paket (batch) GPU'lar soniga teng bo'laklarga bo'linadi,…</a:t>
            </a:r>
          </a:p>
        </p:txBody>
      </p:sp>
      <p:sp>
        <p:nvSpPr>
          <p:cNvPr id="14" name="Rounded Rectangle 13"/>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3446666"/>
            <a:ext cx="10050000" cy="1250000"/>
          </a:xfrm>
          <a:prstGeom prst="rect">
            <a:avLst/>
          </a:prstGeom>
          <a:noFill/>
        </p:spPr>
        <p:txBody>
          <a:bodyPr wrap="square" anchor="ctr" lIns="50800" rIns="50800">
            <a:spAutoFit/>
          </a:bodyPr>
          <a:lstStyle/>
          <a:p>
            <a:pPr algn="l"/>
            <a:r>
              <a:rPr sz="1600" b="0">
                <a:solidFill>
                  <a:srgbClr val="1B2430"/>
                </a:solidFill>
                <a:latin typeface="Calibri"/>
              </a:rPr>
              <a:t>Ushbu mashg'ulotda asosiy e'tibor DDP'ga qaratiladi, chunki u eng ko'p qo'llaniladi va boshqa usullarni tushunish uchun poydevor bo'ladi. Fully Sharded Data Parallel (FSDP) haqida esa qo'shimcha topshiriqda so'z yuritiladi.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Parallellik turlari va ularning qo'llanish sohalari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10</a:t>
            </a:r>
          </a:p>
        </p:txBody>
      </p:sp>
      <p:graphicFrame>
        <p:nvGraphicFramePr>
          <p:cNvPr id="10" name="Table 9"/>
          <p:cNvGraphicFramePr>
            <a:graphicFrameLocks noGrp="1"/>
          </p:cNvGraphicFramePr>
          <p:nvPr/>
        </p:nvGraphicFramePr>
        <p:xfrm>
          <a:off x="500000" y="1350000"/>
          <a:ext cx="11200000" cy="260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200" b="1">
                          <a:solidFill>
                            <a:srgbClr val="FFFFFF"/>
                          </a:solidFill>
                          <a:latin typeface="Calibri"/>
                        </a:rPr>
                        <a:t>Parallellik turi</a:t>
                      </a:r>
                    </a:p>
                  </a:txBody>
                  <a:tcPr>
                    <a:solidFill>
                      <a:srgbClr val="2D5C8F"/>
                    </a:solidFill>
                  </a:tcPr>
                </a:tc>
                <a:tc>
                  <a:txBody>
                    <a:bodyPr/>
                    <a:lstStyle/>
                    <a:p>
                      <a:r>
                        <a:rPr sz="1200" b="1">
                          <a:solidFill>
                            <a:srgbClr val="FFFFFF"/>
                          </a:solidFill>
                          <a:latin typeface="Calibri"/>
                        </a:rPr>
                        <a:t>Nimani bo'ladi</a:t>
                      </a:r>
                    </a:p>
                  </a:txBody>
                  <a:tcPr>
                    <a:solidFill>
                      <a:srgbClr val="2D5C8F"/>
                    </a:solidFill>
                  </a:tcPr>
                </a:tc>
                <a:tc>
                  <a:txBody>
                    <a:bodyPr/>
                    <a:lstStyle/>
                    <a:p>
                      <a:r>
                        <a:rPr sz="1200" b="1">
                          <a:solidFill>
                            <a:srgbClr val="FFFFFF"/>
                          </a:solidFill>
                          <a:latin typeface="Calibri"/>
                        </a:rPr>
                        <a:t>Kommunikatsiya hajmi</a:t>
                      </a:r>
                    </a:p>
                  </a:txBody>
                  <a:tcPr>
                    <a:solidFill>
                      <a:srgbClr val="2D5C8F"/>
                    </a:solidFill>
                  </a:tcPr>
                </a:tc>
                <a:tc>
                  <a:txBody>
                    <a:bodyPr/>
                    <a:lstStyle/>
                    <a:p>
                      <a:r>
                        <a:rPr sz="1200" b="1">
                          <a:solidFill>
                            <a:srgbClr val="FFFFFF"/>
                          </a:solidFill>
                          <a:latin typeface="Calibri"/>
                        </a:rPr>
                        <a:t>Qachon tanlanadi</a:t>
                      </a:r>
                    </a:p>
                  </a:txBody>
                  <a:tcPr>
                    <a:solidFill>
                      <a:srgbClr val="2D5C8F"/>
                    </a:solidFill>
                  </a:tcPr>
                </a:tc>
              </a:tr>
              <a:tr h="520000">
                <a:tc>
                  <a:txBody>
                    <a:bodyPr/>
                    <a:lstStyle/>
                    <a:p>
                      <a:r>
                        <a:rPr sz="1200" b="0">
                          <a:solidFill>
                            <a:srgbClr val="1B2430"/>
                          </a:solidFill>
                          <a:latin typeface="Calibri"/>
                        </a:rPr>
                        <a:t>Ma'lumotlar (DDP)</a:t>
                      </a:r>
                    </a:p>
                  </a:txBody>
                  <a:tcPr>
                    <a:solidFill>
                      <a:srgbClr val="F1F4F8"/>
                    </a:solidFill>
                  </a:tcPr>
                </a:tc>
                <a:tc>
                  <a:txBody>
                    <a:bodyPr/>
                    <a:lstStyle/>
                    <a:p>
                      <a:r>
                        <a:rPr sz="1200" b="0">
                          <a:solidFill>
                            <a:srgbClr val="1B2430"/>
                          </a:solidFill>
                          <a:latin typeface="Calibri"/>
                        </a:rPr>
                        <a:t>Mini-paketni</a:t>
                      </a:r>
                    </a:p>
                  </a:txBody>
                  <a:tcPr>
                    <a:solidFill>
                      <a:srgbClr val="F1F4F8"/>
                    </a:solidFill>
                  </a:tcPr>
                </a:tc>
                <a:tc>
                  <a:txBody>
                    <a:bodyPr/>
                    <a:lstStyle/>
                    <a:p>
                      <a:r>
                        <a:rPr sz="1200" b="0">
                          <a:solidFill>
                            <a:srgbClr val="1B2430"/>
                          </a:solidFill>
                          <a:latin typeface="Calibri"/>
                        </a:rPr>
                        <a:t>Har qadamda barcha gradientlar (model o'lchamiga teng)</a:t>
                      </a:r>
                    </a:p>
                  </a:txBody>
                  <a:tcPr>
                    <a:solidFill>
                      <a:srgbClr val="F1F4F8"/>
                    </a:solidFill>
                  </a:tcPr>
                </a:tc>
                <a:tc>
                  <a:txBody>
                    <a:bodyPr/>
                    <a:lstStyle/>
                    <a:p>
                      <a:r>
                        <a:rPr sz="1200" b="0">
                          <a:solidFill>
                            <a:srgbClr val="1B2430"/>
                          </a:solidFill>
                          <a:latin typeface="Calibri"/>
                        </a:rPr>
                        <a:t>Model bitta GPU'ga sig'sa</a:t>
                      </a:r>
                    </a:p>
                  </a:txBody>
                  <a:tcPr>
                    <a:solidFill>
                      <a:srgbClr val="F1F4F8"/>
                    </a:solidFill>
                  </a:tcPr>
                </a:tc>
              </a:tr>
              <a:tr h="520000">
                <a:tc>
                  <a:txBody>
                    <a:bodyPr/>
                    <a:lstStyle/>
                    <a:p>
                      <a:r>
                        <a:rPr sz="1200" b="0">
                          <a:solidFill>
                            <a:srgbClr val="1B2430"/>
                          </a:solidFill>
                          <a:latin typeface="Calibri"/>
                        </a:rPr>
                        <a:t>FSDP / ZeRO</a:t>
                      </a:r>
                    </a:p>
                  </a:txBody>
                  <a:tcPr>
                    <a:solidFill>
                      <a:srgbClr val="FFFFFF"/>
                    </a:solidFill>
                  </a:tcPr>
                </a:tc>
                <a:tc>
                  <a:txBody>
                    <a:bodyPr/>
                    <a:lstStyle/>
                    <a:p>
                      <a:r>
                        <a:rPr sz="1200" b="0">
                          <a:solidFill>
                            <a:srgbClr val="1B2430"/>
                          </a:solidFill>
                          <a:latin typeface="Calibri"/>
                        </a:rPr>
                        <a:t>Parametrlar, gradientlar, optimizator holati</a:t>
                      </a:r>
                    </a:p>
                  </a:txBody>
                  <a:tcPr>
                    <a:solidFill>
                      <a:srgbClr val="FFFFFF"/>
                    </a:solidFill>
                  </a:tcPr>
                </a:tc>
                <a:tc>
                  <a:txBody>
                    <a:bodyPr/>
                    <a:lstStyle/>
                    <a:p>
                      <a:r>
                        <a:rPr sz="1200" b="0">
                          <a:solidFill>
                            <a:srgbClr val="1B2430"/>
                          </a:solidFill>
                          <a:latin typeface="Calibri"/>
                        </a:rPr>
                        <a:t>All-gather + reduce-scatter</a:t>
                      </a:r>
                    </a:p>
                  </a:txBody>
                  <a:tcPr>
                    <a:solidFill>
                      <a:srgbClr val="FFFFFF"/>
                    </a:solidFill>
                  </a:tcPr>
                </a:tc>
                <a:tc>
                  <a:txBody>
                    <a:bodyPr/>
                    <a:lstStyle/>
                    <a:p>
                      <a:r>
                        <a:rPr sz="1200" b="0">
                          <a:solidFill>
                            <a:srgbClr val="1B2430"/>
                          </a:solidFill>
                          <a:latin typeface="Calibri"/>
                        </a:rPr>
                        <a:t>Model sig'maydi, lekin bitta tugunda yoki tezkor tarmoq bor</a:t>
                      </a:r>
                    </a:p>
                  </a:txBody>
                  <a:tcPr>
                    <a:solidFill>
                      <a:srgbClr val="FFFFFF"/>
                    </a:solidFill>
                  </a:tcPr>
                </a:tc>
              </a:tr>
              <a:tr h="520000">
                <a:tc>
                  <a:txBody>
                    <a:bodyPr/>
                    <a:lstStyle/>
                    <a:p>
                      <a:r>
                        <a:rPr sz="1200" b="0">
                          <a:solidFill>
                            <a:srgbClr val="1B2430"/>
                          </a:solidFill>
                          <a:latin typeface="Calibri"/>
                        </a:rPr>
                        <a:t>Tensor</a:t>
                      </a:r>
                    </a:p>
                  </a:txBody>
                  <a:tcPr>
                    <a:solidFill>
                      <a:srgbClr val="F1F4F8"/>
                    </a:solidFill>
                  </a:tcPr>
                </a:tc>
                <a:tc>
                  <a:txBody>
                    <a:bodyPr/>
                    <a:lstStyle/>
                    <a:p>
                      <a:r>
                        <a:rPr sz="1200" b="0">
                          <a:solidFill>
                            <a:srgbClr val="1B2430"/>
                          </a:solidFill>
                          <a:latin typeface="Calibri"/>
                        </a:rPr>
                        <a:t>Bitta qatlam matritsasini</a:t>
                      </a:r>
                    </a:p>
                  </a:txBody>
                  <a:tcPr>
                    <a:solidFill>
                      <a:srgbClr val="F1F4F8"/>
                    </a:solidFill>
                  </a:tcPr>
                </a:tc>
                <a:tc>
                  <a:txBody>
                    <a:bodyPr/>
                    <a:lstStyle/>
                    <a:p>
                      <a:r>
                        <a:rPr sz="1200" b="0">
                          <a:solidFill>
                            <a:srgbClr val="1B2430"/>
                          </a:solidFill>
                          <a:latin typeface="Calibri"/>
                        </a:rPr>
                        <a:t>Har qatlamda aktivatsiyalar</a:t>
                      </a:r>
                    </a:p>
                  </a:txBody>
                  <a:tcPr>
                    <a:solidFill>
                      <a:srgbClr val="F1F4F8"/>
                    </a:solidFill>
                  </a:tcPr>
                </a:tc>
                <a:tc>
                  <a:txBody>
                    <a:bodyPr/>
                    <a:lstStyle/>
                    <a:p>
                      <a:r>
                        <a:rPr sz="1200" b="0">
                          <a:solidFill>
                            <a:srgbClr val="1B2430"/>
                          </a:solidFill>
                          <a:latin typeface="Calibri"/>
                        </a:rPr>
                        <a:t>Juda katta qatlamlar, NVLink bor</a:t>
                      </a:r>
                    </a:p>
                  </a:txBody>
                  <a:tcPr>
                    <a:solidFill>
                      <a:srgbClr val="F1F4F8"/>
                    </a:solidFill>
                  </a:tcPr>
                </a:tc>
              </a:tr>
              <a:tr h="520000">
                <a:tc>
                  <a:txBody>
                    <a:bodyPr/>
                    <a:lstStyle/>
                    <a:p>
                      <a:r>
                        <a:rPr sz="1200" b="0">
                          <a:solidFill>
                            <a:srgbClr val="1B2430"/>
                          </a:solidFill>
                          <a:latin typeface="Calibri"/>
                        </a:rPr>
                        <a:t>Pipeline</a:t>
                      </a:r>
                    </a:p>
                  </a:txBody>
                  <a:tcPr>
                    <a:solidFill>
                      <a:srgbClr val="FFFFFF"/>
                    </a:solidFill>
                  </a:tcPr>
                </a:tc>
                <a:tc>
                  <a:txBody>
                    <a:bodyPr/>
                    <a:lstStyle/>
                    <a:p>
                      <a:r>
                        <a:rPr sz="1200" b="0">
                          <a:solidFill>
                            <a:srgbClr val="1B2430"/>
                          </a:solidFill>
                          <a:latin typeface="Calibri"/>
                        </a:rPr>
                        <a:t>Qatlamlar bosqichlarini</a:t>
                      </a:r>
                    </a:p>
                  </a:txBody>
                  <a:tcPr>
                    <a:solidFill>
                      <a:srgbClr val="FFFFFF"/>
                    </a:solidFill>
                  </a:tcPr>
                </a:tc>
                <a:tc>
                  <a:txBody>
                    <a:bodyPr/>
                    <a:lstStyle/>
                    <a:p>
                      <a:r>
                        <a:rPr sz="1200" b="0">
                          <a:solidFill>
                            <a:srgbClr val="1B2430"/>
                          </a:solidFill>
                          <a:latin typeface="Calibri"/>
                        </a:rPr>
                        <a:t>Faqat bosqichlar chegarasida aktivatsiyalar</a:t>
                      </a:r>
                    </a:p>
                  </a:txBody>
                  <a:tcPr>
                    <a:solidFill>
                      <a:srgbClr val="FFFFFF"/>
                    </a:solidFill>
                  </a:tcPr>
                </a:tc>
                <a:tc>
                  <a:txBody>
                    <a:bodyPr/>
                    <a:lstStyle/>
                    <a:p>
                      <a:r>
                        <a:rPr sz="1200" b="0">
                          <a:solidFill>
                            <a:srgbClr val="1B2430"/>
                          </a:solidFill>
                          <a:latin typeface="Calibri"/>
                        </a:rPr>
                        <a:t>Ko'p tugun, sekin tarmoq</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PyTorch Distributed: jarayonlar guruhi, backend va DDP mexanizmi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11</a:t>
            </a:r>
          </a:p>
        </p:txBody>
      </p:sp>
      <p:sp>
        <p:nvSpPr>
          <p:cNvPr id="10" name="Rounded Rectangle 9"/>
          <p:cNvSpPr/>
          <p:nvPr/>
        </p:nvSpPr>
        <p:spPr>
          <a:xfrm>
            <a:off x="550000" y="1300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300000"/>
            <a:ext cx="70000" cy="11475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164375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300000"/>
            <a:ext cx="10050000" cy="1147500"/>
          </a:xfrm>
          <a:prstGeom prst="rect">
            <a:avLst/>
          </a:prstGeom>
          <a:noFill/>
        </p:spPr>
        <p:txBody>
          <a:bodyPr wrap="square" anchor="ctr" lIns="50800" rIns="50800">
            <a:spAutoFit/>
          </a:bodyPr>
          <a:lstStyle/>
          <a:p>
            <a:pPr algn="l"/>
            <a:r>
              <a:rPr sz="1400" b="0">
                <a:solidFill>
                  <a:srgbClr val="1B2430"/>
                </a:solidFill>
                <a:latin typeface="Calibri"/>
              </a:rPr>
              <a:t>PyTorch'da taqsimlangan hisoblashning asosi — torch.distributed paketi.</a:t>
            </a:r>
          </a:p>
        </p:txBody>
      </p:sp>
      <p:sp>
        <p:nvSpPr>
          <p:cNvPr id="14" name="Rounded Rectangle 13"/>
          <p:cNvSpPr/>
          <p:nvPr/>
        </p:nvSpPr>
        <p:spPr>
          <a:xfrm>
            <a:off x="550000" y="2567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567500"/>
            <a:ext cx="70000" cy="11475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291125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567500"/>
            <a:ext cx="10050000" cy="1147500"/>
          </a:xfrm>
          <a:prstGeom prst="rect">
            <a:avLst/>
          </a:prstGeom>
          <a:noFill/>
        </p:spPr>
        <p:txBody>
          <a:bodyPr wrap="square" anchor="ctr" lIns="50800" rIns="50800">
            <a:spAutoFit/>
          </a:bodyPr>
          <a:lstStyle/>
          <a:p>
            <a:pPr algn="l"/>
            <a:r>
              <a:rPr sz="1400" b="0">
                <a:solidFill>
                  <a:srgbClr val="1B2430"/>
                </a:solidFill>
                <a:latin typeface="Calibri"/>
              </a:rPr>
              <a:t>Jarayonlar orasidagi xabar almashinuvi backend orqali amalga oshiriladi.</a:t>
            </a:r>
          </a:p>
        </p:txBody>
      </p:sp>
      <p:sp>
        <p:nvSpPr>
          <p:cNvPr id="18" name="Rounded Rectangle 17"/>
          <p:cNvSpPr/>
          <p:nvPr/>
        </p:nvSpPr>
        <p:spPr>
          <a:xfrm>
            <a:off x="550000" y="3835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3835000"/>
            <a:ext cx="70000" cy="11475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17875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3835000"/>
            <a:ext cx="10050000" cy="1147500"/>
          </a:xfrm>
          <a:prstGeom prst="rect">
            <a:avLst/>
          </a:prstGeom>
          <a:noFill/>
        </p:spPr>
        <p:txBody>
          <a:bodyPr wrap="square" anchor="ctr" lIns="50800" rIns="50800">
            <a:spAutoFit/>
          </a:bodyPr>
          <a:lstStyle/>
          <a:p>
            <a:pPr algn="l"/>
            <a:r>
              <a:rPr sz="1400" b="0">
                <a:solidFill>
                  <a:srgbClr val="1B2430"/>
                </a:solidFill>
                <a:latin typeface="Calibri"/>
              </a:rPr>
              <a:t>DistributedDataParallel (DDP) o'rami (wrapper) quyidagicha ishlaydi: modelni o'rab olish paytida 0-rankdagi parametrlar barcha jarayonlarga broadcast qilinadi, shu bilan barcha nusxalar bir…</a:t>
            </a:r>
          </a:p>
        </p:txBody>
      </p:sp>
      <p:sp>
        <p:nvSpPr>
          <p:cNvPr id="22" name="Rounded Rectangle 21"/>
          <p:cNvSpPr/>
          <p:nvPr/>
        </p:nvSpPr>
        <p:spPr>
          <a:xfrm>
            <a:off x="550000" y="5102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5102500"/>
            <a:ext cx="70000" cy="11475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00000" y="544625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5" name="TextBox 24"/>
          <p:cNvSpPr txBox="1"/>
          <p:nvPr/>
        </p:nvSpPr>
        <p:spPr>
          <a:xfrm>
            <a:off x="1450000" y="5102500"/>
            <a:ext cx="10050000" cy="1147500"/>
          </a:xfrm>
          <a:prstGeom prst="rect">
            <a:avLst/>
          </a:prstGeom>
          <a:noFill/>
        </p:spPr>
        <p:txBody>
          <a:bodyPr wrap="square" anchor="ctr" lIns="50800" rIns="50800">
            <a:spAutoFit/>
          </a:bodyPr>
          <a:lstStyle/>
          <a:p>
            <a:pPr algn="l"/>
            <a:r>
              <a:rPr sz="1400" b="0">
                <a:solidFill>
                  <a:srgbClr val="1B2430"/>
                </a:solidFill>
                <a:latin typeface="Calibri"/>
              </a:rPr>
              <a:t>Muhim nuqta — ma'lumotlarni bo'lish. DistributedSampler har bir epoxada ma'lumotlar to'plamini world_size ta kesishmaydigan qismga bo'ladi va har bir jarayonga o'zining qismini beradi;…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Ring All-Reduce va kommunikatsiya narxi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12</a:t>
            </a:r>
          </a:p>
        </p:txBody>
      </p:sp>
      <p:sp>
        <p:nvSpPr>
          <p:cNvPr id="10" name="Rounded Rectangle 9"/>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076666"/>
            <a:ext cx="10050000" cy="1250000"/>
          </a:xfrm>
          <a:prstGeom prst="rect">
            <a:avLst/>
          </a:prstGeom>
          <a:noFill/>
        </p:spPr>
        <p:txBody>
          <a:bodyPr wrap="square" anchor="ctr" lIns="50800" rIns="50800">
            <a:spAutoFit/>
          </a:bodyPr>
          <a:lstStyle/>
          <a:p>
            <a:pPr algn="l"/>
            <a:r>
              <a:rPr sz="1600" b="0">
                <a:solidFill>
                  <a:srgbClr val="1B2430"/>
                </a:solidFill>
                <a:latin typeface="Calibri"/>
              </a:rPr>
              <a:t>All-reduce operatsiyasining samaradorligi butun tizim unumdorligini belgilaydi. Sodda yondashuvda barcha gradientlar bitta parametr-serverga yuboriladi, u yig'adi va qaytaradi: bunda server tarmoq o'tkazuvchanligi N ta ishchi uchun chiziqli o'sib boruvchi yuk…</a:t>
            </a:r>
          </a:p>
        </p:txBody>
      </p:sp>
      <p:sp>
        <p:nvSpPr>
          <p:cNvPr id="14" name="Rounded Rectangle 13"/>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3446666"/>
            <a:ext cx="10050000" cy="1250000"/>
          </a:xfrm>
          <a:prstGeom prst="rect">
            <a:avLst/>
          </a:prstGeom>
          <a:noFill/>
        </p:spPr>
        <p:txBody>
          <a:bodyPr wrap="square" anchor="ctr" lIns="50800" rIns="50800">
            <a:spAutoFit/>
          </a:bodyPr>
          <a:lstStyle/>
          <a:p>
            <a:pPr algn="l"/>
            <a:r>
              <a:rPr sz="1600" b="0">
                <a:solidFill>
                  <a:srgbClr val="1B2430"/>
                </a:solidFill>
                <a:latin typeface="Calibri"/>
              </a:rPr>
              <a:t>Kommunikatsiya narxini kamaytirishning amaliy usullari: gradient to'plash (gradient accumulation — bir necha mikro-paket uchun bitta all-reduce), aralash aniqlik (gradientlarni BF16 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Masshtablash samaradorligi ko'rsatkichlari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13</a:t>
            </a:r>
          </a:p>
        </p:txBody>
      </p:sp>
      <p:sp>
        <p:nvSpPr>
          <p:cNvPr id="10" name="Rounded Rectangle 9"/>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076666"/>
            <a:ext cx="10050000" cy="1250000"/>
          </a:xfrm>
          <a:prstGeom prst="rect">
            <a:avLst/>
          </a:prstGeom>
          <a:noFill/>
        </p:spPr>
        <p:txBody>
          <a:bodyPr wrap="square" anchor="ctr" lIns="50800" rIns="50800">
            <a:spAutoFit/>
          </a:bodyPr>
          <a:lstStyle/>
          <a:p>
            <a:pPr algn="l"/>
            <a:r>
              <a:rPr sz="1600" b="0">
                <a:solidFill>
                  <a:srgbClr val="1B2430"/>
                </a:solidFill>
                <a:latin typeface="Calibri"/>
              </a:rPr>
              <a:t>Taqsimlangan tizimni baholashda quyidagi miqdorlar ishlatiladi. T(1) — bitta GPU'dagi bir epoxa (yoki belgilangan qadam soni) vaqti, T(N) — N GPU'dagi vaqt.</a:t>
            </a:r>
          </a:p>
        </p:txBody>
      </p:sp>
      <p:sp>
        <p:nvSpPr>
          <p:cNvPr id="14" name="Rounded Rectangle 13"/>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3446666"/>
            <a:ext cx="10050000" cy="1250000"/>
          </a:xfrm>
          <a:prstGeom prst="rect">
            <a:avLst/>
          </a:prstGeom>
          <a:noFill/>
        </p:spPr>
        <p:txBody>
          <a:bodyPr wrap="square" anchor="ctr" lIns="50800" rIns="50800">
            <a:spAutoFit/>
          </a:bodyPr>
          <a:lstStyle/>
          <a:p>
            <a:pPr algn="l"/>
            <a:r>
              <a:rPr sz="1600" b="0">
                <a:solidFill>
                  <a:srgbClr val="1B2430"/>
                </a:solidFill>
                <a:latin typeface="Calibri"/>
              </a:rPr>
              <a:t>Ikki rejimni farqlash shart. Kuchli masshtablash (strong scaling): global paket hajmi o'zgarmaydi, GPU qo'shilganda har biriga kamroq namuna tegadi; bu yerda GPU'lar «to'yinmay» qoladi va samaradorlik tez tushadi. Kuchsiz masshtablash (weak scaling): har bir…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Masshtablash samaradorligi ko'rsatkichlari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14</a:t>
            </a:r>
          </a:p>
        </p:txBody>
      </p:sp>
      <p:graphicFrame>
        <p:nvGraphicFramePr>
          <p:cNvPr id="10" name="Table 9"/>
          <p:cNvGraphicFramePr>
            <a:graphicFrameLocks noGrp="1"/>
          </p:cNvGraphicFramePr>
          <p:nvPr/>
        </p:nvGraphicFramePr>
        <p:xfrm>
          <a:off x="500000" y="1350000"/>
          <a:ext cx="11200000" cy="2600000"/>
        </p:xfrm>
        <a:graphic>
          <a:graphicData uri="http://schemas.openxmlformats.org/drawingml/2006/table">
            <a:tbl>
              <a:tblPr firstRow="1" bandRow="1">
                <a:tableStyleId>{5C22544A-7EE6-4342-B048-85BDC9FD1C3A}</a:tableStyleId>
              </a:tblPr>
              <a:tblGrid>
                <a:gridCol w="3733333"/>
                <a:gridCol w="3733333"/>
                <a:gridCol w="3733334"/>
              </a:tblGrid>
              <a:tr h="520000">
                <a:tc>
                  <a:txBody>
                    <a:bodyPr/>
                    <a:lstStyle/>
                    <a:p>
                      <a:r>
                        <a:rPr sz="1200" b="1">
                          <a:solidFill>
                            <a:srgbClr val="FFFFFF"/>
                          </a:solidFill>
                          <a:latin typeface="Calibri"/>
                        </a:rPr>
                        <a:t>Ko'rsatkich</a:t>
                      </a:r>
                    </a:p>
                  </a:txBody>
                  <a:tcPr>
                    <a:solidFill>
                      <a:srgbClr val="2D5C8F"/>
                    </a:solidFill>
                  </a:tcPr>
                </a:tc>
                <a:tc>
                  <a:txBody>
                    <a:bodyPr/>
                    <a:lstStyle/>
                    <a:p>
                      <a:r>
                        <a:rPr sz="1200" b="1">
                          <a:solidFill>
                            <a:srgbClr val="FFFFFF"/>
                          </a:solidFill>
                          <a:latin typeface="Calibri"/>
                        </a:rPr>
                        <a:t>Formula</a:t>
                      </a:r>
                    </a:p>
                  </a:txBody>
                  <a:tcPr>
                    <a:solidFill>
                      <a:srgbClr val="2D5C8F"/>
                    </a:solidFill>
                  </a:tcPr>
                </a:tc>
                <a:tc>
                  <a:txBody>
                    <a:bodyPr/>
                    <a:lstStyle/>
                    <a:p>
                      <a:r>
                        <a:rPr sz="1200" b="1">
                          <a:solidFill>
                            <a:srgbClr val="FFFFFF"/>
                          </a:solidFill>
                          <a:latin typeface="Calibri"/>
                        </a:rPr>
                        <a:t>Izoh</a:t>
                      </a:r>
                    </a:p>
                  </a:txBody>
                  <a:tcPr>
                    <a:solidFill>
                      <a:srgbClr val="2D5C8F"/>
                    </a:solidFill>
                  </a:tcPr>
                </a:tc>
              </a:tr>
              <a:tr h="520000">
                <a:tc>
                  <a:txBody>
                    <a:bodyPr/>
                    <a:lstStyle/>
                    <a:p>
                      <a:r>
                        <a:rPr sz="1200" b="0">
                          <a:solidFill>
                            <a:srgbClr val="1B2430"/>
                          </a:solidFill>
                          <a:latin typeface="Calibri"/>
                        </a:rPr>
                        <a:t>O'tkazuvchanlik</a:t>
                      </a:r>
                    </a:p>
                  </a:txBody>
                  <a:tcPr>
                    <a:solidFill>
                      <a:srgbClr val="F1F4F8"/>
                    </a:solidFill>
                  </a:tcPr>
                </a:tc>
                <a:tc>
                  <a:txBody>
                    <a:bodyPr/>
                    <a:lstStyle/>
                    <a:p>
                      <a:r>
                        <a:rPr sz="1200" b="0">
                          <a:solidFill>
                            <a:srgbClr val="1B2430"/>
                          </a:solidFill>
                          <a:latin typeface="Calibri"/>
                        </a:rPr>
                        <a:t>img/s = N_samples / T</a:t>
                      </a:r>
                    </a:p>
                  </a:txBody>
                  <a:tcPr>
                    <a:solidFill>
                      <a:srgbClr val="F1F4F8"/>
                    </a:solidFill>
                  </a:tcPr>
                </a:tc>
                <a:tc>
                  <a:txBody>
                    <a:bodyPr/>
                    <a:lstStyle/>
                    <a:p>
                      <a:r>
                        <a:rPr sz="1200" b="0">
                          <a:solidFill>
                            <a:srgbClr val="1B2430"/>
                          </a:solidFill>
                          <a:latin typeface="Calibri"/>
                        </a:rPr>
                        <a:t>Eng intuitiv, kuchsiz masshtablashda chiziqli o'sishi kerak</a:t>
                      </a:r>
                    </a:p>
                  </a:txBody>
                  <a:tcPr>
                    <a:solidFill>
                      <a:srgbClr val="F1F4F8"/>
                    </a:solidFill>
                  </a:tcPr>
                </a:tc>
              </a:tr>
              <a:tr h="520000">
                <a:tc>
                  <a:txBody>
                    <a:bodyPr/>
                    <a:lstStyle/>
                    <a:p>
                      <a:r>
                        <a:rPr sz="1200" b="0">
                          <a:solidFill>
                            <a:srgbClr val="1B2430"/>
                          </a:solidFill>
                          <a:latin typeface="Calibri"/>
                        </a:rPr>
                        <a:t>Tezlashish</a:t>
                      </a:r>
                    </a:p>
                  </a:txBody>
                  <a:tcPr>
                    <a:solidFill>
                      <a:srgbClr val="FFFFFF"/>
                    </a:solidFill>
                  </a:tcPr>
                </a:tc>
                <a:tc>
                  <a:txBody>
                    <a:bodyPr/>
                    <a:lstStyle/>
                    <a:p>
                      <a:r>
                        <a:rPr sz="1200" b="0">
                          <a:solidFill>
                            <a:srgbClr val="1B2430"/>
                          </a:solidFill>
                          <a:latin typeface="Calibri"/>
                        </a:rPr>
                        <a:t>S(N) = T(1)/T(N)</a:t>
                      </a:r>
                    </a:p>
                  </a:txBody>
                  <a:tcPr>
                    <a:solidFill>
                      <a:srgbClr val="FFFFFF"/>
                    </a:solidFill>
                  </a:tcPr>
                </a:tc>
                <a:tc>
                  <a:txBody>
                    <a:bodyPr/>
                    <a:lstStyle/>
                    <a:p>
                      <a:r>
                        <a:rPr sz="1200" b="0">
                          <a:solidFill>
                            <a:srgbClr val="1B2430"/>
                          </a:solidFill>
                          <a:latin typeface="Calibri"/>
                        </a:rPr>
                        <a:t>Kuchli masshtablash uchun</a:t>
                      </a:r>
                    </a:p>
                  </a:txBody>
                  <a:tcPr>
                    <a:solidFill>
                      <a:srgbClr val="FFFFFF"/>
                    </a:solidFill>
                  </a:tcPr>
                </a:tc>
              </a:tr>
              <a:tr h="520000">
                <a:tc>
                  <a:txBody>
                    <a:bodyPr/>
                    <a:lstStyle/>
                    <a:p>
                      <a:r>
                        <a:rPr sz="1200" b="0">
                          <a:solidFill>
                            <a:srgbClr val="1B2430"/>
                          </a:solidFill>
                          <a:latin typeface="Calibri"/>
                        </a:rPr>
                        <a:t>Samaradorlik</a:t>
                      </a:r>
                    </a:p>
                  </a:txBody>
                  <a:tcPr>
                    <a:solidFill>
                      <a:srgbClr val="F1F4F8"/>
                    </a:solidFill>
                  </a:tcPr>
                </a:tc>
                <a:tc>
                  <a:txBody>
                    <a:bodyPr/>
                    <a:lstStyle/>
                    <a:p>
                      <a:r>
                        <a:rPr sz="1200" b="0">
                          <a:solidFill>
                            <a:srgbClr val="1B2430"/>
                          </a:solidFill>
                          <a:latin typeface="Calibri"/>
                        </a:rPr>
                        <a:t>E(N) = S(N)/N</a:t>
                      </a:r>
                    </a:p>
                  </a:txBody>
                  <a:tcPr>
                    <a:solidFill>
                      <a:srgbClr val="F1F4F8"/>
                    </a:solidFill>
                  </a:tcPr>
                </a:tc>
                <a:tc>
                  <a:txBody>
                    <a:bodyPr/>
                    <a:lstStyle/>
                    <a:p>
                      <a:r>
                        <a:rPr sz="1200" b="0">
                          <a:solidFill>
                            <a:srgbClr val="1B2430"/>
                          </a:solidFill>
                          <a:latin typeface="Calibri"/>
                        </a:rPr>
                        <a:t>100% ga yaqin — yaxshi</a:t>
                      </a:r>
                    </a:p>
                  </a:txBody>
                  <a:tcPr>
                    <a:solidFill>
                      <a:srgbClr val="F1F4F8"/>
                    </a:solidFill>
                  </a:tcPr>
                </a:tc>
              </a:tr>
              <a:tr h="520000">
                <a:tc>
                  <a:txBody>
                    <a:bodyPr/>
                    <a:lstStyle/>
                    <a:p>
                      <a:r>
                        <a:rPr sz="1200" b="0">
                          <a:solidFill>
                            <a:srgbClr val="1B2430"/>
                          </a:solidFill>
                          <a:latin typeface="Calibri"/>
                        </a:rPr>
                        <a:t>Kommunikatsiya ulushi</a:t>
                      </a:r>
                    </a:p>
                  </a:txBody>
                  <a:tcPr>
                    <a:solidFill>
                      <a:srgbClr val="FFFFFF"/>
                    </a:solidFill>
                  </a:tcPr>
                </a:tc>
                <a:tc>
                  <a:txBody>
                    <a:bodyPr/>
                    <a:lstStyle/>
                    <a:p>
                      <a:r>
                        <a:rPr sz="1200" b="0">
                          <a:solidFill>
                            <a:srgbClr val="1B2430"/>
                          </a:solidFill>
                          <a:latin typeface="Calibri"/>
                        </a:rPr>
                        <a:t>T_comm / T_step</a:t>
                      </a:r>
                    </a:p>
                  </a:txBody>
                  <a:tcPr>
                    <a:solidFill>
                      <a:srgbClr val="FFFFFF"/>
                    </a:solidFill>
                  </a:tcPr>
                </a:tc>
                <a:tc>
                  <a:txBody>
                    <a:bodyPr/>
                    <a:lstStyle/>
                    <a:p>
                      <a:r>
                        <a:rPr sz="1200" b="0">
                          <a:solidFill>
                            <a:srgbClr val="1B2430"/>
                          </a:solidFill>
                          <a:latin typeface="Calibri"/>
                        </a:rPr>
                        <a:t>Profiler (Nsight Systems, torch.profiler) orqali</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Ray va MPI: muqobil yondashuvlar</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15</a:t>
            </a:r>
          </a:p>
        </p:txBody>
      </p:sp>
      <p:sp>
        <p:nvSpPr>
          <p:cNvPr id="10" name="Rounded Rectangle 9"/>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076666"/>
            <a:ext cx="10050000" cy="1250000"/>
          </a:xfrm>
          <a:prstGeom prst="rect">
            <a:avLst/>
          </a:prstGeom>
          <a:noFill/>
        </p:spPr>
        <p:txBody>
          <a:bodyPr wrap="square" anchor="ctr" lIns="50800" rIns="50800">
            <a:spAutoFit/>
          </a:bodyPr>
          <a:lstStyle/>
          <a:p>
            <a:pPr algn="l"/>
            <a:r>
              <a:rPr sz="1800" b="0">
                <a:solidFill>
                  <a:srgbClr val="1B2430"/>
                </a:solidFill>
                <a:latin typeface="Calibri"/>
              </a:rPr>
              <a:t>Ray — Python uchun umumiy maqsadli taqsimlangan hisoblash freymvorki. Uning asosiy abstraksiyalari — masofaviy funksiyalar (@ray.remote tasks) va aktorlar (actors, holatli masofaviy obyektlar).</a:t>
            </a:r>
          </a:p>
        </p:txBody>
      </p:sp>
      <p:sp>
        <p:nvSpPr>
          <p:cNvPr id="14" name="Rounded Rectangle 13"/>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3446666"/>
            <a:ext cx="10050000" cy="1250000"/>
          </a:xfrm>
          <a:prstGeom prst="rect">
            <a:avLst/>
          </a:prstGeom>
          <a:noFill/>
        </p:spPr>
        <p:txBody>
          <a:bodyPr wrap="square" anchor="ctr" lIns="50800" rIns="50800">
            <a:spAutoFit/>
          </a:bodyPr>
          <a:lstStyle/>
          <a:p>
            <a:pPr algn="l"/>
            <a:r>
              <a:rPr sz="1800" b="0">
                <a:solidFill>
                  <a:srgbClr val="1B2430"/>
                </a:solidFill>
                <a:latin typeface="Calibri"/>
              </a:rPr>
              <a:t>MPI — 1990-yillardan beri HPC klasterlarida standart bo'lgan xabar almashinuv interfeysi. mpirun -np 8 python train.py buyrug'i 8 ta jarayonni ishga tushiradi, har biri MPI.COMM_WORLD.Get_rank() orqali o'z rankini bilib oladi.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Ray va MPI: muqobil yondashuvlar</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16</a:t>
            </a:r>
          </a:p>
        </p:txBody>
      </p:sp>
      <p:graphicFrame>
        <p:nvGraphicFramePr>
          <p:cNvPr id="10" name="Table 9"/>
          <p:cNvGraphicFramePr>
            <a:graphicFrameLocks noGrp="1"/>
          </p:cNvGraphicFramePr>
          <p:nvPr/>
        </p:nvGraphicFramePr>
        <p:xfrm>
          <a:off x="500000" y="1350000"/>
          <a:ext cx="11200000" cy="312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400" b="1">
                          <a:solidFill>
                            <a:srgbClr val="FFFFFF"/>
                          </a:solidFill>
                          <a:latin typeface="Calibri"/>
                        </a:rPr>
                        <a:t>Mezon</a:t>
                      </a:r>
                    </a:p>
                  </a:txBody>
                  <a:tcPr>
                    <a:solidFill>
                      <a:srgbClr val="2D5C8F"/>
                    </a:solidFill>
                  </a:tcPr>
                </a:tc>
                <a:tc>
                  <a:txBody>
                    <a:bodyPr/>
                    <a:lstStyle/>
                    <a:p>
                      <a:r>
                        <a:rPr sz="1400" b="1">
                          <a:solidFill>
                            <a:srgbClr val="FFFFFF"/>
                          </a:solidFill>
                          <a:latin typeface="Calibri"/>
                        </a:rPr>
                        <a:t>PyTorch DDP + torchrun</a:t>
                      </a:r>
                    </a:p>
                  </a:txBody>
                  <a:tcPr>
                    <a:solidFill>
                      <a:srgbClr val="2D5C8F"/>
                    </a:solidFill>
                  </a:tcPr>
                </a:tc>
                <a:tc>
                  <a:txBody>
                    <a:bodyPr/>
                    <a:lstStyle/>
                    <a:p>
                      <a:r>
                        <a:rPr sz="1400" b="1">
                          <a:solidFill>
                            <a:srgbClr val="FFFFFF"/>
                          </a:solidFill>
                          <a:latin typeface="Calibri"/>
                        </a:rPr>
                        <a:t>Ray Train</a:t>
                      </a:r>
                    </a:p>
                  </a:txBody>
                  <a:tcPr>
                    <a:solidFill>
                      <a:srgbClr val="2D5C8F"/>
                    </a:solidFill>
                  </a:tcPr>
                </a:tc>
                <a:tc>
                  <a:txBody>
                    <a:bodyPr/>
                    <a:lstStyle/>
                    <a:p>
                      <a:r>
                        <a:rPr sz="1400" b="1">
                          <a:solidFill>
                            <a:srgbClr val="FFFFFF"/>
                          </a:solidFill>
                          <a:latin typeface="Calibri"/>
                        </a:rPr>
                        <a:t>MPI / Horovod</a:t>
                      </a:r>
                    </a:p>
                  </a:txBody>
                  <a:tcPr>
                    <a:solidFill>
                      <a:srgbClr val="2D5C8F"/>
                    </a:solidFill>
                  </a:tcPr>
                </a:tc>
              </a:tr>
              <a:tr h="520000">
                <a:tc>
                  <a:txBody>
                    <a:bodyPr/>
                    <a:lstStyle/>
                    <a:p>
                      <a:r>
                        <a:rPr sz="1400" b="0">
                          <a:solidFill>
                            <a:srgbClr val="1B2430"/>
                          </a:solidFill>
                          <a:latin typeface="Calibri"/>
                        </a:rPr>
                        <a:t>Kirish osonligi</a:t>
                      </a:r>
                    </a:p>
                  </a:txBody>
                  <a:tcPr>
                    <a:solidFill>
                      <a:srgbClr val="F1F4F8"/>
                    </a:solidFill>
                  </a:tcPr>
                </a:tc>
                <a:tc>
                  <a:txBody>
                    <a:bodyPr/>
                    <a:lstStyle/>
                    <a:p>
                      <a:r>
                        <a:rPr sz="1400" b="0">
                          <a:solidFill>
                            <a:srgbClr val="1B2430"/>
                          </a:solidFill>
                          <a:latin typeface="Calibri"/>
                        </a:rPr>
                        <a:t>O'rta</a:t>
                      </a:r>
                    </a:p>
                  </a:txBody>
                  <a:tcPr>
                    <a:solidFill>
                      <a:srgbClr val="F1F4F8"/>
                    </a:solidFill>
                  </a:tcPr>
                </a:tc>
                <a:tc>
                  <a:txBody>
                    <a:bodyPr/>
                    <a:lstStyle/>
                    <a:p>
                      <a:r>
                        <a:rPr sz="1400" b="0">
                          <a:solidFill>
                            <a:srgbClr val="1B2430"/>
                          </a:solidFill>
                          <a:latin typeface="Calibri"/>
                        </a:rPr>
                        <a:t>Yuqori (Python-markazli)</a:t>
                      </a:r>
                    </a:p>
                  </a:txBody>
                  <a:tcPr>
                    <a:solidFill>
                      <a:srgbClr val="F1F4F8"/>
                    </a:solidFill>
                  </a:tcPr>
                </a:tc>
                <a:tc>
                  <a:txBody>
                    <a:bodyPr/>
                    <a:lstStyle/>
                    <a:p>
                      <a:r>
                        <a:rPr sz="1400" b="0">
                          <a:solidFill>
                            <a:srgbClr val="1B2430"/>
                          </a:solidFill>
                          <a:latin typeface="Calibri"/>
                        </a:rPr>
                        <a:t>Past (HPC bilimi kerak)</a:t>
                      </a:r>
                    </a:p>
                  </a:txBody>
                  <a:tcPr>
                    <a:solidFill>
                      <a:srgbClr val="F1F4F8"/>
                    </a:solidFill>
                  </a:tcPr>
                </a:tc>
              </a:tr>
              <a:tr h="520000">
                <a:tc>
                  <a:txBody>
                    <a:bodyPr/>
                    <a:lstStyle/>
                    <a:p>
                      <a:r>
                        <a:rPr sz="1400" b="0">
                          <a:solidFill>
                            <a:srgbClr val="1B2430"/>
                          </a:solidFill>
                          <a:latin typeface="Calibri"/>
                        </a:rPr>
                        <a:t>Nosozlikdan tiklash</a:t>
                      </a:r>
                    </a:p>
                  </a:txBody>
                  <a:tcPr>
                    <a:solidFill>
                      <a:srgbClr val="FFFFFF"/>
                    </a:solidFill>
                  </a:tcPr>
                </a:tc>
                <a:tc>
                  <a:txBody>
                    <a:bodyPr/>
                    <a:lstStyle/>
                    <a:p>
                      <a:r>
                        <a:rPr sz="1400" b="0">
                          <a:solidFill>
                            <a:srgbClr val="1B2430"/>
                          </a:solidFill>
                          <a:latin typeface="Calibri"/>
                        </a:rPr>
                        <a:t>Elastik rejimda qisman</a:t>
                      </a:r>
                    </a:p>
                  </a:txBody>
                  <a:tcPr>
                    <a:solidFill>
                      <a:srgbClr val="FFFFFF"/>
                    </a:solidFill>
                  </a:tcPr>
                </a:tc>
                <a:tc>
                  <a:txBody>
                    <a:bodyPr/>
                    <a:lstStyle/>
                    <a:p>
                      <a:r>
                        <a:rPr sz="1400" b="0">
                          <a:solidFill>
                            <a:srgbClr val="1B2430"/>
                          </a:solidFill>
                          <a:latin typeface="Calibri"/>
                        </a:rPr>
                        <a:t>Avtomatik, checkpointdan</a:t>
                      </a:r>
                    </a:p>
                  </a:txBody>
                  <a:tcPr>
                    <a:solidFill>
                      <a:srgbClr val="FFFFFF"/>
                    </a:solidFill>
                  </a:tcPr>
                </a:tc>
                <a:tc>
                  <a:txBody>
                    <a:bodyPr/>
                    <a:lstStyle/>
                    <a:p>
                      <a:r>
                        <a:rPr sz="1400" b="0">
                          <a:solidFill>
                            <a:srgbClr val="1B2430"/>
                          </a:solidFill>
                          <a:latin typeface="Calibri"/>
                        </a:rPr>
                        <a:t>Yo'q</a:t>
                      </a:r>
                    </a:p>
                  </a:txBody>
                  <a:tcPr>
                    <a:solidFill>
                      <a:srgbClr val="FFFFFF"/>
                    </a:solidFill>
                  </a:tcPr>
                </a:tc>
              </a:tr>
              <a:tr h="520000">
                <a:tc>
                  <a:txBody>
                    <a:bodyPr/>
                    <a:lstStyle/>
                    <a:p>
                      <a:r>
                        <a:rPr sz="1400" b="0">
                          <a:solidFill>
                            <a:srgbClr val="1B2430"/>
                          </a:solidFill>
                          <a:latin typeface="Calibri"/>
                        </a:rPr>
                        <a:t>Klaster menejeri</a:t>
                      </a:r>
                    </a:p>
                  </a:txBody>
                  <a:tcPr>
                    <a:solidFill>
                      <a:srgbClr val="F1F4F8"/>
                    </a:solidFill>
                  </a:tcPr>
                </a:tc>
                <a:tc>
                  <a:txBody>
                    <a:bodyPr/>
                    <a:lstStyle/>
                    <a:p>
                      <a:r>
                        <a:rPr sz="1400" b="0">
                          <a:solidFill>
                            <a:srgbClr val="1B2430"/>
                          </a:solidFill>
                          <a:latin typeface="Calibri"/>
                        </a:rPr>
                        <a:t>Slurm, Kubernetes, qo'lda</a:t>
                      </a:r>
                    </a:p>
                  </a:txBody>
                  <a:tcPr>
                    <a:solidFill>
                      <a:srgbClr val="F1F4F8"/>
                    </a:solidFill>
                  </a:tcPr>
                </a:tc>
                <a:tc>
                  <a:txBody>
                    <a:bodyPr/>
                    <a:lstStyle/>
                    <a:p>
                      <a:r>
                        <a:rPr sz="1400" b="0">
                          <a:solidFill>
                            <a:srgbClr val="1B2430"/>
                          </a:solidFill>
                          <a:latin typeface="Calibri"/>
                        </a:rPr>
                        <a:t>Ray klaster (K8s operator bor)</a:t>
                      </a:r>
                    </a:p>
                  </a:txBody>
                  <a:tcPr>
                    <a:solidFill>
                      <a:srgbClr val="F1F4F8"/>
                    </a:solidFill>
                  </a:tcPr>
                </a:tc>
                <a:tc>
                  <a:txBody>
                    <a:bodyPr/>
                    <a:lstStyle/>
                    <a:p>
                      <a:r>
                        <a:rPr sz="1400" b="0">
                          <a:solidFill>
                            <a:srgbClr val="1B2430"/>
                          </a:solidFill>
                          <a:latin typeface="Calibri"/>
                        </a:rPr>
                        <a:t>Slurm, PBS</a:t>
                      </a:r>
                    </a:p>
                  </a:txBody>
                  <a:tcPr>
                    <a:solidFill>
                      <a:srgbClr val="F1F4F8"/>
                    </a:solidFill>
                  </a:tcPr>
                </a:tc>
              </a:tr>
              <a:tr h="520000">
                <a:tc>
                  <a:txBody>
                    <a:bodyPr/>
                    <a:lstStyle/>
                    <a:p>
                      <a:r>
                        <a:rPr sz="1400" b="0">
                          <a:solidFill>
                            <a:srgbClr val="1B2430"/>
                          </a:solidFill>
                          <a:latin typeface="Calibri"/>
                        </a:rPr>
                        <a:t>Inferens xizmati</a:t>
                      </a:r>
                    </a:p>
                  </a:txBody>
                  <a:tcPr>
                    <a:solidFill>
                      <a:srgbClr val="FFFFFF"/>
                    </a:solidFill>
                  </a:tcPr>
                </a:tc>
                <a:tc>
                  <a:txBody>
                    <a:bodyPr/>
                    <a:lstStyle/>
                    <a:p>
                      <a:r>
                        <a:rPr sz="1400" b="0">
                          <a:solidFill>
                            <a:srgbClr val="1B2430"/>
                          </a:solidFill>
                          <a:latin typeface="Calibri"/>
                        </a:rPr>
                        <a:t>Alohida (TorchServe, Triton)</a:t>
                      </a:r>
                    </a:p>
                  </a:txBody>
                  <a:tcPr>
                    <a:solidFill>
                      <a:srgbClr val="FFFFFF"/>
                    </a:solidFill>
                  </a:tcPr>
                </a:tc>
                <a:tc>
                  <a:txBody>
                    <a:bodyPr/>
                    <a:lstStyle/>
                    <a:p>
                      <a:r>
                        <a:rPr sz="1400" b="0">
                          <a:solidFill>
                            <a:srgbClr val="1B2430"/>
                          </a:solidFill>
                          <a:latin typeface="Calibri"/>
                        </a:rPr>
                        <a:t>Ray Serve o'rnatilgan</a:t>
                      </a:r>
                    </a:p>
                  </a:txBody>
                  <a:tcPr>
                    <a:solidFill>
                      <a:srgbClr val="FFFFFF"/>
                    </a:solidFill>
                  </a:tcPr>
                </a:tc>
                <a:tc>
                  <a:txBody>
                    <a:bodyPr/>
                    <a:lstStyle/>
                    <a:p>
                      <a:r>
                        <a:rPr sz="1400" b="0">
                          <a:solidFill>
                            <a:srgbClr val="1B2430"/>
                          </a:solidFill>
                          <a:latin typeface="Calibri"/>
                        </a:rPr>
                        <a:t>Yo'q</a:t>
                      </a:r>
                    </a:p>
                  </a:txBody>
                  <a:tcPr>
                    <a:solidFill>
                      <a:srgbClr val="FFFFFF"/>
                    </a:solidFill>
                  </a:tcPr>
                </a:tc>
              </a:tr>
              <a:tr h="520000">
                <a:tc>
                  <a:txBody>
                    <a:bodyPr/>
                    <a:lstStyle/>
                    <a:p>
                      <a:r>
                        <a:rPr sz="1400" b="0">
                          <a:solidFill>
                            <a:srgbClr val="1B2430"/>
                          </a:solidFill>
                          <a:latin typeface="Calibri"/>
                        </a:rPr>
                        <a:t>Odatiy soha</a:t>
                      </a:r>
                    </a:p>
                  </a:txBody>
                  <a:tcPr>
                    <a:solidFill>
                      <a:srgbClr val="F1F4F8"/>
                    </a:solidFill>
                  </a:tcPr>
                </a:tc>
                <a:tc>
                  <a:txBody>
                    <a:bodyPr/>
                    <a:lstStyle/>
                    <a:p>
                      <a:r>
                        <a:rPr sz="1400" b="0">
                          <a:solidFill>
                            <a:srgbClr val="1B2430"/>
                          </a:solidFill>
                          <a:latin typeface="Calibri"/>
                        </a:rPr>
                        <a:t>Tadqiqot, ishlab chiqarish</a:t>
                      </a:r>
                    </a:p>
                  </a:txBody>
                  <a:tcPr>
                    <a:solidFill>
                      <a:srgbClr val="F1F4F8"/>
                    </a:solidFill>
                  </a:tcPr>
                </a:tc>
                <a:tc>
                  <a:txBody>
                    <a:bodyPr/>
                    <a:lstStyle/>
                    <a:p>
                      <a:r>
                        <a:rPr sz="1400" b="0">
                          <a:solidFill>
                            <a:srgbClr val="1B2430"/>
                          </a:solidFill>
                          <a:latin typeface="Calibri"/>
                        </a:rPr>
                        <a:t>Ishlab chiqarish ML platformalari</a:t>
                      </a:r>
                    </a:p>
                  </a:txBody>
                  <a:tcPr>
                    <a:solidFill>
                      <a:srgbClr val="F1F4F8"/>
                    </a:solidFill>
                  </a:tcPr>
                </a:tc>
                <a:tc>
                  <a:txBody>
                    <a:bodyPr/>
                    <a:lstStyle/>
                    <a:p>
                      <a:r>
                        <a:rPr sz="1400" b="0">
                          <a:solidFill>
                            <a:srgbClr val="1B2430"/>
                          </a:solidFill>
                          <a:latin typeface="Calibri"/>
                        </a:rPr>
                        <a:t>Superkompyuterlar</a:t>
                      </a:r>
                    </a:p>
                  </a:txBody>
                  <a:tcPr>
                    <a:solidFill>
                      <a:srgbClr val="F1F4F8"/>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0db414578745a476.jpg"/>
          <p:cNvPicPr>
            <a:picLocks noChangeAspect="1"/>
          </p:cNvPicPr>
          <p:nvPr/>
        </p:nvPicPr>
        <p:blipFill>
          <a:blip r:embed="rId2"/>
          <a:srcRect l="21474" r="21474"/>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Sgt. 1st Class Andrew Kosterman · Wikimedia Commons · Public domain</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04</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Amaliy misol</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Amaliy misol</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18</a:t>
            </a:r>
          </a:p>
        </p:txBody>
      </p:sp>
      <p:sp>
        <p:nvSpPr>
          <p:cNvPr id="9" name="Rounded Rectangle 8"/>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2533333"/>
            <a:ext cx="10050000" cy="1250000"/>
          </a:xfrm>
          <a:prstGeom prst="rect">
            <a:avLst/>
          </a:prstGeom>
          <a:noFill/>
        </p:spPr>
        <p:txBody>
          <a:bodyPr wrap="square" anchor="ctr" lIns="50800" rIns="50800">
            <a:spAutoFit/>
          </a:bodyPr>
          <a:lstStyle/>
          <a:p>
            <a:pPr algn="l"/>
            <a:r>
              <a:rPr sz="1800" b="0">
                <a:solidFill>
                  <a:srgbClr val="1B2430"/>
                </a:solidFill>
                <a:latin typeface="Calibri"/>
              </a:rPr>
              <a:t>Ushbu bo'lim to'liq bajariladigan laboratoriya topshirig'idir. Topshiriq ikki qismdan iborat: (A) DDP bilan taqsimlangan o'qitish va masshtablash jadvalini to'ldirish; (B) taqsimlangan inferens o'tkazuvchanligini o'lchash.</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Talab qilinadigan muhit</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19</a:t>
            </a:r>
          </a:p>
        </p:txBody>
      </p:sp>
      <p:sp>
        <p:nvSpPr>
          <p:cNvPr id="10" name="Rounded Rectangle 9"/>
          <p:cNvSpPr/>
          <p:nvPr/>
        </p:nvSpPr>
        <p:spPr>
          <a:xfrm>
            <a:off x="550000" y="1300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300000"/>
            <a:ext cx="70000" cy="11475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164375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300000"/>
            <a:ext cx="10050000" cy="1147500"/>
          </a:xfrm>
          <a:prstGeom prst="rect">
            <a:avLst/>
          </a:prstGeom>
          <a:noFill/>
        </p:spPr>
        <p:txBody>
          <a:bodyPr wrap="square" anchor="ctr" lIns="50800" rIns="50800">
            <a:spAutoFit/>
          </a:bodyPr>
          <a:lstStyle/>
          <a:p>
            <a:pPr algn="l"/>
            <a:r>
              <a:rPr sz="1400" b="0">
                <a:solidFill>
                  <a:srgbClr val="1B2430"/>
                </a:solidFill>
                <a:latin typeface="Calibri"/>
              </a:rPr>
              <a:t>Apparat: kamida 2 ta NVIDIA GPU'li bitta server (laboratoriyada 4 × RTX 3090 yoki 4 × A100 tavsiya etiladi). Agar bitta GPU bo'lsa, Gloo backend bilan CPU'da 2–4 jarayon ishlatib, mantiqni…</a:t>
            </a:r>
          </a:p>
        </p:txBody>
      </p:sp>
      <p:sp>
        <p:nvSpPr>
          <p:cNvPr id="14" name="Rounded Rectangle 13"/>
          <p:cNvSpPr/>
          <p:nvPr/>
        </p:nvSpPr>
        <p:spPr>
          <a:xfrm>
            <a:off x="550000" y="2567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567500"/>
            <a:ext cx="70000" cy="11475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291125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567500"/>
            <a:ext cx="10050000" cy="1147500"/>
          </a:xfrm>
          <a:prstGeom prst="rect">
            <a:avLst/>
          </a:prstGeom>
          <a:noFill/>
        </p:spPr>
        <p:txBody>
          <a:bodyPr wrap="square" anchor="ctr" lIns="50800" rIns="50800">
            <a:spAutoFit/>
          </a:bodyPr>
          <a:lstStyle/>
          <a:p>
            <a:pPr algn="l"/>
            <a:r>
              <a:rPr sz="1400" b="0">
                <a:solidFill>
                  <a:srgbClr val="1B2430"/>
                </a:solidFill>
                <a:latin typeface="Calibri"/>
              </a:rPr>
              <a:t>Dasturiy ta'minot: Ubuntu 22.04, NVIDIA drayver 535+, CUDA 12.x, Python 3.10+, PyTorch 2.3+ (pip install torch torchvision), nvidia-smi ishlashi.</a:t>
            </a:r>
          </a:p>
        </p:txBody>
      </p:sp>
      <p:sp>
        <p:nvSpPr>
          <p:cNvPr id="18" name="Rounded Rectangle 17"/>
          <p:cNvSpPr/>
          <p:nvPr/>
        </p:nvSpPr>
        <p:spPr>
          <a:xfrm>
            <a:off x="550000" y="3835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3835000"/>
            <a:ext cx="70000" cy="11475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17875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3835000"/>
            <a:ext cx="10050000" cy="1147500"/>
          </a:xfrm>
          <a:prstGeom prst="rect">
            <a:avLst/>
          </a:prstGeom>
          <a:noFill/>
        </p:spPr>
        <p:txBody>
          <a:bodyPr wrap="square" anchor="ctr" lIns="50800" rIns="50800">
            <a:spAutoFit/>
          </a:bodyPr>
          <a:lstStyle/>
          <a:p>
            <a:pPr algn="l"/>
            <a:r>
              <a:rPr sz="1400" b="0">
                <a:solidFill>
                  <a:srgbClr val="1B2430"/>
                </a:solidFill>
                <a:latin typeface="Calibri"/>
              </a:rPr>
              <a:t>Ma'lumotlar: CIFAR-10 (torchvision avtomatik yuklaydi, 170 MB). Vaqtni tejash uchun 10 000 ta tasvirdan iborat qismi ishlatiladi.</a:t>
            </a:r>
          </a:p>
        </p:txBody>
      </p:sp>
      <p:sp>
        <p:nvSpPr>
          <p:cNvPr id="22" name="Rounded Rectangle 21"/>
          <p:cNvSpPr/>
          <p:nvPr/>
        </p:nvSpPr>
        <p:spPr>
          <a:xfrm>
            <a:off x="550000" y="5102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5102500"/>
            <a:ext cx="70000" cy="11475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00000" y="544625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5" name="TextBox 24"/>
          <p:cNvSpPr txBox="1"/>
          <p:nvPr/>
        </p:nvSpPr>
        <p:spPr>
          <a:xfrm>
            <a:off x="1450000" y="5102500"/>
            <a:ext cx="10050000" cy="1147500"/>
          </a:xfrm>
          <a:prstGeom prst="rect">
            <a:avLst/>
          </a:prstGeom>
          <a:noFill/>
        </p:spPr>
        <p:txBody>
          <a:bodyPr wrap="square" anchor="ctr" lIns="50800" rIns="50800">
            <a:spAutoFit/>
          </a:bodyPr>
          <a:lstStyle/>
          <a:p>
            <a:pPr algn="l"/>
            <a:r>
              <a:rPr sz="1400" b="0">
                <a:solidFill>
                  <a:srgbClr val="1B2430"/>
                </a:solidFill>
                <a:latin typeface="Calibri"/>
              </a:rPr>
              <a:t>Ikki tugunli variant uchun: ikkala server bir xil tarmoqda, bir xil PyTorch versiyasi, 29500-port ochiq.</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1-qadam. Bazaviy (bitta GPU) o'lchov</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20</a:t>
            </a:r>
          </a:p>
        </p:txBody>
      </p:sp>
      <p:sp>
        <p:nvSpPr>
          <p:cNvPr id="10" name="Rounded Rectangle 9"/>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620000"/>
            <a:ext cx="10050000" cy="1250000"/>
          </a:xfrm>
          <a:prstGeom prst="rect">
            <a:avLst/>
          </a:prstGeom>
          <a:noFill/>
        </p:spPr>
        <p:txBody>
          <a:bodyPr wrap="square" anchor="ctr" lIns="50800" rIns="50800">
            <a:spAutoFit/>
          </a:bodyPr>
          <a:lstStyle/>
          <a:p>
            <a:pPr algn="l"/>
            <a:r>
              <a:rPr sz="1800" b="0">
                <a:solidFill>
                  <a:srgbClr val="1B2430"/>
                </a:solidFill>
                <a:latin typeface="Calibri"/>
              </a:rPr>
              <a:t>Avval taqqoslash uchun asos (baseline) kerak. train_ddp.py skripti shunday yoziladiki, u torchrun siz oddiy Python skripti sifatida ham ishlaydi (world_size=1).</a:t>
            </a:r>
          </a:p>
        </p:txBody>
      </p:sp>
      <p:sp>
        <p:nvSpPr>
          <p:cNvPr id="14" name="Rounded Rectangle 13"/>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990000"/>
            <a:ext cx="10050000" cy="1250000"/>
          </a:xfrm>
          <a:prstGeom prst="rect">
            <a:avLst/>
          </a:prstGeom>
          <a:noFill/>
        </p:spPr>
        <p:txBody>
          <a:bodyPr wrap="square" anchor="ctr" lIns="50800" rIns="50800">
            <a:spAutoFit/>
          </a:bodyPr>
          <a:lstStyle/>
          <a:p>
            <a:pPr algn="l"/>
            <a:r>
              <a:rPr sz="1800" b="0">
                <a:solidFill>
                  <a:srgbClr val="1B2430"/>
                </a:solidFill>
                <a:latin typeface="Calibri"/>
              </a:rPr>
              <a:t>Ishga tushirish:</a:t>
            </a:r>
          </a:p>
        </p:txBody>
      </p:sp>
      <p:sp>
        <p:nvSpPr>
          <p:cNvPr id="18" name="Rounded Rectangle 17"/>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4360000"/>
            <a:ext cx="10050000" cy="1250000"/>
          </a:xfrm>
          <a:prstGeom prst="rect">
            <a:avLst/>
          </a:prstGeom>
          <a:noFill/>
        </p:spPr>
        <p:txBody>
          <a:bodyPr wrap="square" anchor="ctr" lIns="50800" rIns="50800">
            <a:spAutoFit/>
          </a:bodyPr>
          <a:lstStyle/>
          <a:p>
            <a:pPr algn="l"/>
            <a:r>
              <a:rPr sz="1800" b="0">
                <a:solidFill>
                  <a:srgbClr val="1B2430"/>
                </a:solidFill>
                <a:latin typeface="Calibri"/>
              </a:rPr>
              <a:t>Nima bo'ldi va nega. Skript bitta jarayonda ishladi, world=1, DDP o'rami qo'llanilmadi. Chiqishda har epoxa uchun vaqt va img/s chiqdi.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1-qadam. Bazaviy (bitta GPU) o'lchov — kod 1</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21</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200">
                <a:solidFill>
                  <a:srgbClr val="7FD6D7"/>
                </a:solidFill>
                <a:latin typeface="Consolas"/>
              </a:rPr>
              <a:t># train_ddp.py</a:t>
            </a:r>
          </a:p>
          <a:p>
            <a:r>
              <a:rPr sz="1200">
                <a:solidFill>
                  <a:srgbClr val="E2E8F0"/>
                </a:solidFill>
                <a:latin typeface="Consolas"/>
              </a:rPr>
              <a:t>import os, time, argparse, json</a:t>
            </a:r>
          </a:p>
          <a:p>
            <a:r>
              <a:rPr sz="1200">
                <a:solidFill>
                  <a:srgbClr val="E2E8F0"/>
                </a:solidFill>
                <a:latin typeface="Consolas"/>
              </a:rPr>
              <a:t>import torch, torch.nn as nn, torch.distributed as dist</a:t>
            </a:r>
          </a:p>
          <a:p>
            <a:r>
              <a:rPr sz="1200">
                <a:solidFill>
                  <a:srgbClr val="E2E8F0"/>
                </a:solidFill>
                <a:latin typeface="Consolas"/>
              </a:rPr>
              <a:t>import torchvision, torchvision.transforms as T</a:t>
            </a:r>
          </a:p>
          <a:p>
            <a:r>
              <a:rPr sz="1200">
                <a:solidFill>
                  <a:srgbClr val="E2E8F0"/>
                </a:solidFill>
                <a:latin typeface="Consolas"/>
              </a:rPr>
              <a:t>from torch.utils.data import DataLoader, Subset</a:t>
            </a:r>
          </a:p>
          <a:p>
            <a:r>
              <a:rPr sz="1200">
                <a:solidFill>
                  <a:srgbClr val="E2E8F0"/>
                </a:solidFill>
                <a:latin typeface="Consolas"/>
              </a:rPr>
              <a:t>from torch.utils.data.distributed import DistributedSampler</a:t>
            </a:r>
          </a:p>
          <a:p>
            <a:r>
              <a:rPr sz="1200">
                <a:solidFill>
                  <a:srgbClr val="E2E8F0"/>
                </a:solidFill>
                <a:latin typeface="Consolas"/>
              </a:rPr>
              <a:t>from torch.nn.parallel import DistributedDataParallel as DDP</a:t>
            </a:r>
          </a:p>
          <a:p>
            <a:r>
              <a:rPr sz="1200">
                <a:solidFill>
                  <a:srgbClr val="E2E8F0"/>
                </a:solidFill>
                <a:latin typeface="Consolas"/>
              </a:rPr>
              <a:t> </a:t>
            </a:r>
          </a:p>
          <a:p>
            <a:r>
              <a:rPr sz="1200">
                <a:solidFill>
                  <a:srgbClr val="E2E8F0"/>
                </a:solidFill>
                <a:latin typeface="Consolas"/>
              </a:rPr>
              <a:t>def setup():</a:t>
            </a:r>
          </a:p>
          <a:p>
            <a:r>
              <a:rPr sz="1200">
                <a:solidFill>
                  <a:srgbClr val="E2E8F0"/>
                </a:solidFill>
                <a:latin typeface="Consolas"/>
              </a:rPr>
              <a:t>    if "RANK" in os.environ:                     # torchrun orqali ishga tushgan</a:t>
            </a:r>
          </a:p>
          <a:p>
            <a:r>
              <a:rPr sz="1200">
                <a:solidFill>
                  <a:srgbClr val="E2E8F0"/>
                </a:solidFill>
                <a:latin typeface="Consolas"/>
              </a:rPr>
              <a:t>        dist.init_process_group(backend="nccl")</a:t>
            </a:r>
          </a:p>
          <a:p>
            <a:r>
              <a:rPr sz="1200">
                <a:solidFill>
                  <a:srgbClr val="E2E8F0"/>
                </a:solidFill>
                <a:latin typeface="Consolas"/>
              </a:rPr>
              <a:t>        rank, world = dist.get_rank(), dist.get_world_size()</a:t>
            </a:r>
          </a:p>
          <a:p>
            <a:r>
              <a:rPr sz="1200">
                <a:solidFill>
                  <a:srgbClr val="E2E8F0"/>
                </a:solidFill>
                <a:latin typeface="Consolas"/>
              </a:rPr>
              <a:t>        local_rank = int(os.environ["LOCAL_RANK"])</a:t>
            </a:r>
          </a:p>
          <a:p>
            <a:r>
              <a:rPr sz="1200">
                <a:solidFill>
                  <a:srgbClr val="E2E8F0"/>
                </a:solidFill>
                <a:latin typeface="Consolas"/>
              </a:rPr>
              <a:t>    else:                                        # oddiy python train_ddp.py</a:t>
            </a:r>
          </a:p>
          <a:p>
            <a:r>
              <a:rPr sz="1200">
                <a:solidFill>
                  <a:srgbClr val="E2E8F0"/>
                </a:solidFill>
                <a:latin typeface="Consolas"/>
              </a:rPr>
              <a:t>        rank, world, local_rank = 0, 1, 0</a:t>
            </a:r>
          </a:p>
          <a:p>
            <a:r>
              <a:rPr sz="1200">
                <a:solidFill>
                  <a:srgbClr val="E2E8F0"/>
                </a:solidFill>
                <a:latin typeface="Consolas"/>
              </a:rPr>
              <a:t>    torch.cuda.set_device(local_rank)</a:t>
            </a:r>
          </a:p>
          <a:p>
            <a:r>
              <a:rPr sz="1200">
                <a:solidFill>
                  <a:srgbClr val="E2E8F0"/>
                </a:solidFill>
                <a:latin typeface="Consolas"/>
              </a:rPr>
              <a:t>    return rank, world, local_rank</a:t>
            </a:r>
          </a:p>
          <a:p>
            <a:r>
              <a:rPr sz="1200">
                <a:solidFill>
                  <a:srgbClr val="E2E8F0"/>
                </a:solidFill>
                <a:latin typeface="Consolas"/>
              </a:rPr>
              <a:t> </a:t>
            </a:r>
          </a:p>
          <a:p>
            <a:r>
              <a:rPr sz="1200">
                <a:solidFill>
                  <a:srgbClr val="E2E8F0"/>
                </a:solidFill>
                <a:latin typeface="Consolas"/>
              </a:rPr>
              <a:t>def main():</a:t>
            </a:r>
          </a:p>
          <a:p>
            <a:r>
              <a:rPr sz="1200">
                <a:solidFill>
                  <a:srgbClr val="E2E8F0"/>
                </a:solidFill>
                <a:latin typeface="Consolas"/>
              </a:rPr>
              <a:t>    p = argparse.ArgumentParser()</a:t>
            </a:r>
          </a:p>
          <a:p>
            <a:r>
              <a:rPr sz="1200">
                <a:solidFill>
                  <a:srgbClr val="7FD6D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1-qadam. Bazaviy (bitta GPU) o'lchov — kod 2</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22</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400">
                <a:solidFill>
                  <a:srgbClr val="E2E8F0"/>
                </a:solidFill>
                <a:latin typeface="Consolas"/>
              </a:rPr>
              <a:t>python train_ddp.py --epochs 3 --bs 128</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2-qadam. Bitta tugunda ko'p GPU: torchrun bilan DDP</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23</a:t>
            </a:r>
          </a:p>
        </p:txBody>
      </p:sp>
      <p:sp>
        <p:nvSpPr>
          <p:cNvPr id="10" name="Rounded Rectangle 9"/>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076666"/>
            <a:ext cx="10050000" cy="1250000"/>
          </a:xfrm>
          <a:prstGeom prst="rect">
            <a:avLst/>
          </a:prstGeom>
          <a:noFill/>
        </p:spPr>
        <p:txBody>
          <a:bodyPr wrap="square" anchor="ctr" lIns="50800" rIns="50800">
            <a:spAutoFit/>
          </a:bodyPr>
          <a:lstStyle/>
          <a:p>
            <a:pPr algn="l"/>
            <a:r>
              <a:rPr sz="1600" b="0">
                <a:solidFill>
                  <a:srgbClr val="1B2430"/>
                </a:solidFill>
                <a:latin typeface="Calibri"/>
              </a:rPr>
              <a:t>Nima bo'ldi va nega. torchrun har bir GPU uchun alohida jarayon yaratdi va RANK, LOCAL_RANK, WORLD_SIZE, MASTER_ADDR, MASTER_PORT muhit o'zgaruvchilarini o'rnatdi; skript ularni ko'rib NCCL guruhini boshladi. --standalone bayrog'i bitta tugun uchun rendezvous…</a:t>
            </a:r>
          </a:p>
        </p:txBody>
      </p:sp>
      <p:sp>
        <p:nvSpPr>
          <p:cNvPr id="14" name="Rounded Rectangle 13"/>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3446666"/>
            <a:ext cx="10050000" cy="1250000"/>
          </a:xfrm>
          <a:prstGeom prst="rect">
            <a:avLst/>
          </a:prstGeom>
          <a:noFill/>
        </p:spPr>
        <p:txBody>
          <a:bodyPr wrap="square" anchor="ctr" lIns="50800" rIns="50800">
            <a:spAutoFit/>
          </a:bodyPr>
          <a:lstStyle/>
          <a:p>
            <a:pPr algn="l"/>
            <a:r>
              <a:rPr sz="1600" b="0">
                <a:solidFill>
                  <a:srgbClr val="1B2430"/>
                </a:solidFill>
                <a:latin typeface="Calibri"/>
              </a:rPr>
              <a:t>O'lchov vaqtida nvidia-smi dmon -s u buyrug'i bilan GPU bandligini kuzating: agar GPU-Util 60% dan past bo'lsa, bottleneck ma'lumotlar quvurida.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2-qadam. Bitta tugunda ko'p GPU: torchrun bilan DDP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24</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200">
                <a:solidFill>
                  <a:srgbClr val="7FD6D7"/>
                </a:solidFill>
                <a:latin typeface="Consolas"/>
              </a:rPr>
              <a:t># 2 GPU</a:t>
            </a:r>
          </a:p>
          <a:p>
            <a:r>
              <a:rPr sz="1200">
                <a:solidFill>
                  <a:srgbClr val="E2E8F0"/>
                </a:solidFill>
                <a:latin typeface="Consolas"/>
              </a:rPr>
              <a:t>torchrun --standalone --nproc_per_node=2 train_ddp.py --epochs 3 --bs 128</a:t>
            </a:r>
          </a:p>
          <a:p>
            <a:r>
              <a:rPr sz="1200">
                <a:solidFill>
                  <a:srgbClr val="7FD6D7"/>
                </a:solidFill>
                <a:latin typeface="Consolas"/>
              </a:rPr>
              <a:t># 4 GPU</a:t>
            </a:r>
          </a:p>
          <a:p>
            <a:r>
              <a:rPr sz="1200">
                <a:solidFill>
                  <a:srgbClr val="E2E8F0"/>
                </a:solidFill>
                <a:latin typeface="Consolas"/>
              </a:rPr>
              <a:t>torchrun --standalone --nproc_per_node=4 train_ddp.py --epochs 3 --bs 128</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3-qadam. Kommunikatsiya ulushini profilerda ko'rish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25</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2000" b="0">
                <a:solidFill>
                  <a:srgbClr val="1B2430"/>
                </a:solidFill>
                <a:latin typeface="Calibri"/>
              </a:rPr>
              <a:t>Nima bo'ldi va nega. Jadvalda ncclKernel_AllReduce_ qatorlarining umumiy CUDA vaqti ko'rinadi. Uni T_step ga bo'lib kommunikatsiya ulushini topamiz.</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3-qadam. Kommunikatsiya ulushini profilerda ko'rish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26</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200">
                <a:solidFill>
                  <a:srgbClr val="7FD6D7"/>
                </a:solidFill>
                <a:latin typeface="Consolas"/>
              </a:rPr>
              <a:t># train_ddp.py ichida, tsikldan oldin qo'shing (faqat tahlil uchun):</a:t>
            </a:r>
          </a:p>
          <a:p>
            <a:r>
              <a:rPr sz="1200">
                <a:solidFill>
                  <a:srgbClr val="E2E8F0"/>
                </a:solidFill>
                <a:latin typeface="Consolas"/>
              </a:rPr>
              <a:t>from torch.profiler import profile, ProfilerActivity, schedule</a:t>
            </a:r>
          </a:p>
          <a:p>
            <a:r>
              <a:rPr sz="1200">
                <a:solidFill>
                  <a:srgbClr val="E2E8F0"/>
                </a:solidFill>
                <a:latin typeface="Consolas"/>
              </a:rPr>
              <a:t>prof = profile(activities=[ProfilerActivity.CPU, ProfilerActivity.CUDA],</a:t>
            </a:r>
          </a:p>
          <a:p>
            <a:r>
              <a:rPr sz="1200">
                <a:solidFill>
                  <a:srgbClr val="E2E8F0"/>
                </a:solidFill>
                <a:latin typeface="Consolas"/>
              </a:rPr>
              <a:t>               schedule=schedule(wait=5, warmup=2, active=5), record_shapes=False)</a:t>
            </a:r>
          </a:p>
          <a:p>
            <a:r>
              <a:rPr sz="1200">
                <a:solidFill>
                  <a:srgbClr val="E2E8F0"/>
                </a:solidFill>
                <a:latin typeface="Consolas"/>
              </a:rPr>
              <a:t>prof.start()</a:t>
            </a:r>
          </a:p>
          <a:p>
            <a:r>
              <a:rPr sz="1200">
                <a:solidFill>
                  <a:srgbClr val="7FD6D7"/>
                </a:solidFill>
                <a:latin typeface="Consolas"/>
              </a:rPr>
              <a:t># ... har iteratsiya oxirida: prof.step()</a:t>
            </a:r>
          </a:p>
          <a:p>
            <a:r>
              <a:rPr sz="1200">
                <a:solidFill>
                  <a:srgbClr val="7FD6D7"/>
                </a:solidFill>
                <a:latin typeface="Consolas"/>
              </a:rPr>
              <a:t># ... tsikl tugagach:</a:t>
            </a:r>
          </a:p>
          <a:p>
            <a:r>
              <a:rPr sz="1200">
                <a:solidFill>
                  <a:srgbClr val="E2E8F0"/>
                </a:solidFill>
                <a:latin typeface="Consolas"/>
              </a:rPr>
              <a:t>prof.stop()</a:t>
            </a:r>
          </a:p>
          <a:p>
            <a:r>
              <a:rPr sz="1200">
                <a:solidFill>
                  <a:srgbClr val="E2E8F0"/>
                </a:solidFill>
                <a:latin typeface="Consolas"/>
              </a:rPr>
              <a:t>if rank == 0:</a:t>
            </a:r>
          </a:p>
          <a:p>
            <a:r>
              <a:rPr sz="1200">
                <a:solidFill>
                  <a:srgbClr val="E2E8F0"/>
                </a:solidFill>
                <a:latin typeface="Consolas"/>
              </a:rPr>
              <a:t>    print(prof.key_averages().table(sort_by="cuda_time_total", row_limit=15))</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4-qadam. Ikki tugunli ishga tushirish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27</a:t>
            </a:r>
          </a:p>
        </p:txBody>
      </p:sp>
      <p:sp>
        <p:nvSpPr>
          <p:cNvPr id="10" name="Rounded Rectangle 9"/>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620000"/>
            <a:ext cx="10050000" cy="1250000"/>
          </a:xfrm>
          <a:prstGeom prst="rect">
            <a:avLst/>
          </a:prstGeom>
          <a:noFill/>
        </p:spPr>
        <p:txBody>
          <a:bodyPr wrap="square" anchor="ctr" lIns="50800" rIns="50800">
            <a:spAutoFit/>
          </a:bodyPr>
          <a:lstStyle/>
          <a:p>
            <a:pPr algn="l"/>
            <a:r>
              <a:rPr sz="1800" b="0">
                <a:solidFill>
                  <a:srgbClr val="1B2430"/>
                </a:solidFill>
                <a:latin typeface="Calibri"/>
              </a:rPr>
              <a:t>Ikki serverda (masalan, 10.10.0.71 va 10.10.0.72) bir xil kod va muhit bo'lsa:</a:t>
            </a:r>
          </a:p>
        </p:txBody>
      </p:sp>
      <p:sp>
        <p:nvSpPr>
          <p:cNvPr id="14" name="Rounded Rectangle 13"/>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990000"/>
            <a:ext cx="10050000" cy="1250000"/>
          </a:xfrm>
          <a:prstGeom prst="rect">
            <a:avLst/>
          </a:prstGeom>
          <a:noFill/>
        </p:spPr>
        <p:txBody>
          <a:bodyPr wrap="square" anchor="ctr" lIns="50800" rIns="50800">
            <a:spAutoFit/>
          </a:bodyPr>
          <a:lstStyle/>
          <a:p>
            <a:pPr algn="l"/>
            <a:r>
              <a:rPr sz="1800" b="0">
                <a:solidFill>
                  <a:srgbClr val="1B2430"/>
                </a:solidFill>
                <a:latin typeface="Calibri"/>
              </a:rPr>
              <a:t>Foydali muhit o'zgaruvchilari: NCCL_DEBUG=INFO (NCCL qaysi interfeys va algoritmni tanlaganini ko'rsatadi), NCCL_SOCKET_IFNAME=eth0 (to'g'ri tarmoq kartasini majburlash), NCCL_IB_DISABLE=1…</a:t>
            </a:r>
          </a:p>
        </p:txBody>
      </p:sp>
      <p:sp>
        <p:nvSpPr>
          <p:cNvPr id="18" name="Rounded Rectangle 17"/>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4360000"/>
            <a:ext cx="10050000" cy="1250000"/>
          </a:xfrm>
          <a:prstGeom prst="rect">
            <a:avLst/>
          </a:prstGeom>
          <a:noFill/>
        </p:spPr>
        <p:txBody>
          <a:bodyPr wrap="square" anchor="ctr" lIns="50800" rIns="50800">
            <a:spAutoFit/>
          </a:bodyPr>
          <a:lstStyle/>
          <a:p>
            <a:pPr algn="l"/>
            <a:r>
              <a:rPr sz="1800" b="0">
                <a:solidFill>
                  <a:srgbClr val="1B2430"/>
                </a:solidFill>
                <a:latin typeface="Calibri"/>
              </a:rPr>
              <a:t>Nima bo'ldi va nega. Endi world_size=4, lekin 2 ta GPU juftligi oddiy Ethernet orqali bog'langan. All-reduce'ning bir qismi tarmoq orqali o'tadi, shuning uchun samaradorlik sezilarli tushadi.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4-qadam. Ikki tugunli ishga tushirish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28</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400">
                <a:solidFill>
                  <a:srgbClr val="7FD6D7"/>
                </a:solidFill>
                <a:latin typeface="Consolas"/>
              </a:rPr>
              <a:t># 1-tugun (master), 2 GPU</a:t>
            </a:r>
          </a:p>
          <a:p>
            <a:r>
              <a:rPr sz="1400">
                <a:solidFill>
                  <a:srgbClr val="E2E8F0"/>
                </a:solidFill>
                <a:latin typeface="Consolas"/>
              </a:rPr>
              <a:t>torchrun --nnodes=2 --nproc_per_node=2 --node_rank=0 \</a:t>
            </a:r>
          </a:p>
          <a:p>
            <a:r>
              <a:rPr sz="1400">
                <a:solidFill>
                  <a:srgbClr val="E2E8F0"/>
                </a:solidFill>
                <a:latin typeface="Consolas"/>
              </a:rPr>
              <a:t>         --rdzv_backend=c10d --rdzv_endpoint=10.10.0.71:29500 \</a:t>
            </a:r>
          </a:p>
          <a:p>
            <a:r>
              <a:rPr sz="1400">
                <a:solidFill>
                  <a:srgbClr val="E2E8F0"/>
                </a:solidFill>
                <a:latin typeface="Consolas"/>
              </a:rPr>
              <a:t>         train_ddp.py --epochs 3 --bs 128</a:t>
            </a:r>
          </a:p>
          <a:p>
            <a:r>
              <a:rPr sz="1400">
                <a:solidFill>
                  <a:srgbClr val="7FD6D7"/>
                </a:solidFill>
                <a:latin typeface="Consolas"/>
              </a:rPr>
              <a:t># 2-tugun, 2 GPU</a:t>
            </a:r>
          </a:p>
          <a:p>
            <a:r>
              <a:rPr sz="1400">
                <a:solidFill>
                  <a:srgbClr val="E2E8F0"/>
                </a:solidFill>
                <a:latin typeface="Consolas"/>
              </a:rPr>
              <a:t>torchrun --nnodes=2 --nproc_per_node=2 --node_rank=1 \</a:t>
            </a:r>
          </a:p>
          <a:p>
            <a:r>
              <a:rPr sz="1400">
                <a:solidFill>
                  <a:srgbClr val="E2E8F0"/>
                </a:solidFill>
                <a:latin typeface="Consolas"/>
              </a:rPr>
              <a:t>         --rdzv_backend=c10d --rdzv_endpoint=10.10.0.71:29500 \</a:t>
            </a:r>
          </a:p>
          <a:p>
            <a:r>
              <a:rPr sz="1400">
                <a:solidFill>
                  <a:srgbClr val="E2E8F0"/>
                </a:solidFill>
                <a:latin typeface="Consolas"/>
              </a:rPr>
              <a:t>         train_ddp.py --epochs 3 --bs 128</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5-qadam. Parallel inferens o'tkazuvchanligini o'lchash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29</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800" b="0">
                <a:solidFill>
                  <a:srgbClr val="1B2430"/>
                </a:solidFill>
                <a:latin typeface="Calibri"/>
              </a:rPr>
              <a:t>Nima bo'ldi va nega. Inferensda gradient yo'q, demak qadam sayin all-reduce ham yo'q; yagona kommunikatsiya — oxirida natijalarni yig'ish. Shu sababli parallel inferens o'qitishga qaraganda ancha yaxshi masshtablanadi (90–98%).</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5-qadam. Parallel inferens o'tkazuvchanligini o'lchash — kod 1</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30</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200">
                <a:solidFill>
                  <a:srgbClr val="7FD6D7"/>
                </a:solidFill>
                <a:latin typeface="Consolas"/>
              </a:rPr>
              <a:t># infer_ddp.py — har rank o'z ma'lumot bo'lagini bashorat qiladi, natijalar 0-rankka yig'iladi</a:t>
            </a:r>
          </a:p>
          <a:p>
            <a:r>
              <a:rPr sz="1200">
                <a:solidFill>
                  <a:srgbClr val="E2E8F0"/>
                </a:solidFill>
                <a:latin typeface="Consolas"/>
              </a:rPr>
              <a:t>import os, time, torch, torch.distributed as dist, torchvision, torchvision.transforms as T</a:t>
            </a:r>
          </a:p>
          <a:p>
            <a:r>
              <a:rPr sz="1200">
                <a:solidFill>
                  <a:srgbClr val="E2E8F0"/>
                </a:solidFill>
                <a:latin typeface="Consolas"/>
              </a:rPr>
              <a:t>from torch.utils.data import DataLoader, Subset</a:t>
            </a:r>
          </a:p>
          <a:p>
            <a:r>
              <a:rPr sz="1200">
                <a:solidFill>
                  <a:srgbClr val="E2E8F0"/>
                </a:solidFill>
                <a:latin typeface="Consolas"/>
              </a:rPr>
              <a:t>from torch.utils.data.distributed import DistributedSampler</a:t>
            </a:r>
          </a:p>
          <a:p>
            <a:r>
              <a:rPr sz="1200">
                <a:solidFill>
                  <a:srgbClr val="E2E8F0"/>
                </a:solidFill>
                <a:latin typeface="Consolas"/>
              </a:rPr>
              <a:t> </a:t>
            </a:r>
          </a:p>
          <a:p>
            <a:r>
              <a:rPr sz="1200">
                <a:solidFill>
                  <a:srgbClr val="E2E8F0"/>
                </a:solidFill>
                <a:latin typeface="Consolas"/>
              </a:rPr>
              <a:t>dist.init_process_group("nccl")</a:t>
            </a:r>
          </a:p>
          <a:p>
            <a:r>
              <a:rPr sz="1200">
                <a:solidFill>
                  <a:srgbClr val="E2E8F0"/>
                </a:solidFill>
                <a:latin typeface="Consolas"/>
              </a:rPr>
              <a:t>rank, world = dist.get_rank(), dist.get_world_size()</a:t>
            </a:r>
          </a:p>
          <a:p>
            <a:r>
              <a:rPr sz="1200">
                <a:solidFill>
                  <a:srgbClr val="E2E8F0"/>
                </a:solidFill>
                <a:latin typeface="Consolas"/>
              </a:rPr>
              <a:t>local_rank = int(os.environ["LOCAL_RANK"]); dev = torch.device("cuda", local_rank)</a:t>
            </a:r>
          </a:p>
          <a:p>
            <a:r>
              <a:rPr sz="1200">
                <a:solidFill>
                  <a:srgbClr val="E2E8F0"/>
                </a:solidFill>
                <a:latin typeface="Consolas"/>
              </a:rPr>
              <a:t>torch.cuda.set_device(local_rank)</a:t>
            </a:r>
          </a:p>
          <a:p>
            <a:r>
              <a:rPr sz="1200">
                <a:solidFill>
                  <a:srgbClr val="E2E8F0"/>
                </a:solidFill>
                <a:latin typeface="Consolas"/>
              </a:rPr>
              <a:t> </a:t>
            </a:r>
          </a:p>
          <a:p>
            <a:r>
              <a:rPr sz="1200">
                <a:solidFill>
                  <a:srgbClr val="E2E8F0"/>
                </a:solidFill>
                <a:latin typeface="Consolas"/>
              </a:rPr>
              <a:t>tf = T.Compose([T.ToTensor(), T.Normalize((0.49, 0.48, 0.45), (0.25, 0.24, 0.26))])</a:t>
            </a:r>
          </a:p>
          <a:p>
            <a:r>
              <a:rPr sz="1200">
                <a:solidFill>
                  <a:srgbClr val="E2E8F0"/>
                </a:solidFill>
                <a:latin typeface="Consolas"/>
              </a:rPr>
              <a:t>ds = Subset(torchvision.datasets.CIFAR10("./data", train=False, transform=tf), range(10000))</a:t>
            </a:r>
          </a:p>
          <a:p>
            <a:r>
              <a:rPr sz="1200">
                <a:solidFill>
                  <a:srgbClr val="E2E8F0"/>
                </a:solidFill>
                <a:latin typeface="Consolas"/>
              </a:rPr>
              <a:t>sampler = DistributedSampler(ds, shuffle=False)</a:t>
            </a:r>
          </a:p>
          <a:p>
            <a:r>
              <a:rPr sz="1200">
                <a:solidFill>
                  <a:srgbClr val="E2E8F0"/>
                </a:solidFill>
                <a:latin typeface="Consolas"/>
              </a:rPr>
              <a:t>dl = DataLoader(ds, batch_size=256, sampler=sampler, num_workers=4, pin_memory=True)</a:t>
            </a:r>
          </a:p>
          <a:p>
            <a:r>
              <a:rPr sz="1200">
                <a:solidFill>
                  <a:srgbClr val="E2E8F0"/>
                </a:solidFill>
                <a:latin typeface="Consolas"/>
              </a:rPr>
              <a:t> </a:t>
            </a:r>
          </a:p>
          <a:p>
            <a:r>
              <a:rPr sz="1200">
                <a:solidFill>
                  <a:srgbClr val="E2E8F0"/>
                </a:solidFill>
                <a:latin typeface="Consolas"/>
              </a:rPr>
              <a:t>model = torchvision.models.resnet18(num_classes=10).to(dev).eval().half()</a:t>
            </a:r>
          </a:p>
          <a:p>
            <a:r>
              <a:rPr sz="1200">
                <a:solidFill>
                  <a:srgbClr val="7FD6D7"/>
                </a:solidFill>
                <a:latin typeface="Consolas"/>
              </a:rPr>
              <a:t># haqiqiy loyihada: model.load_state_dict(torch.load("ckpt.pt", map_location=dev))</a:t>
            </a:r>
          </a:p>
          <a:p>
            <a:r>
              <a:rPr sz="1200">
                <a:solidFill>
                  <a:srgbClr val="E2E8F0"/>
                </a:solidFill>
                <a:latin typeface="Consolas"/>
              </a:rPr>
              <a:t> </a:t>
            </a:r>
          </a:p>
          <a:p>
            <a:r>
              <a:rPr sz="1200">
                <a:solidFill>
                  <a:srgbClr val="E2E8F0"/>
                </a:solidFill>
                <a:latin typeface="Consolas"/>
              </a:rPr>
              <a:t>preds, labels = [], []</a:t>
            </a:r>
          </a:p>
          <a:p>
            <a:r>
              <a:rPr sz="1200">
                <a:solidFill>
                  <a:srgbClr val="E2E8F0"/>
                </a:solidFill>
                <a:latin typeface="Consolas"/>
              </a:rPr>
              <a:t>torch.cuda.synchronize(); dist.barrier(); t0 = time.time()</a:t>
            </a:r>
          </a:p>
          <a:p>
            <a:r>
              <a:rPr sz="1200">
                <a:solidFill>
                  <a:srgbClr val="7FD6D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5-qadam. Parallel inferens o'tkazuvchanligini o'lchash — kod 2</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31</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200">
                <a:solidFill>
                  <a:srgbClr val="E2E8F0"/>
                </a:solidFill>
                <a:latin typeface="Consolas"/>
              </a:rPr>
              <a:t>for n in 1 2 4; do torchrun --standalone --nproc_per_node=$n infer_ddp.py; done</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6-qadam (qo'shimcha). Ray Train bilan qayta amalga oshirish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32</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Nima bo'ldi va nega. Kod hajmi qisqardi: prepare_model va prepare_data_loader DDP o'rami, qurilmaga ko'chirish va DistributedSamplerni avtomatik qo'shdi; ScalingConfig ishchilar sonini bildiradi; ikki tugunli klaster uchun kodni o'zgartirish shart emas —…</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6-qadam (qo'shimcha). Ray Train bilan qayta amalga oshirish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33</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7FD6D7"/>
                </a:solidFill>
                <a:latin typeface="Consolas"/>
              </a:rPr>
              <a:t># train_ray.py</a:t>
            </a:r>
          </a:p>
          <a:p>
            <a:r>
              <a:rPr sz="1000">
                <a:solidFill>
                  <a:srgbClr val="E2E8F0"/>
                </a:solidFill>
                <a:latin typeface="Consolas"/>
              </a:rPr>
              <a:t>import ray, torch, torch.nn as nn, torchvision, torchvision.transforms as T</a:t>
            </a:r>
          </a:p>
          <a:p>
            <a:r>
              <a:rPr sz="1000">
                <a:solidFill>
                  <a:srgbClr val="E2E8F0"/>
                </a:solidFill>
                <a:latin typeface="Consolas"/>
              </a:rPr>
              <a:t>from ray.train import ScalingConfig, RunConfig</a:t>
            </a:r>
          </a:p>
          <a:p>
            <a:r>
              <a:rPr sz="1000">
                <a:solidFill>
                  <a:srgbClr val="E2E8F0"/>
                </a:solidFill>
                <a:latin typeface="Consolas"/>
              </a:rPr>
              <a:t>from ray.train.torch import TorchTrainer, prepare_model, prepare_data_loader</a:t>
            </a:r>
          </a:p>
          <a:p>
            <a:r>
              <a:rPr sz="1000">
                <a:solidFill>
                  <a:srgbClr val="E2E8F0"/>
                </a:solidFill>
                <a:latin typeface="Consolas"/>
              </a:rPr>
              <a:t>from torch.utils.data import DataLoader, Subset</a:t>
            </a:r>
          </a:p>
          <a:p>
            <a:r>
              <a:rPr sz="1000">
                <a:solidFill>
                  <a:srgbClr val="E2E8F0"/>
                </a:solidFill>
                <a:latin typeface="Consolas"/>
              </a:rPr>
              <a:t> </a:t>
            </a:r>
          </a:p>
          <a:p>
            <a:r>
              <a:rPr sz="1000">
                <a:solidFill>
                  <a:srgbClr val="E2E8F0"/>
                </a:solidFill>
                <a:latin typeface="Consolas"/>
              </a:rPr>
              <a:t>def train_fn(cfg):</a:t>
            </a:r>
          </a:p>
          <a:p>
            <a:r>
              <a:rPr sz="1000">
                <a:solidFill>
                  <a:srgbClr val="E2E8F0"/>
                </a:solidFill>
                <a:latin typeface="Consolas"/>
              </a:rPr>
              <a:t>    tf = T.Compose([T.ToTensor(), T.Normalize((0.49, 0.48, 0.45), (0.25, 0.24, 0.26))])</a:t>
            </a:r>
          </a:p>
          <a:p>
            <a:r>
              <a:rPr sz="1000">
                <a:solidFill>
                  <a:srgbClr val="E2E8F0"/>
                </a:solidFill>
                <a:latin typeface="Consolas"/>
              </a:rPr>
              <a:t>    ds = Subset(torchvision.datasets.CIFAR10("./data", train=True, download=True, transform=tf), range(10000))</a:t>
            </a:r>
          </a:p>
          <a:p>
            <a:r>
              <a:rPr sz="1000">
                <a:solidFill>
                  <a:srgbClr val="E2E8F0"/>
                </a:solidFill>
                <a:latin typeface="Consolas"/>
              </a:rPr>
              <a:t>    dl = prepare_data_loader(DataLoader(ds, batch_size=cfg["bs"], shuffle=True, num_workers=4))</a:t>
            </a:r>
          </a:p>
          <a:p>
            <a:r>
              <a:rPr sz="1000">
                <a:solidFill>
                  <a:srgbClr val="E2E8F0"/>
                </a:solidFill>
                <a:latin typeface="Consolas"/>
              </a:rPr>
              <a:t>    model = prepare_model(torchvision.models.resnet18(num_classes=10))  # DDP + device avtomatik</a:t>
            </a:r>
          </a:p>
          <a:p>
            <a:r>
              <a:rPr sz="1000">
                <a:solidFill>
                  <a:srgbClr val="E2E8F0"/>
                </a:solidFill>
                <a:latin typeface="Consolas"/>
              </a:rPr>
              <a:t>    opt = torch.optim.SGD(model.parameters(), lr=0.1 * ray.train.get_context().get_world_size(), momentum=0.9)</a:t>
            </a:r>
          </a:p>
          <a:p>
            <a:r>
              <a:rPr sz="1000">
                <a:solidFill>
                  <a:srgbClr val="E2E8F0"/>
                </a:solidFill>
                <a:latin typeface="Consolas"/>
              </a:rPr>
              <a:t>    lossf = nn.CrossEntropyLoss()</a:t>
            </a:r>
          </a:p>
          <a:p>
            <a:r>
              <a:rPr sz="1000">
                <a:solidFill>
                  <a:srgbClr val="E2E8F0"/>
                </a:solidFill>
                <a:latin typeface="Consolas"/>
              </a:rPr>
              <a:t>    for ep in range(cfg["epochs"]):</a:t>
            </a:r>
          </a:p>
          <a:p>
            <a:r>
              <a:rPr sz="1000">
                <a:solidFill>
                  <a:srgbClr val="E2E8F0"/>
                </a:solidFill>
                <a:latin typeface="Consolas"/>
              </a:rPr>
              <a:t>        dl.sampler.set_epoch(ep) if hasattr(dl.sampler, "set_epoch") else None</a:t>
            </a:r>
          </a:p>
          <a:p>
            <a:r>
              <a:rPr sz="1000">
                <a:solidFill>
                  <a:srgbClr val="E2E8F0"/>
                </a:solidFill>
                <a:latin typeface="Consolas"/>
              </a:rPr>
              <a:t>        for x, y in dl:</a:t>
            </a:r>
          </a:p>
          <a:p>
            <a:r>
              <a:rPr sz="1000">
                <a:solidFill>
                  <a:srgbClr val="E2E8F0"/>
                </a:solidFill>
                <a:latin typeface="Consolas"/>
              </a:rPr>
              <a:t>            loss = lossf(model(x), y); opt.zero_grad(); loss.backward(); opt.step()</a:t>
            </a:r>
          </a:p>
          <a:p>
            <a:r>
              <a:rPr sz="1000">
                <a:solidFill>
                  <a:srgbClr val="E2E8F0"/>
                </a:solidFill>
                <a:latin typeface="Consolas"/>
              </a:rPr>
              <a:t>        ray.train.report({"epoch": ep, "loss": loss.item()})</a:t>
            </a:r>
          </a:p>
          <a:p>
            <a:r>
              <a:rPr sz="1000">
                <a:solidFill>
                  <a:srgbClr val="E2E8F0"/>
                </a:solidFill>
                <a:latin typeface="Consolas"/>
              </a:rPr>
              <a:t> </a:t>
            </a:r>
          </a:p>
          <a:p>
            <a:r>
              <a:rPr sz="1000">
                <a:solidFill>
                  <a:srgbClr val="E2E8F0"/>
                </a:solidFill>
                <a:latin typeface="Consolas"/>
              </a:rPr>
              <a:t>if __name__ == "__main__":</a:t>
            </a:r>
          </a:p>
          <a:p>
            <a:r>
              <a:rPr sz="1000">
                <a:solidFill>
                  <a:srgbClr val="7FD6D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Kutilgan natijalar jadvali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34</a:t>
            </a:r>
          </a:p>
        </p:txBody>
      </p:sp>
      <p:sp>
        <p:nvSpPr>
          <p:cNvPr id="10" name="Rounded Rectangle 9"/>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076666"/>
            <a:ext cx="10050000" cy="1250000"/>
          </a:xfrm>
          <a:prstGeom prst="rect">
            <a:avLst/>
          </a:prstGeom>
          <a:noFill/>
        </p:spPr>
        <p:txBody>
          <a:bodyPr wrap="square" anchor="ctr" lIns="50800" rIns="50800">
            <a:spAutoFit/>
          </a:bodyPr>
          <a:lstStyle/>
          <a:p>
            <a:pPr algn="l"/>
            <a:r>
              <a:rPr sz="1800" b="0">
                <a:solidFill>
                  <a:srgbClr val="1B2430"/>
                </a:solidFill>
                <a:latin typeface="Calibri"/>
              </a:rPr>
              <a:t>Quyidagi jadval 4 × RTX 3090 (PCIe 4.0, NVLink yo'q), ResNet-18, CIFAR-10, paket 128/GPU, BF16 autocast konfiguratsiyasi uchun taxminiy kutilgan qiymatlardir; talaba o'z o'lchovlarini aynan…</a:t>
            </a:r>
          </a:p>
        </p:txBody>
      </p:sp>
      <p:sp>
        <p:nvSpPr>
          <p:cNvPr id="14" name="Rounded Rectangle 13"/>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3446666"/>
            <a:ext cx="10050000" cy="1250000"/>
          </a:xfrm>
          <a:prstGeom prst="rect">
            <a:avLst/>
          </a:prstGeom>
          <a:noFill/>
        </p:spPr>
        <p:txBody>
          <a:bodyPr wrap="square" anchor="ctr" lIns="50800" rIns="50800">
            <a:spAutoFit/>
          </a:bodyPr>
          <a:lstStyle/>
          <a:p>
            <a:pPr algn="l"/>
            <a:r>
              <a:rPr sz="1800" b="0">
                <a:solidFill>
                  <a:srgbClr val="1B2430"/>
                </a:solidFill>
                <a:latin typeface="Calibri"/>
              </a:rPr>
              <a:t>Jadvalda tezlashish S(N) = T(1)/T(N) epoxa vaqtlari bo'yicha (kuchsiz masshtablash rejimida img/s nisbati bilan bir xil ma'noni beradi) hisoblangan.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Kutilgan natijalar jadvali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35</a:t>
            </a:r>
          </a:p>
        </p:txBody>
      </p:sp>
      <p:graphicFrame>
        <p:nvGraphicFramePr>
          <p:cNvPr id="10" name="Table 9"/>
          <p:cNvGraphicFramePr>
            <a:graphicFrameLocks noGrp="1"/>
          </p:cNvGraphicFramePr>
          <p:nvPr/>
        </p:nvGraphicFramePr>
        <p:xfrm>
          <a:off x="500000" y="1350000"/>
          <a:ext cx="11200000" cy="3640000"/>
        </p:xfrm>
        <a:graphic>
          <a:graphicData uri="http://schemas.openxmlformats.org/drawingml/2006/table">
            <a:tbl>
              <a:tblPr firstRow="1" bandRow="1">
                <a:tableStyleId>{5C22544A-7EE6-4342-B048-85BDC9FD1C3A}</a:tableStyleId>
              </a:tblPr>
              <a:tblGrid>
                <a:gridCol w="1866666"/>
                <a:gridCol w="1866666"/>
                <a:gridCol w="1866666"/>
                <a:gridCol w="1866666"/>
                <a:gridCol w="1866666"/>
                <a:gridCol w="1866670"/>
              </a:tblGrid>
              <a:tr h="520000">
                <a:tc>
                  <a:txBody>
                    <a:bodyPr/>
                    <a:lstStyle/>
                    <a:p>
                      <a:r>
                        <a:rPr sz="1400" b="1">
                          <a:solidFill>
                            <a:srgbClr val="FFFFFF"/>
                          </a:solidFill>
                          <a:latin typeface="Calibri"/>
                        </a:rPr>
                        <a:t>Konfiguratsiya</a:t>
                      </a:r>
                    </a:p>
                  </a:txBody>
                  <a:tcPr>
                    <a:solidFill>
                      <a:srgbClr val="2D5C8F"/>
                    </a:solidFill>
                  </a:tcPr>
                </a:tc>
                <a:tc>
                  <a:txBody>
                    <a:bodyPr/>
                    <a:lstStyle/>
                    <a:p>
                      <a:r>
                        <a:rPr sz="1400" b="1">
                          <a:solidFill>
                            <a:srgbClr val="FFFFFF"/>
                          </a:solidFill>
                          <a:latin typeface="Calibri"/>
                        </a:rPr>
                        <a:t>Global paket</a:t>
                      </a:r>
                    </a:p>
                  </a:txBody>
                  <a:tcPr>
                    <a:solidFill>
                      <a:srgbClr val="2D5C8F"/>
                    </a:solidFill>
                  </a:tcPr>
                </a:tc>
                <a:tc>
                  <a:txBody>
                    <a:bodyPr/>
                    <a:lstStyle/>
                    <a:p>
                      <a:r>
                        <a:rPr sz="1400" b="1">
                          <a:solidFill>
                            <a:srgbClr val="FFFFFF"/>
                          </a:solidFill>
                          <a:latin typeface="Calibri"/>
                        </a:rPr>
                        <a:t>Epoxa vaqti, s</a:t>
                      </a:r>
                    </a:p>
                  </a:txBody>
                  <a:tcPr>
                    <a:solidFill>
                      <a:srgbClr val="2D5C8F"/>
                    </a:solidFill>
                  </a:tcPr>
                </a:tc>
                <a:tc>
                  <a:txBody>
                    <a:bodyPr/>
                    <a:lstStyle/>
                    <a:p>
                      <a:r>
                        <a:rPr sz="1400" b="1">
                          <a:solidFill>
                            <a:srgbClr val="FFFFFF"/>
                          </a:solidFill>
                          <a:latin typeface="Calibri"/>
                        </a:rPr>
                        <a:t>img/s</a:t>
                      </a:r>
                    </a:p>
                  </a:txBody>
                  <a:tcPr>
                    <a:solidFill>
                      <a:srgbClr val="2D5C8F"/>
                    </a:solidFill>
                  </a:tcPr>
                </a:tc>
                <a:tc>
                  <a:txBody>
                    <a:bodyPr/>
                    <a:lstStyle/>
                    <a:p>
                      <a:r>
                        <a:rPr sz="1400" b="1">
                          <a:solidFill>
                            <a:srgbClr val="FFFFFF"/>
                          </a:solidFill>
                          <a:latin typeface="Calibri"/>
                        </a:rPr>
                        <a:t>Tezlashish S(N)</a:t>
                      </a:r>
                    </a:p>
                  </a:txBody>
                  <a:tcPr>
                    <a:solidFill>
                      <a:srgbClr val="2D5C8F"/>
                    </a:solidFill>
                  </a:tcPr>
                </a:tc>
                <a:tc>
                  <a:txBody>
                    <a:bodyPr/>
                    <a:lstStyle/>
                    <a:p>
                      <a:r>
                        <a:rPr sz="1400" b="1">
                          <a:solidFill>
                            <a:srgbClr val="FFFFFF"/>
                          </a:solidFill>
                          <a:latin typeface="Calibri"/>
                        </a:rPr>
                        <a:t>Samaradorlik E(N)</a:t>
                      </a:r>
                    </a:p>
                  </a:txBody>
                  <a:tcPr>
                    <a:solidFill>
                      <a:srgbClr val="2D5C8F"/>
                    </a:solidFill>
                  </a:tcPr>
                </a:tc>
              </a:tr>
              <a:tr h="520000">
                <a:tc>
                  <a:txBody>
                    <a:bodyPr/>
                    <a:lstStyle/>
                    <a:p>
                      <a:r>
                        <a:rPr sz="1400" b="0">
                          <a:solidFill>
                            <a:srgbClr val="1B2430"/>
                          </a:solidFill>
                          <a:latin typeface="Calibri"/>
                        </a:rPr>
                        <a:t>1 GPU</a:t>
                      </a:r>
                    </a:p>
                  </a:txBody>
                  <a:tcPr>
                    <a:solidFill>
                      <a:srgbClr val="F1F4F8"/>
                    </a:solidFill>
                  </a:tcPr>
                </a:tc>
                <a:tc>
                  <a:txBody>
                    <a:bodyPr/>
                    <a:lstStyle/>
                    <a:p>
                      <a:r>
                        <a:rPr sz="1400" b="0">
                          <a:solidFill>
                            <a:srgbClr val="1B2430"/>
                          </a:solidFill>
                          <a:latin typeface="Calibri"/>
                        </a:rPr>
                        <a:t>128</a:t>
                      </a:r>
                    </a:p>
                  </a:txBody>
                  <a:tcPr>
                    <a:solidFill>
                      <a:srgbClr val="F1F4F8"/>
                    </a:solidFill>
                  </a:tcPr>
                </a:tc>
                <a:tc>
                  <a:txBody>
                    <a:bodyPr/>
                    <a:lstStyle/>
                    <a:p>
                      <a:r>
                        <a:rPr sz="1400" b="0">
                          <a:solidFill>
                            <a:srgbClr val="1B2430"/>
                          </a:solidFill>
                          <a:latin typeface="Calibri"/>
                        </a:rPr>
                        <a:t>4.0</a:t>
                      </a:r>
                    </a:p>
                  </a:txBody>
                  <a:tcPr>
                    <a:solidFill>
                      <a:srgbClr val="F1F4F8"/>
                    </a:solidFill>
                  </a:tcPr>
                </a:tc>
                <a:tc>
                  <a:txBody>
                    <a:bodyPr/>
                    <a:lstStyle/>
                    <a:p>
                      <a:r>
                        <a:rPr sz="1400" b="0">
                          <a:solidFill>
                            <a:srgbClr val="1B2430"/>
                          </a:solidFill>
                          <a:latin typeface="Calibri"/>
                        </a:rPr>
                        <a:t>2 500</a:t>
                      </a:r>
                    </a:p>
                  </a:txBody>
                  <a:tcPr>
                    <a:solidFill>
                      <a:srgbClr val="F1F4F8"/>
                    </a:solidFill>
                  </a:tcPr>
                </a:tc>
                <a:tc>
                  <a:txBody>
                    <a:bodyPr/>
                    <a:lstStyle/>
                    <a:p>
                      <a:r>
                        <a:rPr sz="1400" b="0">
                          <a:solidFill>
                            <a:srgbClr val="1B2430"/>
                          </a:solidFill>
                          <a:latin typeface="Calibri"/>
                        </a:rPr>
                        <a:t>1.00</a:t>
                      </a:r>
                    </a:p>
                  </a:txBody>
                  <a:tcPr>
                    <a:solidFill>
                      <a:srgbClr val="F1F4F8"/>
                    </a:solidFill>
                  </a:tcPr>
                </a:tc>
                <a:tc>
                  <a:txBody>
                    <a:bodyPr/>
                    <a:lstStyle/>
                    <a:p>
                      <a:r>
                        <a:rPr sz="1400" b="0">
                          <a:solidFill>
                            <a:srgbClr val="1B2430"/>
                          </a:solidFill>
                          <a:latin typeface="Calibri"/>
                        </a:rPr>
                        <a:t>100%</a:t>
                      </a:r>
                    </a:p>
                  </a:txBody>
                  <a:tcPr>
                    <a:solidFill>
                      <a:srgbClr val="F1F4F8"/>
                    </a:solidFill>
                  </a:tcPr>
                </a:tc>
              </a:tr>
              <a:tr h="520000">
                <a:tc>
                  <a:txBody>
                    <a:bodyPr/>
                    <a:lstStyle/>
                    <a:p>
                      <a:r>
                        <a:rPr sz="1400" b="0">
                          <a:solidFill>
                            <a:srgbClr val="1B2430"/>
                          </a:solidFill>
                          <a:latin typeface="Calibri"/>
                        </a:rPr>
                        <a:t>2 GPU (1 tugun)</a:t>
                      </a:r>
                    </a:p>
                  </a:txBody>
                  <a:tcPr>
                    <a:solidFill>
                      <a:srgbClr val="FFFFFF"/>
                    </a:solidFill>
                  </a:tcPr>
                </a:tc>
                <a:tc>
                  <a:txBody>
                    <a:bodyPr/>
                    <a:lstStyle/>
                    <a:p>
                      <a:r>
                        <a:rPr sz="1400" b="0">
                          <a:solidFill>
                            <a:srgbClr val="1B2430"/>
                          </a:solidFill>
                          <a:latin typeface="Calibri"/>
                        </a:rPr>
                        <a:t>256</a:t>
                      </a:r>
                    </a:p>
                  </a:txBody>
                  <a:tcPr>
                    <a:solidFill>
                      <a:srgbClr val="FFFFFF"/>
                    </a:solidFill>
                  </a:tcPr>
                </a:tc>
                <a:tc>
                  <a:txBody>
                    <a:bodyPr/>
                    <a:lstStyle/>
                    <a:p>
                      <a:r>
                        <a:rPr sz="1400" b="0">
                          <a:solidFill>
                            <a:srgbClr val="1B2430"/>
                          </a:solidFill>
                          <a:latin typeface="Calibri"/>
                        </a:rPr>
                        <a:t>2.15</a:t>
                      </a:r>
                    </a:p>
                  </a:txBody>
                  <a:tcPr>
                    <a:solidFill>
                      <a:srgbClr val="FFFFFF"/>
                    </a:solidFill>
                  </a:tcPr>
                </a:tc>
                <a:tc>
                  <a:txBody>
                    <a:bodyPr/>
                    <a:lstStyle/>
                    <a:p>
                      <a:r>
                        <a:rPr sz="1400" b="0">
                          <a:solidFill>
                            <a:srgbClr val="1B2430"/>
                          </a:solidFill>
                          <a:latin typeface="Calibri"/>
                        </a:rPr>
                        <a:t>4 650</a:t>
                      </a:r>
                    </a:p>
                  </a:txBody>
                  <a:tcPr>
                    <a:solidFill>
                      <a:srgbClr val="FFFFFF"/>
                    </a:solidFill>
                  </a:tcPr>
                </a:tc>
                <a:tc>
                  <a:txBody>
                    <a:bodyPr/>
                    <a:lstStyle/>
                    <a:p>
                      <a:r>
                        <a:rPr sz="1400" b="0">
                          <a:solidFill>
                            <a:srgbClr val="1B2430"/>
                          </a:solidFill>
                          <a:latin typeface="Calibri"/>
                        </a:rPr>
                        <a:t>1.86</a:t>
                      </a:r>
                    </a:p>
                  </a:txBody>
                  <a:tcPr>
                    <a:solidFill>
                      <a:srgbClr val="FFFFFF"/>
                    </a:solidFill>
                  </a:tcPr>
                </a:tc>
                <a:tc>
                  <a:txBody>
                    <a:bodyPr/>
                    <a:lstStyle/>
                    <a:p>
                      <a:r>
                        <a:rPr sz="1400" b="0">
                          <a:solidFill>
                            <a:srgbClr val="1B2430"/>
                          </a:solidFill>
                          <a:latin typeface="Calibri"/>
                        </a:rPr>
                        <a:t>93%</a:t>
                      </a:r>
                    </a:p>
                  </a:txBody>
                  <a:tcPr>
                    <a:solidFill>
                      <a:srgbClr val="FFFFFF"/>
                    </a:solidFill>
                  </a:tcPr>
                </a:tc>
              </a:tr>
              <a:tr h="520000">
                <a:tc>
                  <a:txBody>
                    <a:bodyPr/>
                    <a:lstStyle/>
                    <a:p>
                      <a:r>
                        <a:rPr sz="1400" b="0">
                          <a:solidFill>
                            <a:srgbClr val="1B2430"/>
                          </a:solidFill>
                          <a:latin typeface="Calibri"/>
                        </a:rPr>
                        <a:t>4 GPU (1 tugun)</a:t>
                      </a:r>
                    </a:p>
                  </a:txBody>
                  <a:tcPr>
                    <a:solidFill>
                      <a:srgbClr val="F1F4F8"/>
                    </a:solidFill>
                  </a:tcPr>
                </a:tc>
                <a:tc>
                  <a:txBody>
                    <a:bodyPr/>
                    <a:lstStyle/>
                    <a:p>
                      <a:r>
                        <a:rPr sz="1400" b="0">
                          <a:solidFill>
                            <a:srgbClr val="1B2430"/>
                          </a:solidFill>
                          <a:latin typeface="Calibri"/>
                        </a:rPr>
                        <a:t>512</a:t>
                      </a:r>
                    </a:p>
                  </a:txBody>
                  <a:tcPr>
                    <a:solidFill>
                      <a:srgbClr val="F1F4F8"/>
                    </a:solidFill>
                  </a:tcPr>
                </a:tc>
                <a:tc>
                  <a:txBody>
                    <a:bodyPr/>
                    <a:lstStyle/>
                    <a:p>
                      <a:r>
                        <a:rPr sz="1400" b="0">
                          <a:solidFill>
                            <a:srgbClr val="1B2430"/>
                          </a:solidFill>
                          <a:latin typeface="Calibri"/>
                        </a:rPr>
                        <a:t>1.20</a:t>
                      </a:r>
                    </a:p>
                  </a:txBody>
                  <a:tcPr>
                    <a:solidFill>
                      <a:srgbClr val="F1F4F8"/>
                    </a:solidFill>
                  </a:tcPr>
                </a:tc>
                <a:tc>
                  <a:txBody>
                    <a:bodyPr/>
                    <a:lstStyle/>
                    <a:p>
                      <a:r>
                        <a:rPr sz="1400" b="0">
                          <a:solidFill>
                            <a:srgbClr val="1B2430"/>
                          </a:solidFill>
                          <a:latin typeface="Calibri"/>
                        </a:rPr>
                        <a:t>8 300</a:t>
                      </a:r>
                    </a:p>
                  </a:txBody>
                  <a:tcPr>
                    <a:solidFill>
                      <a:srgbClr val="F1F4F8"/>
                    </a:solidFill>
                  </a:tcPr>
                </a:tc>
                <a:tc>
                  <a:txBody>
                    <a:bodyPr/>
                    <a:lstStyle/>
                    <a:p>
                      <a:r>
                        <a:rPr sz="1400" b="0">
                          <a:solidFill>
                            <a:srgbClr val="1B2430"/>
                          </a:solidFill>
                          <a:latin typeface="Calibri"/>
                        </a:rPr>
                        <a:t>3.32</a:t>
                      </a:r>
                    </a:p>
                  </a:txBody>
                  <a:tcPr>
                    <a:solidFill>
                      <a:srgbClr val="F1F4F8"/>
                    </a:solidFill>
                  </a:tcPr>
                </a:tc>
                <a:tc>
                  <a:txBody>
                    <a:bodyPr/>
                    <a:lstStyle/>
                    <a:p>
                      <a:r>
                        <a:rPr sz="1400" b="0">
                          <a:solidFill>
                            <a:srgbClr val="1B2430"/>
                          </a:solidFill>
                          <a:latin typeface="Calibri"/>
                        </a:rPr>
                        <a:t>83%</a:t>
                      </a:r>
                    </a:p>
                  </a:txBody>
                  <a:tcPr>
                    <a:solidFill>
                      <a:srgbClr val="F1F4F8"/>
                    </a:solidFill>
                  </a:tcPr>
                </a:tc>
              </a:tr>
              <a:tr h="520000">
                <a:tc>
                  <a:txBody>
                    <a:bodyPr/>
                    <a:lstStyle/>
                    <a:p>
                      <a:r>
                        <a:rPr sz="1400" b="0">
                          <a:solidFill>
                            <a:srgbClr val="1B2430"/>
                          </a:solidFill>
                          <a:latin typeface="Calibri"/>
                        </a:rPr>
                        <a:t>2+2 GPU (2 tugun, 10 GbE)</a:t>
                      </a:r>
                    </a:p>
                  </a:txBody>
                  <a:tcPr>
                    <a:solidFill>
                      <a:srgbClr val="FFFFFF"/>
                    </a:solidFill>
                  </a:tcPr>
                </a:tc>
                <a:tc>
                  <a:txBody>
                    <a:bodyPr/>
                    <a:lstStyle/>
                    <a:p>
                      <a:r>
                        <a:rPr sz="1400" b="0">
                          <a:solidFill>
                            <a:srgbClr val="1B2430"/>
                          </a:solidFill>
                          <a:latin typeface="Calibri"/>
                        </a:rPr>
                        <a:t>512</a:t>
                      </a:r>
                    </a:p>
                  </a:txBody>
                  <a:tcPr>
                    <a:solidFill>
                      <a:srgbClr val="FFFFFF"/>
                    </a:solidFill>
                  </a:tcPr>
                </a:tc>
                <a:tc>
                  <a:txBody>
                    <a:bodyPr/>
                    <a:lstStyle/>
                    <a:p>
                      <a:r>
                        <a:rPr sz="1400" b="0">
                          <a:solidFill>
                            <a:srgbClr val="1B2430"/>
                          </a:solidFill>
                          <a:latin typeface="Calibri"/>
                        </a:rPr>
                        <a:t>1.95</a:t>
                      </a:r>
                    </a:p>
                  </a:txBody>
                  <a:tcPr>
                    <a:solidFill>
                      <a:srgbClr val="FFFFFF"/>
                    </a:solidFill>
                  </a:tcPr>
                </a:tc>
                <a:tc>
                  <a:txBody>
                    <a:bodyPr/>
                    <a:lstStyle/>
                    <a:p>
                      <a:r>
                        <a:rPr sz="1400" b="0">
                          <a:solidFill>
                            <a:srgbClr val="1B2430"/>
                          </a:solidFill>
                          <a:latin typeface="Calibri"/>
                        </a:rPr>
                        <a:t>5 100</a:t>
                      </a:r>
                    </a:p>
                  </a:txBody>
                  <a:tcPr>
                    <a:solidFill>
                      <a:srgbClr val="FFFFFF"/>
                    </a:solidFill>
                  </a:tcPr>
                </a:tc>
                <a:tc>
                  <a:txBody>
                    <a:bodyPr/>
                    <a:lstStyle/>
                    <a:p>
                      <a:r>
                        <a:rPr sz="1400" b="0">
                          <a:solidFill>
                            <a:srgbClr val="1B2430"/>
                          </a:solidFill>
                          <a:latin typeface="Calibri"/>
                        </a:rPr>
                        <a:t>2.04</a:t>
                      </a:r>
                    </a:p>
                  </a:txBody>
                  <a:tcPr>
                    <a:solidFill>
                      <a:srgbClr val="FFFFFF"/>
                    </a:solidFill>
                  </a:tcPr>
                </a:tc>
                <a:tc>
                  <a:txBody>
                    <a:bodyPr/>
                    <a:lstStyle/>
                    <a:p>
                      <a:r>
                        <a:rPr sz="1400" b="0">
                          <a:solidFill>
                            <a:srgbClr val="1B2430"/>
                          </a:solidFill>
                          <a:latin typeface="Calibri"/>
                        </a:rPr>
                        <a:t>51%</a:t>
                      </a:r>
                    </a:p>
                  </a:txBody>
                  <a:tcPr>
                    <a:solidFill>
                      <a:srgbClr val="FFFFFF"/>
                    </a:solidFill>
                  </a:tcPr>
                </a:tc>
              </a:tr>
              <a:tr h="520000">
                <a:tc>
                  <a:txBody>
                    <a:bodyPr/>
                    <a:lstStyle/>
                    <a:p>
                      <a:r>
                        <a:rPr sz="1400" b="0">
                          <a:solidFill>
                            <a:srgbClr val="1B2430"/>
                          </a:solidFill>
                          <a:latin typeface="Calibri"/>
                        </a:rPr>
                        <a:t>Inferens 1 GPU</a:t>
                      </a:r>
                    </a:p>
                  </a:txBody>
                  <a:tcPr>
                    <a:solidFill>
                      <a:srgbClr val="F1F4F8"/>
                    </a:solidFill>
                  </a:tcPr>
                </a:tc>
                <a:tc>
                  <a:txBody>
                    <a:bodyPr/>
                    <a:lstStyle/>
                    <a:p>
                      <a:r>
                        <a:rPr sz="1400" b="0">
                          <a:solidFill>
                            <a:srgbClr val="1B2430"/>
                          </a:solidFill>
                          <a:latin typeface="Calibri"/>
                        </a:rPr>
                        <a:t>256</a:t>
                      </a:r>
                    </a:p>
                  </a:txBody>
                  <a:tcPr>
                    <a:solidFill>
                      <a:srgbClr val="F1F4F8"/>
                    </a:solidFill>
                  </a:tcPr>
                </a:tc>
                <a:tc>
                  <a:txBody>
                    <a:bodyPr/>
                    <a:lstStyle/>
                    <a:p>
                      <a:r>
                        <a:rPr sz="1400" b="0">
                          <a:solidFill>
                            <a:srgbClr val="1B2430"/>
                          </a:solidFill>
                          <a:latin typeface="Calibri"/>
                        </a:rPr>
                        <a:t>0.95</a:t>
                      </a:r>
                    </a:p>
                  </a:txBody>
                  <a:tcPr>
                    <a:solidFill>
                      <a:srgbClr val="F1F4F8"/>
                    </a:solidFill>
                  </a:tcPr>
                </a:tc>
                <a:tc>
                  <a:txBody>
                    <a:bodyPr/>
                    <a:lstStyle/>
                    <a:p>
                      <a:r>
                        <a:rPr sz="1400" b="0">
                          <a:solidFill>
                            <a:srgbClr val="1B2430"/>
                          </a:solidFill>
                          <a:latin typeface="Calibri"/>
                        </a:rPr>
                        <a:t>10 500</a:t>
                      </a:r>
                    </a:p>
                  </a:txBody>
                  <a:tcPr>
                    <a:solidFill>
                      <a:srgbClr val="F1F4F8"/>
                    </a:solidFill>
                  </a:tcPr>
                </a:tc>
                <a:tc>
                  <a:txBody>
                    <a:bodyPr/>
                    <a:lstStyle/>
                    <a:p>
                      <a:r>
                        <a:rPr sz="1400" b="0">
                          <a:solidFill>
                            <a:srgbClr val="1B2430"/>
                          </a:solidFill>
                          <a:latin typeface="Calibri"/>
                        </a:rPr>
                        <a:t>1.00</a:t>
                      </a:r>
                    </a:p>
                  </a:txBody>
                  <a:tcPr>
                    <a:solidFill>
                      <a:srgbClr val="F1F4F8"/>
                    </a:solidFill>
                  </a:tcPr>
                </a:tc>
                <a:tc>
                  <a:txBody>
                    <a:bodyPr/>
                    <a:lstStyle/>
                    <a:p>
                      <a:r>
                        <a:rPr sz="1400" b="0">
                          <a:solidFill>
                            <a:srgbClr val="1B2430"/>
                          </a:solidFill>
                          <a:latin typeface="Calibri"/>
                        </a:rPr>
                        <a:t>100%</a:t>
                      </a:r>
                    </a:p>
                  </a:txBody>
                  <a:tcPr>
                    <a:solidFill>
                      <a:srgbClr val="F1F4F8"/>
                    </a:solidFill>
                  </a:tcPr>
                </a:tc>
              </a:tr>
              <a:tr h="520000">
                <a:tc>
                  <a:txBody>
                    <a:bodyPr/>
                    <a:lstStyle/>
                    <a:p>
                      <a:r>
                        <a:rPr sz="1400" b="0">
                          <a:solidFill>
                            <a:srgbClr val="1B2430"/>
                          </a:solidFill>
                          <a:latin typeface="Calibri"/>
                        </a:rPr>
                        <a:t>Inferens 4 GPU</a:t>
                      </a:r>
                    </a:p>
                  </a:txBody>
                  <a:tcPr>
                    <a:solidFill>
                      <a:srgbClr val="FFFFFF"/>
                    </a:solidFill>
                  </a:tcPr>
                </a:tc>
                <a:tc>
                  <a:txBody>
                    <a:bodyPr/>
                    <a:lstStyle/>
                    <a:p>
                      <a:r>
                        <a:rPr sz="1400" b="0">
                          <a:solidFill>
                            <a:srgbClr val="1B2430"/>
                          </a:solidFill>
                          <a:latin typeface="Calibri"/>
                        </a:rPr>
                        <a:t>1024</a:t>
                      </a:r>
                    </a:p>
                  </a:txBody>
                  <a:tcPr>
                    <a:solidFill>
                      <a:srgbClr val="FFFFFF"/>
                    </a:solidFill>
                  </a:tcPr>
                </a:tc>
                <a:tc>
                  <a:txBody>
                    <a:bodyPr/>
                    <a:lstStyle/>
                    <a:p>
                      <a:r>
                        <a:rPr sz="1400" b="0">
                          <a:solidFill>
                            <a:srgbClr val="1B2430"/>
                          </a:solidFill>
                          <a:latin typeface="Calibri"/>
                        </a:rPr>
                        <a:t>0.26</a:t>
                      </a:r>
                    </a:p>
                  </a:txBody>
                  <a:tcPr>
                    <a:solidFill>
                      <a:srgbClr val="FFFFFF"/>
                    </a:solidFill>
                  </a:tcPr>
                </a:tc>
                <a:tc>
                  <a:txBody>
                    <a:bodyPr/>
                    <a:lstStyle/>
                    <a:p>
                      <a:r>
                        <a:rPr sz="1400" b="0">
                          <a:solidFill>
                            <a:srgbClr val="1B2430"/>
                          </a:solidFill>
                          <a:latin typeface="Calibri"/>
                        </a:rPr>
                        <a:t>38 500</a:t>
                      </a:r>
                    </a:p>
                  </a:txBody>
                  <a:tcPr>
                    <a:solidFill>
                      <a:srgbClr val="FFFFFF"/>
                    </a:solidFill>
                  </a:tcPr>
                </a:tc>
                <a:tc>
                  <a:txBody>
                    <a:bodyPr/>
                    <a:lstStyle/>
                    <a:p>
                      <a:r>
                        <a:rPr sz="1400" b="0">
                          <a:solidFill>
                            <a:srgbClr val="1B2430"/>
                          </a:solidFill>
                          <a:latin typeface="Calibri"/>
                        </a:rPr>
                        <a:t>3.67</a:t>
                      </a:r>
                    </a:p>
                  </a:txBody>
                  <a:tcPr>
                    <a:solidFill>
                      <a:srgbClr val="FFFFFF"/>
                    </a:solidFill>
                  </a:tcPr>
                </a:tc>
                <a:tc>
                  <a:txBody>
                    <a:bodyPr/>
                    <a:lstStyle/>
                    <a:p>
                      <a:r>
                        <a:rPr sz="1400" b="0">
                          <a:solidFill>
                            <a:srgbClr val="1B2430"/>
                          </a:solidFill>
                          <a:latin typeface="Calibri"/>
                        </a:rPr>
                        <a:t>92%</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Hisobot shakli (1)</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36</a:t>
            </a:r>
          </a:p>
        </p:txBody>
      </p:sp>
      <p:sp>
        <p:nvSpPr>
          <p:cNvPr id="10" name="Rounded Rectangle 9"/>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300000"/>
            <a:ext cx="10050000" cy="894000"/>
          </a:xfrm>
          <a:prstGeom prst="rect">
            <a:avLst/>
          </a:prstGeom>
          <a:noFill/>
        </p:spPr>
        <p:txBody>
          <a:bodyPr wrap="square" anchor="ctr" lIns="50800" rIns="50800">
            <a:spAutoFit/>
          </a:bodyPr>
          <a:lstStyle/>
          <a:p>
            <a:pPr algn="l"/>
            <a:r>
              <a:rPr sz="1600" b="0">
                <a:solidFill>
                  <a:srgbClr val="1B2430"/>
                </a:solidFill>
                <a:latin typeface="Calibri"/>
              </a:rPr>
              <a:t>Hisobot 4–6 sahifa, PDF, quyidagi bo'limlar bilan topshiriladi:</a:t>
            </a:r>
          </a:p>
        </p:txBody>
      </p:sp>
      <p:sp>
        <p:nvSpPr>
          <p:cNvPr id="14" name="Rounded Rectangle 13"/>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314000"/>
            <a:ext cx="10050000" cy="894000"/>
          </a:xfrm>
          <a:prstGeom prst="rect">
            <a:avLst/>
          </a:prstGeom>
          <a:noFill/>
        </p:spPr>
        <p:txBody>
          <a:bodyPr wrap="square" anchor="ctr" lIns="50800" rIns="50800">
            <a:spAutoFit/>
          </a:bodyPr>
          <a:lstStyle/>
          <a:p>
            <a:pPr algn="l"/>
            <a:r>
              <a:rPr sz="1600" b="0">
                <a:solidFill>
                  <a:srgbClr val="1B2430"/>
                </a:solidFill>
                <a:latin typeface="Calibri"/>
              </a:rPr>
              <a:t>Muhit tavsifi: GPU modeli va soni, ulanish topologiyasi (nvidia-smi topo -m chiqishi), drayver/CUDA/PyTorch versiyalari, tarmoq turi.</a:t>
            </a:r>
          </a:p>
        </p:txBody>
      </p:sp>
      <p:sp>
        <p:nvSpPr>
          <p:cNvPr id="18" name="Rounded Rectangle 17"/>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3328000"/>
            <a:ext cx="10050000" cy="894000"/>
          </a:xfrm>
          <a:prstGeom prst="rect">
            <a:avLst/>
          </a:prstGeom>
          <a:noFill/>
        </p:spPr>
        <p:txBody>
          <a:bodyPr wrap="square" anchor="ctr" lIns="50800" rIns="50800">
            <a:spAutoFit/>
          </a:bodyPr>
          <a:lstStyle/>
          <a:p>
            <a:pPr algn="l"/>
            <a:r>
              <a:rPr sz="1600" b="0">
                <a:solidFill>
                  <a:srgbClr val="1B2430"/>
                </a:solidFill>
                <a:latin typeface="Calibri"/>
              </a:rPr>
              <a:t>Bajarilgan buyruqlar va skriptning o'zgartirilgan qismlari (to'liq kod ilovada).</a:t>
            </a:r>
          </a:p>
        </p:txBody>
      </p:sp>
      <p:sp>
        <p:nvSpPr>
          <p:cNvPr id="22" name="Rounded Rectangle 21"/>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5" name="TextBox 24"/>
          <p:cNvSpPr txBox="1"/>
          <p:nvPr/>
        </p:nvSpPr>
        <p:spPr>
          <a:xfrm>
            <a:off x="1450000" y="4342000"/>
            <a:ext cx="10050000" cy="894000"/>
          </a:xfrm>
          <a:prstGeom prst="rect">
            <a:avLst/>
          </a:prstGeom>
          <a:noFill/>
        </p:spPr>
        <p:txBody>
          <a:bodyPr wrap="square" anchor="ctr" lIns="50800" rIns="50800">
            <a:spAutoFit/>
          </a:bodyPr>
          <a:lstStyle/>
          <a:p>
            <a:pPr algn="l"/>
            <a:r>
              <a:rPr sz="1600" b="0">
                <a:solidFill>
                  <a:srgbClr val="1B2430"/>
                </a:solidFill>
                <a:latin typeface="Calibri"/>
              </a:rPr>
              <a:t>To'ldirilgan masshtablash jadvali (yuqoridagi shaklda) va img/s ni GPU soniga bog'liq grafigi (matplotlib).</a:t>
            </a:r>
          </a:p>
        </p:txBody>
      </p:sp>
      <p:sp>
        <p:nvSpPr>
          <p:cNvPr id="26" name="Rounded Rectangle 25"/>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9" name="TextBox 28"/>
          <p:cNvSpPr txBox="1"/>
          <p:nvPr/>
        </p:nvSpPr>
        <p:spPr>
          <a:xfrm>
            <a:off x="1450000" y="5356000"/>
            <a:ext cx="10050000" cy="894000"/>
          </a:xfrm>
          <a:prstGeom prst="rect">
            <a:avLst/>
          </a:prstGeom>
          <a:noFill/>
        </p:spPr>
        <p:txBody>
          <a:bodyPr wrap="square" anchor="ctr" lIns="50800" rIns="50800">
            <a:spAutoFit/>
          </a:bodyPr>
          <a:lstStyle/>
          <a:p>
            <a:pPr algn="l"/>
            <a:r>
              <a:rPr sz="1600" b="0">
                <a:solidFill>
                  <a:srgbClr val="1B2430"/>
                </a:solidFill>
                <a:latin typeface="Calibri"/>
              </a:rPr>
              <a:t>Profiler jadvali fragmenti va kommunikatsiya ulushi hisobi.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6"/>
                                        </p:tgtEl>
                                        <p:attrNameLst>
                                          <p:attrName>style.visibility</p:attrName>
                                        </p:attrNameLst>
                                      </p:cBhvr>
                                      <p:to>
                                        <p:strVal val="visible"/>
                                      </p:to>
                                    </p:set>
                                    <p:animEffect transition="in" filter="fade">
                                      <p:cBhvr>
                                        <p:cTn id="106" dur="550"/>
                                        <p:tgtEl>
                                          <p:spTgt spid="26"/>
                                        </p:tgtEl>
                                      </p:cBhvr>
                                    </p:animEffect>
                                    <p:anim calcmode="lin" valueType="num">
                                      <p:cBhvr additive="base">
                                        <p:cTn id="107" dur="550" fill="hold"/>
                                        <p:tgtEl>
                                          <p:spTgt spid="26"/>
                                        </p:tgtEl>
                                        <p:attrNameLst>
                                          <p:attrName>ppt_x</p:attrName>
                                        </p:attrNameLst>
                                      </p:cBhvr>
                                      <p:tavLst>
                                        <p:tav tm="0">
                                          <p:val>
                                            <p:strVal val="#ppt_x"/>
                                          </p:val>
                                        </p:tav>
                                        <p:tav tm="100000">
                                          <p:val>
                                            <p:strVal val="#ppt_x"/>
                                          </p:val>
                                        </p:tav>
                                      </p:tavLst>
                                    </p:anim>
                                    <p:anim calcmode="lin" valueType="num">
                                      <p:cBhvr additive="base">
                                        <p:cTn id="108" dur="550" fill="hold"/>
                                        <p:tgtEl>
                                          <p:spTgt spid="26"/>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7"/>
                                        </p:tgtEl>
                                        <p:attrNameLst>
                                          <p:attrName>style.visibility</p:attrName>
                                        </p:attrNameLst>
                                      </p:cBhvr>
                                      <p:to>
                                        <p:strVal val="visible"/>
                                      </p:to>
                                    </p:set>
                                    <p:animEffect transition="in" filter="fade">
                                      <p:cBhvr>
                                        <p:cTn id="112" dur="550"/>
                                        <p:tgtEl>
                                          <p:spTgt spid="27"/>
                                        </p:tgtEl>
                                      </p:cBhvr>
                                    </p:animEffect>
                                    <p:anim calcmode="lin" valueType="num">
                                      <p:cBhvr additive="base">
                                        <p:cTn id="113" dur="550" fill="hold"/>
                                        <p:tgtEl>
                                          <p:spTgt spid="27"/>
                                        </p:tgtEl>
                                        <p:attrNameLst>
                                          <p:attrName>ppt_x</p:attrName>
                                        </p:attrNameLst>
                                      </p:cBhvr>
                                      <p:tavLst>
                                        <p:tav tm="0">
                                          <p:val>
                                            <p:strVal val="#ppt_x"/>
                                          </p:val>
                                        </p:tav>
                                        <p:tav tm="100000">
                                          <p:val>
                                            <p:strVal val="#ppt_x"/>
                                          </p:val>
                                        </p:tav>
                                      </p:tavLst>
                                    </p:anim>
                                    <p:anim calcmode="lin" valueType="num">
                                      <p:cBhvr additive="base">
                                        <p:cTn id="114" dur="550" fill="hold"/>
                                        <p:tgtEl>
                                          <p:spTgt spid="27"/>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8"/>
                                        </p:tgtEl>
                                        <p:attrNameLst>
                                          <p:attrName>style.visibility</p:attrName>
                                        </p:attrNameLst>
                                      </p:cBhvr>
                                      <p:to>
                                        <p:strVal val="visible"/>
                                      </p:to>
                                    </p:set>
                                    <p:animEffect transition="in" filter="fade">
                                      <p:cBhvr>
                                        <p:cTn id="118" dur="550"/>
                                        <p:tgtEl>
                                          <p:spTgt spid="28"/>
                                        </p:tgtEl>
                                      </p:cBhvr>
                                    </p:animEffect>
                                    <p:anim calcmode="lin" valueType="num">
                                      <p:cBhvr additive="base">
                                        <p:cTn id="119" dur="550" fill="hold"/>
                                        <p:tgtEl>
                                          <p:spTgt spid="28"/>
                                        </p:tgtEl>
                                        <p:attrNameLst>
                                          <p:attrName>ppt_w</p:attrName>
                                        </p:attrNameLst>
                                      </p:cBhvr>
                                      <p:tavLst>
                                        <p:tav tm="0">
                                          <p:val>
                                            <p:strVal val="0"/>
                                          </p:val>
                                        </p:tav>
                                        <p:tav tm="100000">
                                          <p:val>
                                            <p:strVal val="#ppt_w"/>
                                          </p:val>
                                        </p:tav>
                                      </p:tavLst>
                                    </p:anim>
                                    <p:anim calcmode="lin" valueType="num">
                                      <p:cBhvr additive="base">
                                        <p:cTn id="120" dur="550" fill="hold"/>
                                        <p:tgtEl>
                                          <p:spTgt spid="28"/>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9"/>
                                        </p:tgtEl>
                                        <p:attrNameLst>
                                          <p:attrName>style.visibility</p:attrName>
                                        </p:attrNameLst>
                                      </p:cBhvr>
                                      <p:to>
                                        <p:strVal val="visible"/>
                                      </p:to>
                                    </p:set>
                                    <p:animEffect transition="in" filter="fade">
                                      <p:cBhvr>
                                        <p:cTn id="124" dur="550"/>
                                        <p:tgtEl>
                                          <p:spTgt spid="29"/>
                                        </p:tgtEl>
                                      </p:cBhvr>
                                    </p:animEffect>
                                    <p:anim calcmode="lin" valueType="num">
                                      <p:cBhvr additive="base">
                                        <p:cTn id="125" dur="550" fill="hold"/>
                                        <p:tgtEl>
                                          <p:spTgt spid="29"/>
                                        </p:tgtEl>
                                        <p:attrNameLst>
                                          <p:attrName>ppt_x</p:attrName>
                                        </p:attrNameLst>
                                      </p:cBhvr>
                                      <p:tavLst>
                                        <p:tav tm="0">
                                          <p:val>
                                            <p:strVal val="#ppt_x"/>
                                          </p:val>
                                        </p:tav>
                                        <p:tav tm="100000">
                                          <p:val>
                                            <p:strVal val="#ppt_x"/>
                                          </p:val>
                                        </p:tav>
                                      </p:tavLst>
                                    </p:anim>
                                    <p:anim calcmode="lin" valueType="num">
                                      <p:cBhvr additive="base">
                                        <p:cTn id="126" dur="550" fill="hold"/>
                                        <p:tgtEl>
                                          <p:spTgt spid="2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Lst>
  </p:timing>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Hisobot shakli (2)</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37</a:t>
            </a:r>
          </a:p>
        </p:txBody>
      </p:sp>
      <p:sp>
        <p:nvSpPr>
          <p:cNvPr id="10" name="Rounded Rectangle 9"/>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076666"/>
            <a:ext cx="70000" cy="1250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471666"/>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13" name="TextBox 12"/>
          <p:cNvSpPr txBox="1"/>
          <p:nvPr/>
        </p:nvSpPr>
        <p:spPr>
          <a:xfrm>
            <a:off x="1450000" y="2076666"/>
            <a:ext cx="10050000" cy="1250000"/>
          </a:xfrm>
          <a:prstGeom prst="rect">
            <a:avLst/>
          </a:prstGeom>
          <a:noFill/>
        </p:spPr>
        <p:txBody>
          <a:bodyPr wrap="square" anchor="ctr" lIns="50800" rIns="50800">
            <a:spAutoFit/>
          </a:bodyPr>
          <a:lstStyle/>
          <a:p>
            <a:pPr algn="l"/>
            <a:r>
              <a:rPr sz="2000" b="0">
                <a:solidFill>
                  <a:srgbClr val="1B2430"/>
                </a:solidFill>
                <a:latin typeface="Calibri"/>
              </a:rPr>
              <a:t>Tahlil: samaradorlik pasayishining sabablari, bottleneck, kamida 2 ta takomillashtirish taklifi va ulardan bittasining sinovi.</a:t>
            </a:r>
          </a:p>
        </p:txBody>
      </p:sp>
      <p:sp>
        <p:nvSpPr>
          <p:cNvPr id="14" name="Rounded Rectangle 13"/>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44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84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17" name="TextBox 16"/>
          <p:cNvSpPr txBox="1"/>
          <p:nvPr/>
        </p:nvSpPr>
        <p:spPr>
          <a:xfrm>
            <a:off x="1450000" y="3446666"/>
            <a:ext cx="10050000" cy="1250000"/>
          </a:xfrm>
          <a:prstGeom prst="rect">
            <a:avLst/>
          </a:prstGeom>
          <a:noFill/>
        </p:spPr>
        <p:txBody>
          <a:bodyPr wrap="square" anchor="ctr" lIns="50800" rIns="50800">
            <a:spAutoFit/>
          </a:bodyPr>
          <a:lstStyle/>
          <a:p>
            <a:pPr algn="l"/>
            <a:r>
              <a:rPr sz="2000" b="0">
                <a:solidFill>
                  <a:srgbClr val="1B2430"/>
                </a:solidFill>
                <a:latin typeface="Calibri"/>
              </a:rPr>
              <a:t>Xulosa va javob berilgan nazorat savollari (kamida 3 ta).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Baholash mezoni (jami 100 ball)</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38</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2000" b="0">
                <a:solidFill>
                  <a:srgbClr val="1B2430"/>
                </a:solidFill>
                <a:latin typeface="Calibri"/>
              </a:rPr>
              <a:t>60 balldan past — qayta topshirish; 60–74 — qoniqarli; 75–89 — yaxshi; 90–100 — a'lo.</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Baholash mezoni (jami 100 ball)</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39</a:t>
            </a:r>
          </a:p>
        </p:txBody>
      </p:sp>
      <p:graphicFrame>
        <p:nvGraphicFramePr>
          <p:cNvPr id="10" name="Table 9"/>
          <p:cNvGraphicFramePr>
            <a:graphicFrameLocks noGrp="1"/>
          </p:cNvGraphicFramePr>
          <p:nvPr/>
        </p:nvGraphicFramePr>
        <p:xfrm>
          <a:off x="500000" y="1350000"/>
          <a:ext cx="11200000" cy="4680000"/>
        </p:xfrm>
        <a:graphic>
          <a:graphicData uri="http://schemas.openxmlformats.org/drawingml/2006/table">
            <a:tbl>
              <a:tblPr firstRow="1" bandRow="1">
                <a:tableStyleId>{5C22544A-7EE6-4342-B048-85BDC9FD1C3A}</a:tableStyleId>
              </a:tblPr>
              <a:tblGrid>
                <a:gridCol w="5600000"/>
                <a:gridCol w="5600000"/>
              </a:tblGrid>
              <a:tr h="520000">
                <a:tc>
                  <a:txBody>
                    <a:bodyPr/>
                    <a:lstStyle/>
                    <a:p>
                      <a:r>
                        <a:rPr sz="1200" b="1">
                          <a:solidFill>
                            <a:srgbClr val="FFFFFF"/>
                          </a:solidFill>
                          <a:latin typeface="Calibri"/>
                        </a:rPr>
                        <a:t>Mezon</a:t>
                      </a:r>
                    </a:p>
                  </a:txBody>
                  <a:tcPr>
                    <a:solidFill>
                      <a:srgbClr val="2D5C8F"/>
                    </a:solidFill>
                  </a:tcPr>
                </a:tc>
                <a:tc>
                  <a:txBody>
                    <a:bodyPr/>
                    <a:lstStyle/>
                    <a:p>
                      <a:r>
                        <a:rPr sz="1200" b="1">
                          <a:solidFill>
                            <a:srgbClr val="FFFFFF"/>
                          </a:solidFill>
                          <a:latin typeface="Calibri"/>
                        </a:rPr>
                        <a:t>Ball</a:t>
                      </a:r>
                    </a:p>
                  </a:txBody>
                  <a:tcPr>
                    <a:solidFill>
                      <a:srgbClr val="2D5C8F"/>
                    </a:solidFill>
                  </a:tcPr>
                </a:tc>
              </a:tr>
              <a:tr h="520000">
                <a:tc>
                  <a:txBody>
                    <a:bodyPr/>
                    <a:lstStyle/>
                    <a:p>
                      <a:r>
                        <a:rPr sz="1200" b="0">
                          <a:solidFill>
                            <a:srgbClr val="1B2430"/>
                          </a:solidFill>
                          <a:latin typeface="Calibri"/>
                        </a:rPr>
                        <a:t>1 GPU baseline to'g'ri o'lchangan (isitish epoxasi chiqarib tashlangan)</a:t>
                      </a:r>
                    </a:p>
                  </a:txBody>
                  <a:tcPr>
                    <a:solidFill>
                      <a:srgbClr val="F1F4F8"/>
                    </a:solidFill>
                  </a:tcPr>
                </a:tc>
                <a:tc>
                  <a:txBody>
                    <a:bodyPr/>
                    <a:lstStyle/>
                    <a:p>
                      <a:r>
                        <a:rPr sz="1200" b="0">
                          <a:solidFill>
                            <a:srgbClr val="1B2430"/>
                          </a:solidFill>
                          <a:latin typeface="Calibri"/>
                        </a:rPr>
                        <a:t>10</a:t>
                      </a:r>
                    </a:p>
                  </a:txBody>
                  <a:tcPr>
                    <a:solidFill>
                      <a:srgbClr val="F1F4F8"/>
                    </a:solidFill>
                  </a:tcPr>
                </a:tc>
              </a:tr>
              <a:tr h="520000">
                <a:tc>
                  <a:txBody>
                    <a:bodyPr/>
                    <a:lstStyle/>
                    <a:p>
                      <a:r>
                        <a:rPr sz="1200" b="0">
                          <a:solidFill>
                            <a:srgbClr val="1B2430"/>
                          </a:solidFill>
                          <a:latin typeface="Calibri"/>
                        </a:rPr>
                        <a:t>DDP 2 va 4 GPU ishlaydi, DistributedSampler, set_epoch, LR masshtablash to'g'ri</a:t>
                      </a:r>
                    </a:p>
                  </a:txBody>
                  <a:tcPr>
                    <a:solidFill>
                      <a:srgbClr val="FFFFFF"/>
                    </a:solidFill>
                  </a:tcPr>
                </a:tc>
                <a:tc>
                  <a:txBody>
                    <a:bodyPr/>
                    <a:lstStyle/>
                    <a:p>
                      <a:r>
                        <a:rPr sz="1200" b="0">
                          <a:solidFill>
                            <a:srgbClr val="1B2430"/>
                          </a:solidFill>
                          <a:latin typeface="Calibri"/>
                        </a:rPr>
                        <a:t>20</a:t>
                      </a:r>
                    </a:p>
                  </a:txBody>
                  <a:tcPr>
                    <a:solidFill>
                      <a:srgbClr val="FFFFFF"/>
                    </a:solidFill>
                  </a:tcPr>
                </a:tc>
              </a:tr>
              <a:tr h="520000">
                <a:tc>
                  <a:txBody>
                    <a:bodyPr/>
                    <a:lstStyle/>
                    <a:p>
                      <a:r>
                        <a:rPr sz="1200" b="0">
                          <a:solidFill>
                            <a:srgbClr val="1B2430"/>
                          </a:solidFill>
                          <a:latin typeface="Calibri"/>
                        </a:rPr>
                        <a:t>Masshtablash jadvali to'liq, S(N) va E(N) to'g'ri hisoblangan</a:t>
                      </a:r>
                    </a:p>
                  </a:txBody>
                  <a:tcPr>
                    <a:solidFill>
                      <a:srgbClr val="F1F4F8"/>
                    </a:solidFill>
                  </a:tcPr>
                </a:tc>
                <a:tc>
                  <a:txBody>
                    <a:bodyPr/>
                    <a:lstStyle/>
                    <a:p>
                      <a:r>
                        <a:rPr sz="1200" b="0">
                          <a:solidFill>
                            <a:srgbClr val="1B2430"/>
                          </a:solidFill>
                          <a:latin typeface="Calibri"/>
                        </a:rPr>
                        <a:t>15</a:t>
                      </a:r>
                    </a:p>
                  </a:txBody>
                  <a:tcPr>
                    <a:solidFill>
                      <a:srgbClr val="F1F4F8"/>
                    </a:solidFill>
                  </a:tcPr>
                </a:tc>
              </a:tr>
              <a:tr h="520000">
                <a:tc>
                  <a:txBody>
                    <a:bodyPr/>
                    <a:lstStyle/>
                    <a:p>
                      <a:r>
                        <a:rPr sz="1200" b="0">
                          <a:solidFill>
                            <a:srgbClr val="1B2430"/>
                          </a:solidFill>
                          <a:latin typeface="Calibri"/>
                        </a:rPr>
                        <a:t>Profiler orqali kommunikatsiya ulushi aniqlangan</a:t>
                      </a:r>
                    </a:p>
                  </a:txBody>
                  <a:tcPr>
                    <a:solidFill>
                      <a:srgbClr val="FFFFFF"/>
                    </a:solidFill>
                  </a:tcPr>
                </a:tc>
                <a:tc>
                  <a:txBody>
                    <a:bodyPr/>
                    <a:lstStyle/>
                    <a:p>
                      <a:r>
                        <a:rPr sz="1200" b="0">
                          <a:solidFill>
                            <a:srgbClr val="1B2430"/>
                          </a:solidFill>
                          <a:latin typeface="Calibri"/>
                        </a:rPr>
                        <a:t>10</a:t>
                      </a:r>
                    </a:p>
                  </a:txBody>
                  <a:tcPr>
                    <a:solidFill>
                      <a:srgbClr val="FFFFFF"/>
                    </a:solidFill>
                  </a:tcPr>
                </a:tc>
              </a:tr>
              <a:tr h="520000">
                <a:tc>
                  <a:txBody>
                    <a:bodyPr/>
                    <a:lstStyle/>
                    <a:p>
                      <a:r>
                        <a:rPr sz="1200" b="0">
                          <a:solidFill>
                            <a:srgbClr val="1B2430"/>
                          </a:solidFill>
                          <a:latin typeface="Calibri"/>
                        </a:rPr>
                        <a:t>Parallel inferens amalga oshirilgan, all_gather to'g'ri, aniqlik mos</a:t>
                      </a:r>
                    </a:p>
                  </a:txBody>
                  <a:tcPr>
                    <a:solidFill>
                      <a:srgbClr val="F1F4F8"/>
                    </a:solidFill>
                  </a:tcPr>
                </a:tc>
                <a:tc>
                  <a:txBody>
                    <a:bodyPr/>
                    <a:lstStyle/>
                    <a:p>
                      <a:r>
                        <a:rPr sz="1200" b="0">
                          <a:solidFill>
                            <a:srgbClr val="1B2430"/>
                          </a:solidFill>
                          <a:latin typeface="Calibri"/>
                        </a:rPr>
                        <a:t>15</a:t>
                      </a:r>
                    </a:p>
                  </a:txBody>
                  <a:tcPr>
                    <a:solidFill>
                      <a:srgbClr val="F1F4F8"/>
                    </a:solidFill>
                  </a:tcPr>
                </a:tc>
              </a:tr>
              <a:tr h="520000">
                <a:tc>
                  <a:txBody>
                    <a:bodyPr/>
                    <a:lstStyle/>
                    <a:p>
                      <a:r>
                        <a:rPr sz="1200" b="0">
                          <a:solidFill>
                            <a:srgbClr val="1B2430"/>
                          </a:solidFill>
                          <a:latin typeface="Calibri"/>
                        </a:rPr>
                        <a:t>Ikki tugunli ishga tushirish yoki Ray Train varianti (kamida bittasi)</a:t>
                      </a:r>
                    </a:p>
                  </a:txBody>
                  <a:tcPr>
                    <a:solidFill>
                      <a:srgbClr val="FFFFFF"/>
                    </a:solidFill>
                  </a:tcPr>
                </a:tc>
                <a:tc>
                  <a:txBody>
                    <a:bodyPr/>
                    <a:lstStyle/>
                    <a:p>
                      <a:r>
                        <a:rPr sz="1200" b="0">
                          <a:solidFill>
                            <a:srgbClr val="1B2430"/>
                          </a:solidFill>
                          <a:latin typeface="Calibri"/>
                        </a:rPr>
                        <a:t>10</a:t>
                      </a:r>
                    </a:p>
                  </a:txBody>
                  <a:tcPr>
                    <a:solidFill>
                      <a:srgbClr val="FFFFFF"/>
                    </a:solidFill>
                  </a:tcPr>
                </a:tc>
              </a:tr>
              <a:tr h="520000">
                <a:tc>
                  <a:txBody>
                    <a:bodyPr/>
                    <a:lstStyle/>
                    <a:p>
                      <a:r>
                        <a:rPr sz="1200" b="0">
                          <a:solidFill>
                            <a:srgbClr val="1B2430"/>
                          </a:solidFill>
                          <a:latin typeface="Calibri"/>
                        </a:rPr>
                        <a:t>Tahlil sifati: bottleneck asosli aniqlangan, taklif sinovdan o'tgan</a:t>
                      </a:r>
                    </a:p>
                  </a:txBody>
                  <a:tcPr>
                    <a:solidFill>
                      <a:srgbClr val="F1F4F8"/>
                    </a:solidFill>
                  </a:tcPr>
                </a:tc>
                <a:tc>
                  <a:txBody>
                    <a:bodyPr/>
                    <a:lstStyle/>
                    <a:p>
                      <a:r>
                        <a:rPr sz="1200" b="0">
                          <a:solidFill>
                            <a:srgbClr val="1B2430"/>
                          </a:solidFill>
                          <a:latin typeface="Calibri"/>
                        </a:rPr>
                        <a:t>15</a:t>
                      </a:r>
                    </a:p>
                  </a:txBody>
                  <a:tcPr>
                    <a:solidFill>
                      <a:srgbClr val="F1F4F8"/>
                    </a:solidFill>
                  </a:tcPr>
                </a:tc>
              </a:tr>
              <a:tr h="520000">
                <a:tc>
                  <a:txBody>
                    <a:bodyPr/>
                    <a:lstStyle/>
                    <a:p>
                      <a:r>
                        <a:rPr sz="1200" b="0">
                          <a:solidFill>
                            <a:srgbClr val="1B2430"/>
                          </a:solidFill>
                          <a:latin typeface="Calibri"/>
                        </a:rPr>
                        <a:t>Hisobot rasmiyligi, kodning o'qilishi, takrorlanuvchanlik</a:t>
                      </a:r>
                    </a:p>
                  </a:txBody>
                  <a:tcPr>
                    <a:solidFill>
                      <a:srgbClr val="FFFFFF"/>
                    </a:solidFill>
                  </a:tcPr>
                </a:tc>
                <a:tc>
                  <a:txBody>
                    <a:bodyPr/>
                    <a:lstStyle/>
                    <a:p>
                      <a:r>
                        <a:rPr sz="1200" b="0">
                          <a:solidFill>
                            <a:srgbClr val="1B2430"/>
                          </a:solidFill>
                          <a:latin typeface="Calibri"/>
                        </a:rPr>
                        <a:t>5</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4a6fbc786f8f863f.jpg"/>
          <p:cNvPicPr>
            <a:picLocks noChangeAspect="1"/>
          </p:cNvPicPr>
          <p:nvPr/>
        </p:nvPicPr>
        <p:blipFill>
          <a:blip r:embed="rId2"/>
          <a:srcRect l="17782" r="17782"/>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ArnoldReinhold · Wikimedia Commons · CC BY-SA 4.0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05</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Natijalarni tahlil qilish</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Natijalarni tahlil qilish</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41</a:t>
            </a:r>
          </a:p>
        </p:txBody>
      </p:sp>
      <p:sp>
        <p:nvSpPr>
          <p:cNvPr id="9" name="Rounded Rectangle 8"/>
          <p:cNvSpPr/>
          <p:nvPr/>
        </p:nvSpPr>
        <p:spPr>
          <a:xfrm>
            <a:off x="550000" y="1300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11475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64375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300000"/>
            <a:ext cx="10050000" cy="1147500"/>
          </a:xfrm>
          <a:prstGeom prst="rect">
            <a:avLst/>
          </a:prstGeom>
          <a:noFill/>
        </p:spPr>
        <p:txBody>
          <a:bodyPr wrap="square" anchor="ctr" lIns="50800" rIns="50800">
            <a:spAutoFit/>
          </a:bodyPr>
          <a:lstStyle/>
          <a:p>
            <a:pPr algn="l"/>
            <a:r>
              <a:rPr sz="1600" b="0">
                <a:solidFill>
                  <a:srgbClr val="1B2430"/>
                </a:solidFill>
                <a:latin typeface="Calibri"/>
              </a:rPr>
              <a:t>Kutilgan jadvaldagi raqamlar bir nechta muhim xulosaga olib keladi.</a:t>
            </a:r>
          </a:p>
        </p:txBody>
      </p:sp>
      <p:sp>
        <p:nvSpPr>
          <p:cNvPr id="13" name="Rounded Rectangle 12"/>
          <p:cNvSpPr/>
          <p:nvPr/>
        </p:nvSpPr>
        <p:spPr>
          <a:xfrm>
            <a:off x="550000" y="2567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567500"/>
            <a:ext cx="70000" cy="11475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91125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567500"/>
            <a:ext cx="10050000" cy="1147500"/>
          </a:xfrm>
          <a:prstGeom prst="rect">
            <a:avLst/>
          </a:prstGeom>
          <a:noFill/>
        </p:spPr>
        <p:txBody>
          <a:bodyPr wrap="square" anchor="ctr" lIns="50800" rIns="50800">
            <a:spAutoFit/>
          </a:bodyPr>
          <a:lstStyle/>
          <a:p>
            <a:pPr algn="l"/>
            <a:r>
              <a:rPr sz="1600" b="0">
                <a:solidFill>
                  <a:srgbClr val="1B2430"/>
                </a:solidFill>
                <a:latin typeface="Calibri"/>
              </a:rPr>
              <a:t>Ikkinchidan, tugunlararo konfiguratsiya 10 GbE tarmoqda samaradorlikni ikki baravar yo'qotadi.</a:t>
            </a:r>
          </a:p>
        </p:txBody>
      </p:sp>
      <p:sp>
        <p:nvSpPr>
          <p:cNvPr id="17" name="Rounded Rectangle 16"/>
          <p:cNvSpPr/>
          <p:nvPr/>
        </p:nvSpPr>
        <p:spPr>
          <a:xfrm>
            <a:off x="550000" y="3835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835000"/>
            <a:ext cx="70000" cy="11475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417875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3835000"/>
            <a:ext cx="10050000" cy="1147500"/>
          </a:xfrm>
          <a:prstGeom prst="rect">
            <a:avLst/>
          </a:prstGeom>
          <a:noFill/>
        </p:spPr>
        <p:txBody>
          <a:bodyPr wrap="square" anchor="ctr" lIns="50800" rIns="50800">
            <a:spAutoFit/>
          </a:bodyPr>
          <a:lstStyle/>
          <a:p>
            <a:pPr algn="l"/>
            <a:r>
              <a:rPr sz="1600" b="0">
                <a:solidFill>
                  <a:srgbClr val="1B2430"/>
                </a:solidFill>
                <a:latin typeface="Calibri"/>
              </a:rPr>
              <a:t>Uchinchidan, parallel inferens deyarli ideal masshtablanadi, chunki jarayonlar o'rtasida qadam sayin sinxronizatsiya yo'q.</a:t>
            </a:r>
          </a:p>
        </p:txBody>
      </p:sp>
      <p:sp>
        <p:nvSpPr>
          <p:cNvPr id="21" name="Rounded Rectangle 20"/>
          <p:cNvSpPr/>
          <p:nvPr/>
        </p:nvSpPr>
        <p:spPr>
          <a:xfrm>
            <a:off x="550000" y="5102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5102500"/>
            <a:ext cx="70000" cy="11475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544625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4" name="TextBox 23"/>
          <p:cNvSpPr txBox="1"/>
          <p:nvPr/>
        </p:nvSpPr>
        <p:spPr>
          <a:xfrm>
            <a:off x="1450000" y="5102500"/>
            <a:ext cx="10050000" cy="1147500"/>
          </a:xfrm>
          <a:prstGeom prst="rect">
            <a:avLst/>
          </a:prstGeom>
          <a:noFill/>
        </p:spPr>
        <p:txBody>
          <a:bodyPr wrap="square" anchor="ctr" lIns="50800" rIns="50800">
            <a:spAutoFit/>
          </a:bodyPr>
          <a:lstStyle/>
          <a:p>
            <a:pPr algn="l"/>
            <a:r>
              <a:rPr sz="1600" b="0">
                <a:solidFill>
                  <a:srgbClr val="1B2430"/>
                </a:solidFill>
                <a:latin typeface="Calibri"/>
              </a:rPr>
              <a:t>Cheklovlar va muqobillar: mashg'ulotda model bitta GPU'ga bemalol sig'adi, shuning uchun FSDP yoki tensor parallellik zaruriyati yuzaga kelmadi.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3ac77e5c8af152bd.jpg"/>
          <p:cNvPicPr>
            <a:picLocks noChangeAspect="1"/>
          </p:cNvPicPr>
          <p:nvPr/>
        </p:nvPicPr>
        <p:blipFill>
          <a:blip r:embed="rId2"/>
          <a:srcRect l="2192" r="2192"/>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Asurnipal · Wikimedia Commons · CC BY-SA 4.0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06</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Keng tarqalgan xatolar va amaliy tavsiyalar</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Keng tarqalgan xatolar va amaliy tavsiyalar (1)</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43</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set_epoch chaqirilmaydi. Natijada har epoxada bir xil aralashtirish, model sifati sezilarli pasayadi, lekin hech qanday xato chiqmaydi. Har doim sampler.set_epoch(epoch) ni epoxa boshida…</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O'rganish tezligi masshtablanmaydi. Global paket 4 baravar oshganda LR o'zgarmasa, yaqinlashish sekinlashadi; chiziqli qoida (lr  world_size) va 3–5 epoxali isitish standart amaliyot. Juda…</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Barcha ranklar fayl yozadi yoki log chiqaradi. Checkpoint faqat rank == 0 da saqlanishi, print va TensorBoard yozuvlari ham faqat bitta rankdan bo'lishi kerak; aks holda fayl buziladi va…</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DDP o'ramidan keyin model.module unutiladi. model.state_dict() DDP o'ramida module. prefiksi bilan saqlanadi; yuklashda mos kelmaslik xatosi chiqadi. model.module.state_dict() ni saqlang…</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GPU vaqtini time.time() bilan sinxronlashsiz o'lchash. CUDA asinxron — torch.cuda.synchronize() siz o'lchov faqat kernel navbatga qo'yilgan vaqtni ko'rsatadi. Barcha o'lchovlardan oldin va…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Keng tarqalgan xatolar va amaliy tavsiyalar (2)</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44</a:t>
            </a:r>
          </a:p>
        </p:txBody>
      </p:sp>
      <p:sp>
        <p:nvSpPr>
          <p:cNvPr id="9" name="Rounded Rectangle 8"/>
          <p:cNvSpPr/>
          <p:nvPr/>
        </p:nvSpPr>
        <p:spPr>
          <a:xfrm>
            <a:off x="550000" y="1300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11475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643750"/>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12" name="TextBox 11"/>
          <p:cNvSpPr txBox="1"/>
          <p:nvPr/>
        </p:nvSpPr>
        <p:spPr>
          <a:xfrm>
            <a:off x="1450000" y="1300000"/>
            <a:ext cx="10050000" cy="1147500"/>
          </a:xfrm>
          <a:prstGeom prst="rect">
            <a:avLst/>
          </a:prstGeom>
          <a:noFill/>
        </p:spPr>
        <p:txBody>
          <a:bodyPr wrap="square" anchor="ctr" lIns="50800" rIns="50800">
            <a:spAutoFit/>
          </a:bodyPr>
          <a:lstStyle/>
          <a:p>
            <a:pPr algn="l"/>
            <a:r>
              <a:rPr sz="1400" b="0">
                <a:solidFill>
                  <a:srgbClr val="1B2430"/>
                </a:solidFill>
                <a:latin typeface="Calibri"/>
              </a:rPr>
              <a:t>Osilib qolgan (hang) jarayonlar. Bir rankda istisno chiqsa, boshqalar all-reduce'da abadiy kutadi. torchrun bu holatni aniqlab, barcha jarayonlarni to'xtatadi, lekin qo'lda mp.spawn…</a:t>
            </a:r>
          </a:p>
        </p:txBody>
      </p:sp>
      <p:sp>
        <p:nvSpPr>
          <p:cNvPr id="13" name="Rounded Rectangle 12"/>
          <p:cNvSpPr/>
          <p:nvPr/>
        </p:nvSpPr>
        <p:spPr>
          <a:xfrm>
            <a:off x="550000" y="2567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567500"/>
            <a:ext cx="70000" cy="11475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91125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16" name="TextBox 15"/>
          <p:cNvSpPr txBox="1"/>
          <p:nvPr/>
        </p:nvSpPr>
        <p:spPr>
          <a:xfrm>
            <a:off x="1450000" y="2567500"/>
            <a:ext cx="10050000" cy="1147500"/>
          </a:xfrm>
          <a:prstGeom prst="rect">
            <a:avLst/>
          </a:prstGeom>
          <a:noFill/>
        </p:spPr>
        <p:txBody>
          <a:bodyPr wrap="square" anchor="ctr" lIns="50800" rIns="50800">
            <a:spAutoFit/>
          </a:bodyPr>
          <a:lstStyle/>
          <a:p>
            <a:pPr algn="l"/>
            <a:r>
              <a:rPr sz="1400" b="0">
                <a:solidFill>
                  <a:srgbClr val="1B2430"/>
                </a:solidFill>
                <a:latin typeface="Calibri"/>
              </a:rPr>
              <a:t>NCCL noto'g'ri interfeysni tanlaydi. Ikki tugunli ishga tushirishda Docker ko'prigi yoki VPN interfeysi tanlansa, tezlik 100 baravar pasayadi. NCCL_DEBUG=INFO bilan tekshiring,…</a:t>
            </a:r>
          </a:p>
        </p:txBody>
      </p:sp>
      <p:sp>
        <p:nvSpPr>
          <p:cNvPr id="17" name="Rounded Rectangle 16"/>
          <p:cNvSpPr/>
          <p:nvPr/>
        </p:nvSpPr>
        <p:spPr>
          <a:xfrm>
            <a:off x="550000" y="3835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835000"/>
            <a:ext cx="70000" cy="11475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417875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8</a:t>
            </a:r>
          </a:p>
        </p:txBody>
      </p:sp>
      <p:sp>
        <p:nvSpPr>
          <p:cNvPr id="20" name="TextBox 19"/>
          <p:cNvSpPr txBox="1"/>
          <p:nvPr/>
        </p:nvSpPr>
        <p:spPr>
          <a:xfrm>
            <a:off x="1450000" y="3835000"/>
            <a:ext cx="10050000" cy="1147500"/>
          </a:xfrm>
          <a:prstGeom prst="rect">
            <a:avLst/>
          </a:prstGeom>
          <a:noFill/>
        </p:spPr>
        <p:txBody>
          <a:bodyPr wrap="square" anchor="ctr" lIns="50800" rIns="50800">
            <a:spAutoFit/>
          </a:bodyPr>
          <a:lstStyle/>
          <a:p>
            <a:pPr algn="l"/>
            <a:r>
              <a:rPr sz="1400" b="0">
                <a:solidFill>
                  <a:srgbClr val="1B2430"/>
                </a:solidFill>
                <a:latin typeface="Calibri"/>
              </a:rPr>
              <a:t>Ma'lumotlar quvuri bottleneck. GPU bandligi past bo'lsa, num_workers ni oshiring, tasvirlarni oldindan o'lchamini o'zgartirib saqlang, NVIDIA DALI yoki FFCV kabi tezlatilgan yuklovchilarni…</a:t>
            </a:r>
          </a:p>
        </p:txBody>
      </p:sp>
      <p:sp>
        <p:nvSpPr>
          <p:cNvPr id="21" name="Rounded Rectangle 20"/>
          <p:cNvSpPr/>
          <p:nvPr/>
        </p:nvSpPr>
        <p:spPr>
          <a:xfrm>
            <a:off x="550000" y="5102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5102500"/>
            <a:ext cx="70000" cy="11475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544625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9</a:t>
            </a:r>
          </a:p>
        </p:txBody>
      </p:sp>
      <p:sp>
        <p:nvSpPr>
          <p:cNvPr id="24" name="TextBox 23"/>
          <p:cNvSpPr txBox="1"/>
          <p:nvPr/>
        </p:nvSpPr>
        <p:spPr>
          <a:xfrm>
            <a:off x="1450000" y="5102500"/>
            <a:ext cx="10050000" cy="1147500"/>
          </a:xfrm>
          <a:prstGeom prst="rect">
            <a:avLst/>
          </a:prstGeom>
          <a:noFill/>
        </p:spPr>
        <p:txBody>
          <a:bodyPr wrap="square" anchor="ctr" lIns="50800" rIns="50800">
            <a:spAutoFit/>
          </a:bodyPr>
          <a:lstStyle/>
          <a:p>
            <a:pPr algn="l"/>
            <a:r>
              <a:rPr sz="1400" b="0">
                <a:solidFill>
                  <a:srgbClr val="1B2430"/>
                </a:solidFill>
                <a:latin typeface="Calibri"/>
              </a:rPr>
              <a:t>Takrorlanuvchanlik. Har o'lchovni kamida 3 marta takrorlang, median qiymatni keltiring; GPU chastotasi va harorati (nvidia-smi -q -d CLOCK) o'lchovlar orasida farq qilishi mumkin.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LABORATORIYA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Virtual laboratoriya va kodlar</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A5 · Taqsimlangan sun'iy intellekt tizimlarini ishlab chiqish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45</a:t>
            </a:r>
          </a:p>
        </p:txBody>
      </p:sp>
      <p:pic>
        <p:nvPicPr>
          <p:cNvPr id="10" name="Picture 9" descr="image.png"/>
          <p:cNvPicPr>
            <a:picLocks noChangeAspect="1"/>
          </p:cNvPicPr>
          <p:nvPr/>
        </p:nvPicPr>
        <p:blipFill>
          <a:blip r:embed="rId2"/>
          <a:stretch>
            <a:fillRect/>
          </a:stretch>
        </p:blipFill>
        <p:spPr>
          <a:xfrm>
            <a:off x="8300000" y="1600000"/>
            <a:ext cx="3200000" cy="3200000"/>
          </a:xfrm>
          <a:prstGeom prst="rect">
            <a:avLst/>
          </a:prstGeom>
        </p:spPr>
      </p:pic>
      <p:sp>
        <p:nvSpPr>
          <p:cNvPr id="11" name="TextBox 10"/>
          <p:cNvSpPr txBox="1"/>
          <p:nvPr/>
        </p:nvSpPr>
        <p:spPr>
          <a:xfrm>
            <a:off x="600000" y="1500000"/>
            <a:ext cx="7400000" cy="4600000"/>
          </a:xfrm>
          <a:prstGeom prst="rect">
            <a:avLst/>
          </a:prstGeom>
          <a:noFill/>
        </p:spPr>
        <p:txBody>
          <a:bodyPr wrap="square" anchor="t" lIns="50800" rIns="50800">
            <a:spAutoFit/>
          </a:bodyPr>
          <a:lstStyle/>
          <a:p>
            <a:pPr algn="l"/>
            <a:r>
              <a:rPr sz="1900" b="0">
                <a:solidFill>
                  <a:srgbClr val="1B2430"/>
                </a:solidFill>
                <a:latin typeface="Calibri"/>
              </a:rPr>
              <a:t>Saytda bajarish: https://aiscan.airi.uz/ktm/ → Mavzular → A5 → 🧪 Virtual bajarish (7 bosqich)</a:t>
            </a:r>
          </a:p>
          <a:p>
            <a:pPr algn="l"/>
            <a:r>
              <a:rPr sz="1900" b="0">
                <a:solidFill>
                  <a:srgbClr val="1B2430"/>
                </a:solidFill>
                <a:latin typeface="Calibri"/>
              </a:rPr>
              <a:t>Kodlarni ko‘chirib olish — QR kod yoki:</a:t>
            </a:r>
          </a:p>
          <a:p>
            <a:pPr algn="l"/>
            <a:r>
              <a:rPr sz="1900" b="0">
                <a:solidFill>
                  <a:srgbClr val="1B2430"/>
                </a:solidFill>
                <a:latin typeface="Calibri"/>
              </a:rPr>
              <a:t>git clone https://github.com/sayka7/ktm_labs.git</a:t>
            </a:r>
          </a:p>
          <a:p>
            <a:pPr algn="l"/>
            <a:r>
              <a:rPr sz="1900" b="0">
                <a:solidFill>
                  <a:srgbClr val="1B2430"/>
                </a:solidFill>
                <a:latin typeface="Calibri"/>
              </a:rPr>
              <a:t>Mustaqil topshiriq: 20 variantdan o‘zingizniki (jurnal raqami bo‘yicha)</a:t>
            </a:r>
          </a:p>
          <a:p>
            <a:pPr algn="l"/>
            <a:r>
              <a:rPr sz="1900" b="0">
                <a:solidFill>
                  <a:srgbClr val="1B2430"/>
                </a:solidFill>
                <a:latin typeface="Calibri"/>
              </a:rPr>
              <a:t>Topshirish: saytdagi «📤 Topshirish va baho» — avtomatik tekshiruv</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35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1" grpId="0" animBg="1"/>
    </p:bldLst>
  </p:timing>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F6E80"/>
              </a:gs>
              <a:gs pos="100000">
                <a:srgbClr val="142845"/>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3900000"/>
            <a:ext cx="3600000" cy="3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0000" y="1900000"/>
            <a:ext cx="10800000" cy="1100000"/>
          </a:xfrm>
          <a:prstGeom prst="rect">
            <a:avLst/>
          </a:prstGeom>
          <a:noFill/>
        </p:spPr>
        <p:txBody>
          <a:bodyPr wrap="square" anchor="t" lIns="50800" rIns="50800">
            <a:spAutoFit/>
          </a:bodyPr>
          <a:lstStyle/>
          <a:p>
            <a:pPr algn="ctr"/>
            <a:r>
              <a:rPr sz="4400" b="1">
                <a:solidFill>
                  <a:srgbClr val="FFFFFF"/>
                </a:solidFill>
                <a:latin typeface="Calibri"/>
              </a:rPr>
              <a:t>E’tiboringiz uchun rahmat!</a:t>
            </a:r>
          </a:p>
        </p:txBody>
      </p:sp>
      <p:sp>
        <p:nvSpPr>
          <p:cNvPr id="5" name="TextBox 4"/>
          <p:cNvSpPr txBox="1"/>
          <p:nvPr/>
        </p:nvSpPr>
        <p:spPr>
          <a:xfrm>
            <a:off x="700000" y="3200000"/>
            <a:ext cx="10800000" cy="500000"/>
          </a:xfrm>
          <a:prstGeom prst="rect">
            <a:avLst/>
          </a:prstGeom>
          <a:noFill/>
        </p:spPr>
        <p:txBody>
          <a:bodyPr wrap="square" anchor="t" lIns="50800" rIns="50800">
            <a:spAutoFit/>
          </a:bodyPr>
          <a:lstStyle/>
          <a:p>
            <a:pPr algn="ctr"/>
            <a:r>
              <a:rPr sz="2600" b="1">
                <a:solidFill>
                  <a:srgbClr val="7FD6D7"/>
                </a:solidFill>
                <a:latin typeface="Calibri"/>
              </a:rPr>
              <a:t>Savollar?</a:t>
            </a:r>
          </a:p>
        </p:txBody>
      </p:sp>
      <p:sp>
        <p:nvSpPr>
          <p:cNvPr id="6" name="TextBox 5"/>
          <p:cNvSpPr txBox="1"/>
          <p:nvPr/>
        </p:nvSpPr>
        <p:spPr>
          <a:xfrm>
            <a:off x="1200000" y="4300000"/>
            <a:ext cx="9800000" cy="1200000"/>
          </a:xfrm>
          <a:prstGeom prst="rect">
            <a:avLst/>
          </a:prstGeom>
          <a:noFill/>
        </p:spPr>
        <p:txBody>
          <a:bodyPr wrap="square" anchor="t" lIns="50800" rIns="50800">
            <a:spAutoFit/>
          </a:bodyPr>
          <a:lstStyle/>
          <a:p>
            <a:pPr algn="ctr"/>
            <a:r>
              <a:rPr sz="1600" b="0">
                <a:solidFill>
                  <a:srgbClr val="D7E3F4"/>
                </a:solidFill>
                <a:latin typeface="Calibri"/>
              </a:rPr>
              <a:t>Mavzu matni va materiallar: https://aiscan.airi.uz/ktm/#/c/mis2104/mavzu/A5</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5"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50"/>
                            </p:stCondLst>
                            <p:childTnLst>
                              <p:par>
                                <p:cTn id="16" presetID="42" presetClass="entr" presetSubtype="0"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ppt_x</p:attrName>
                                        </p:attrNameLst>
                                      </p:cBhvr>
                                      <p:tavLst>
                                        <p:tav tm="0">
                                          <p:val>
                                            <p:strVal val="#ppt_x"/>
                                          </p:val>
                                        </p:tav>
                                        <p:tav tm="100000">
                                          <p:val>
                                            <p:strVal val="#ppt_x"/>
                                          </p:val>
                                        </p:tav>
                                      </p:tavLst>
                                    </p:anim>
                                    <p:anim calcmode="lin" valueType="num">
                                      <p:cBhvr additive="base">
                                        <p:cTn id="20" dur="550" fill="hold"/>
                                        <p:tgtEl>
                                          <p:spTgt spid="5"/>
                                        </p:tgtEl>
                                        <p:attrNameLst>
                                          <p:attrName>ppt_y</p:attrName>
                                        </p:attrNameLst>
                                      </p:cBhvr>
                                      <p:tavLst>
                                        <p:tav tm="0">
                                          <p:val>
                                            <p:strVal val="#ppt_y+.08"/>
                                          </p:val>
                                        </p:tav>
                                        <p:tav tm="100000">
                                          <p:val>
                                            <p:strVal val="#ppt_y"/>
                                          </p:val>
                                        </p:tav>
                                      </p:tavLst>
                                    </p:anim>
                                  </p:childTnLst>
                                </p:cTn>
                              </p:par>
                            </p:childTnLst>
                          </p:cTn>
                        </p:par>
                        <p:par>
                          <p:cTn id="21" fill="hold">
                            <p:stCondLst>
                              <p:cond delay="550"/>
                            </p:stCondLst>
                            <p:childTnLst>
                              <p:par>
                                <p:cTn id="22" presetID="10" presetClass="entr" presetSubtype="0"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5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
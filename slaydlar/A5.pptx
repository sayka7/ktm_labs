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chuqur o'rganish modellarining o'lchami va o'quv to'plamlarining hajmi bitta tezlatkich (accelerator) imkoniyatlaridan ancha oshib ketdi. Masalan, ImageNet-1k ustida ResNet-50 modelini 90 epoxa davomida bitta NVIDIA A100 GPU'da o'qitish taxminan 20–24 soat vaqt oladi; 8 ta GPU'li bitta DGX serverida esa bu vaqt 3 soat atrofiga tushadi, 256 GPU'li klasterda bir necha daqiqa ichida bajariladi. Katta til modellari (Large Language Models, LLM) uchun taqsimlangan o'qitish umuman muqobilsiz: 70 milliard parametrli modelning faqat og'irliklari FP16 aniqlikda 140 GB xotira talab qiladi, bu esa hatto 80 GB'li H100 ga ham sig'maydi. Shuning uchun taqsimlangan hisoblash bugun «qo'shimcha optimizatsiya» emas, balki sun'iy intellekt tizimlari muhandisining tayanch ko'nikmasidir.</a:t>
            </a:r>
          </a:p>
          <a:p/>
          <a:p>
            <a:r>
              <a:t>Sanoat kontekstida taqsimlangan AI tizimlari uchta asosiy ko'rinishda uchraydi. Birinchisi — taqsimlangan o'qitish (distributed training), bunda modelni o'qitish ishi ko'plab GPU'lar orasida bo'linadi va har bir qadamda gradientlar sinxronlashtiriladi. Ikkinchisi — parallel inferens (parallel inference), bunda bir xil model nusxalari ko'plab so'rovlarni bir vaqtda qayta ishlaydi yoki bitta katta model bir nechta qurilmaga bo'linadi. Uchinchisi — taqsimlangan ma'lumot tayyorlash (data preprocessing), bunda Ray Data yoki Spark kabi vositalar terabaytlab xom ma'lumotni parallel ravishda tozalaydi va tokenlaydi. Ushbu amaliy mashg'ulotda dastlabki ikkita ko'rinish bilan amaliy ishlaymiz.</a:t>
            </a:r>
          </a:p>
          <a:p/>
          <a:p>
            <a:r>
              <a:t>Taqsimlangan tizimni ishlab chiqishdagi asosiy muhandislik muammosi — hisoblash va kommunikatsiya o'rtasidagi muvozanat. Qancha ko'p GPU qo'shsak, har bir GPU'ga to'g'ri keladigan hisoblash ulushi kamayadi, lekin ular orasidagi gradient almashinuvi hajmi o'zgarmaydi yoki hatto o'sadi. Natijada ma'lum bir nuqtadan keyin qo'shimcha GPU'lar deyarli foyda bermaydi — bu Amdal qonunining (Amdahl's law) amaliy ko'rinishi. Shu sababli taqsimlangan tizim muhandisining vazifasi faqat «ishlashiga erishish» emas, balki masshtablash samaradorligini o'lchash va uni cheklovchi omilni (bottleneck) aniqlashdir. Mashg'ulot davomida aynan shu o'lchov madaniyatini shakllantiramiz: har bir konfiguratsiya uchun o'tkazuvchanlik, tezlashish (speedup) va samaradorlik koeffitsiyenti hisoblanadi va jadvalga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o'qitishda to'rtta asosiy parallellik turi farqlanadi. Ma'lumotlar parallelligi (data parallelism) — eng keng tarqalgan usul: modelning to'liq nusxasi har bir GPU'da saqlanadi, global mini-paket (batch) GPU'lar soniga teng bo'laklarga bo'linadi, har bir GPU o'z bo'lagida oldinga va orqaga o'tishni (forward/backward) hisoblaydi, so'ngra gradientlar barcha GPU'lar orasida o'rtachalashtiriladi. Model parallelligi (model parallelism) — model qatlamlari turli qurilmalarga joylashtiriladi; bu model bitta GPU xotirasiga sig'maganda zarur. Tensor parallelligi (tensor parallelism) — bitta katta matritsali ko'paytirish bir nechta GPU'ga ustunlar yoki satrlar bo'yicha bo'linadi (Megatron-LM yondashuvi). Quvur (pipeline) parallelligi — qatlamlar bosqichlarga guruhlanadi va mikro-paketlar konveyer tarzida o'tkaziladi (GPipe, PipeDream). Amaliyotda yirik tizimlarda bularning kombinatsiyasi — 3D parallellik qo'llaniladi.</a:t>
            </a:r>
          </a:p>
          <a:p/>
          <a:p>
            <a:r>
              <a:t>Ushbu mashg'ulotda asosiy e'tibor DDP'ga qaratiladi, chunki u eng ko'p qo'llaniladi va boshqa usullarni tushunish uchun poydevor bo'ladi. Fully Sharded Data Parallel (FSDP) haqida esa qo'shimcha topshiriqda so'z yuritiladi.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PyTorch'da taqsimlangan hisoblashning asosi — torch.distributed paketi. Unda har bir GPU uchun alohida operatsion tizim jarayoni (process) ishga tushiriladi, bu jarayonlar bitta jarayonlar guruhiga (process group) birlashtiriladi. Har bir jarayon ikki identifikatorga ega: rank — global tartib raqami (0 dan world_size - 1 gacha) va local_rank — ayni tugundagi tartib raqami (odatda GPU indeksi bilan bir xil). world_size — jami jarayonlar soni.</a:t>
            </a:r>
          </a:p>
          <a:p/>
          <a:p>
            <a:r>
              <a:t>Jarayonlar orasidagi xabar almashinuvi backend orqali amalga oshiriladi. GPU'lar uchun standart tanlov — NCCL (NVIDIA Collective Communications Library), u NVLink, PCIe va InfiniBand topologiyasini avtomatik aniqlab, kollektiv operatsiyalarni (all-reduce, all-gather, broadcast, reduce-scatter) eng samarali yo'l bilan bajaradi. CPU uchun Gloo backend ishlatiladi; MPI backend esa PyTorch'ni MPI kutubxonasi bilan qayta kompilyatsiya qilishni talab qiladi va asosan HPC klasterlarida uchraydi.</a:t>
            </a:r>
          </a:p>
          <a:p/>
          <a:p>
            <a:r>
              <a:t>DistributedDataParallel (DDP) o'rami (wrapper) quyidagicha ishlaydi: modelni o'rab olish paytida 0-rankdagi parametrlar barcha jarayonlarga broadcast qilinadi, shu bilan barcha nusxalar bir xil boshlang'ich holatga ega bo'ladi. Orqaga o'tish paytida har bir parametrning gradienti tayyor bo'lishi bilan u chelak (bucket, standart hajmi 25 MB) ga qo'shiladi; chelak to'lganda u uchun asinxron all-reduce boshlanadi. Shu tufayli kommunikatsiya orqaga o'tish hisoblashi bilan ustma-ust tushadi (overlap) — bu DDP'ning asosiy samaradorlik manbai. All-reduce tugaganda har bir jarayonda gradientlar o'rtacha qiymatga ega bo'ladi va optimizator qadami mahalliy, lekin bir xil natija bilan bajariladi.</a:t>
            </a:r>
          </a:p>
          <a:p/>
          <a:p>
            <a:r>
              <a:t>Muhim nuqta — ma'lumotlarni bo'lish. DistributedSampler har bir epoxada ma'lumotlar to'plamini world_size ta kesishmaydigan qismga bo'ladi va har bir jarayonga o'zining qismini beradi; epoxa boshida sampler.set_epoch(epoch) chaqirilmasa, barcha epoxalarda aralashtirish bir xil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All-reduce operatsiyasining samaradorligi butun tizim unumdorligini belgilaydi. Sodda yondashuvda barcha gradientlar bitta parametr-serverga yuboriladi, u yig'adi va qaytaradi: bunda server tarmoq o'tkazuvchanligi N ta ishchi uchun chiziqli o'sib boruvchi yuk oladi. Halqa all-reduce (ring all-reduce) algoritmi bu muammoni hal qiladi: N ta jarayon halqa bo'ylab joylashadi, gradient vektori N bo'lakka bo'linadi, N-1 ta reduce-scatter qadamida har bir bo'lak qo'shni orqali aylanib to'liq yig'indiga aylanadi, so'ngra N-1 ta all-gather qadamida natija barchaga tarqatiladi. Har bir jarayon jami 2  (N-1) / N  S bayt yuboradi, bu yerda S — gradientlarning umumiy hajmi. N katta bo'lganda bu 2S ga intiladi va ishchilar sonidan deyarli bog'liq bo'lmay qoladi. Masalan, ResNet-50 (25.6 mln parametr, FP32 da 102 MB) uchun 8 GPU'da har bir GPU qadam sayin ~179 MB yuboradi; NVLink'ning 600 GB/s (A100) o'tkazuvchanligida bu 0.3 ms'dan kam, 100 Gbit/s InfiniBand'da esa ~15 ms, 10 Gbit/s Ethernet'da ~150 ms — bu yerda tarmoq bottleneck'ga aylanadi.</a:t>
            </a:r>
          </a:p>
          <a:p/>
          <a:p>
            <a:r>
              <a:t>Kommunikatsiya narxini kamaytirishning amaliy usullari: gradient to'plash (gradient accumulation — bir necha mikro-paket uchun bitta all-reduce), aralash aniqlik (gradientlarni BF16 da yuborish hajmni ikki baravar kamaytiradi), gradient siqish (compression) va chelak hajmini sozlash (bucket_cap_mb).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tizimni baholashda quyidagi miqdorlar ishlatiladi. T(1) — bitta GPU'dagi bir epoxa (yoki belgilangan qadam soni) vaqti, T(N) — N GPU'dagi vaqt. Tezlashish S(N) = T(1) / T(N). Masshtablash samaradorligi E(N) = S(N) / N  100%. Ideal holda E = 100%; amaliyotda DDP uchun bitta tugun ichida 85–95%, tugunlar orasida 70–90% yaxshi natija hisoblanadi.</a:t>
            </a:r>
          </a:p>
          <a:p/>
          <a:p>
            <a:r>
              <a:t>Ikki rejimni farqlash shart. Kuchli masshtablash (strong scaling): global paket hajmi o'zgarmaydi, GPU qo'shilganda har biriga kamroq namuna tegadi; bu yerda GPU'lar «to'yinmay» qoladi va samaradorlik tez tushadi. Kuchsiz masshtablash (weak scaling): har bir GPU'dagi paket hajmi o'zgarmaydi, global paket N baravar o'sadi; bu o'qitishda odatiy rejim, lekin global paket juda kattalashsa, optimizatsiya sifati (aniqlik) pasayishi mumkin, shuning uchun o'rganish tezligi (learning rate) chiziqli masshtablash qoidasi bilan sozlanadi va dastlabki epoxalarda «isitish» (warmup)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 — Python uchun umumiy maqsadli taqsimlangan hisoblash freymvorki. Uning asosiy abstraksiyalari — masofaviy funksiyalar (@ray.remote tasks) va aktorlar (actors, holatli masofaviy obyektlar). Ray Train moduli PyTorch DDP'ni o'rab oladi: foydalanuvchi o'qitish funksiyasini yozadi, TorchTrainer esa ishchilarni klasterda joylashtirish, muhit o'zgaruvchilarini sozlash, nosozlikdan tiklash (fault tolerance) va nazorat nuqtalarini (checkpoint) saqlashni o'z zimmasiga oladi. Ray'ning ustunligi — o'qitish, giperparametr qidiruvi (Ray Tune), ma'lumot tayyorlash (Ray Data) va inferens xizmati (Ray Serve) bitta klaster va bitta API ostida birlashishi. Kamchiligi — qo'shimcha abstraksiya qatlami va bosh tugun (head node) talab qilinishi.</a:t>
            </a:r>
          </a:p>
          <a:p/>
          <a:p>
            <a:r>
              <a:t>MPI — 1990-yillardan beri HPC klasterlarida standart bo'lgan xabar almashinuv interfeysi. mpirun -np 8 python train.py buyrug'i 8 ta jarayonni ishga tushiradi, har biri MPI.COMM_WORLD.Get_rank() orqali o'z rankini bilib oladi. PyTorch bilan MPI ikki yo'l bilan birlashadi: torch.distributed ning MPI backend'i orqali yoki Horovod kutubxonasi orqali (Horovod MPI yoki Gloo ustida NCCL all-reduce'ni ishlatadi). MPI'ning afzalligi — Slurm kabi klaster menejerlari bilan mukammal integratsiya va InfiniBand'dagi puxta sozlangan kollektivlar; kamchiligi — Python ekotizimi bilan nisbatan qo'pol integratsiya va nosozlikka chidamlilikning yo'qligi (bitta jarayon tushsa, butun ish to'xtaydi).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bo'lim to'liq bajariladigan laboratoriya topshirig'idir. Topshiriq ikki qismdan iborat: (A) DDP bilan taqsimlangan o'qitish va masshtablash jadvalini to'ldirish; (B) taqsimlangan inferens o'tkazuvchanligini o'lchash. Qo'shimcha (C) qismida Ray Train bilan qayta amalga oshirish taklif qilinadi.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kamida 2 ta NVIDIA GPU'li bitta server (laboratoriyada 4 × RTX 3090 yoki 4 × A100 tavsiya etiladi). Agar bitta GPU bo'lsa, Gloo backend bilan CPU'da 2–4 jarayon ishlatib, mantiqni tekshirish mumkin (unumdorlik o'lchovlari bu holda ma'nosiz bo'ladi).</a:t>
            </a:r>
          </a:p>
          <a:p/>
          <a:p>
            <a:r>
              <a:t>Dasturiy ta'minot: Ubuntu 22.04, NVIDIA drayver 535+, CUDA 12.x, Python 3.10+, PyTorch 2.3+ (pip install torch torchvision), nvidia-smi ishlashi.</a:t>
            </a:r>
          </a:p>
          <a:p/>
          <a:p>
            <a:r>
              <a:t>Ma'lumotlar: CIFAR-10 (torchvision avtomatik yuklaydi, 170 MB). Vaqtni tejash uchun 10 000 ta tasvirdan iborat qismi ishlatiladi.</a:t>
            </a:r>
          </a:p>
          <a:p/>
          <a:p>
            <a:r>
              <a:t>Ikki tugunli variant uchun: ikkala server bir xil tarmoqda, bir xil PyTorch versiyasi, 29500-port ochiq.</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taqqoslash uchun asos (baseline) kerak. train_ddp.py skripti shunday yoziladiki, u torchrun siz oddiy Python skripti sifatida ham ishlaydi (world_size=1).</a:t>
            </a:r>
          </a:p>
          <a:p/>
          <a:p>
            <a:r>
              <a:t>Ishga tushirish:</a:t>
            </a:r>
          </a:p>
          <a:p/>
          <a:p>
            <a:r>
              <a:t>Nima bo'ldi va nega. Skript bitta jarayonda ishladi, world=1, DDP o'rami qo'llanilmadi. Chiqishda har epoxa uchun vaqt va img/s chiqdi. Birinchi epoxa odatda sekinroq bo'ladi (cuDNN avtomatik sozlash, ma'lumotlar keshi), shuning uchun o'lchov uchun 2- va 3-epoxa o'rtachasi olinadi. RTX 3090 da ResNet-18, paket 128 uchun taxminan 2 300–2 700 img/s kutiladi (taxminiy raqam). Bu qiymat jadvalda T(1)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torchrun har bir GPU uchun alohida jarayon yaratdi va RANK, LOCAL_RANK, WORLD_SIZE, MASTER_ADDR, MASTER_PORT muhit o'zgaruvchilarini o'rnatdi; skript ularni ko'rib NCCL guruhini boshladi. --standalone bayrog'i bitta tugun uchun rendezvous serverini avtomatik ko'taradi. Har bir GPU 128 tadan paket oladi, demak global paket 256 yoki 512 ga teng — bu kuchsiz masshtablash rejimi. Eng muhimi — DistributedSampler tufayli 10 000 tasvir GPU'lar orasida bo'lindi, shuning uchun epoxa vaqti deyarli N baravar qisqarishi kerak. Agar qisqarmasa, ko'pincha sabab DataLoader ishchilari (CPU) yoki disk tezligi bo'ladi: 4 GPU × 4 ishchi = 16 ta CPU jarayoni JPEG dekodlash bilan band bo'ladi.</a:t>
            </a:r>
          </a:p>
          <a:p/>
          <a:p>
            <a:r>
              <a:t>O'lchov vaqtida nvidia-smi dmon -s u buyrug'i bilan GPU bandligini kuzating: agar GPU-Util 60% dan past bo'lsa, bottleneck ma'lumotlar quvurida.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Jadvalda ncclKernel_AllReduce_ qatorlarining umumiy CUDA vaqti ko'rinadi. Uni T_step ga bo'lib kommunikatsiya ulushini topamiz. 4 × RTX 3090 (PCIe 4.0, NVLink yo'q) konfiguratsiyasida ResNet-18 uchun bu ulush odatda 8–15% ni tashkil qiladi; A100 NVLink'da 3–5% gacha tushadi. Agar ulush 30% dan oshsa — chelak hajmini oshirish yoki gradient to'plashni qo'llash kerak.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 serverda (masalan, 10.10.0.71 va 10.10.0.72) bir xil kod va muhit bo'lsa:</a:t>
            </a:r>
          </a:p>
          <a:p/>
          <a:p>
            <a:r>
              <a:t>Foydali muhit o'zgaruvchilari: NCCL_DEBUG=INFO (NCCL qaysi interfeys va algoritmni tanlaganini ko'rsatadi), NCCL_SOCKET_IFNAME=eth0 (to'g'ri tarmoq kartasini majburlash), NCCL_IB_DISABLE=1 (InfiniBand yo'q bo'lsa).</a:t>
            </a:r>
          </a:p>
          <a:p/>
          <a:p>
            <a:r>
              <a:t>Nima bo'ldi va nega. Endi world_size=4, lekin 2 ta GPU juftligi oddiy Ethernet orqali bog'langan. All-reduce'ning bir qismi tarmoq orqali o'tadi, shuning uchun samaradorlik sezilarli tushadi. 10 Gbit/s tarmoqda ResNet-18 (45 MB gradient) uchun qadam sayin ~70 ms kommunikatsiya qo'shiladi — bu hisoblash vaqtiga (~50 ms) yaqin, demak samaradorlik 50–60% gacha tushishi tabiiy. Bu natija «yomon» emas, u tarmoqning cheklovchi omil ekanini ko'rsatadi va hisobotda shunday talqin qilinishi kerak.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Inferensda gradient yo'q, demak qadam sayin all-reduce ham yo'q; yagona kommunikatsiya — oxirida natijalarni yig'ish. Shu sababli parallel inferens o'qitishga qaraganda ancha yaxshi masshtablanadi (90–98%). Lekin e'tibor bering: DistributedSampler ma'lumotlar soni world_size ga bo'linmasa, oxirgi namunalarni takrorlab to'ldiradi — aniqlik hisoblashda bu kichik xato beradi; ishlab chiqarishda indekslar bo'yicha deduplikatsiya qilinadi. Ikkinchi muhim kuzatuv: GPU'ni to'yintirish uchun paket 256 etarli, lekin so'rovlar bittadan keladigan onlayn xizmatda bunday paketlash mumkin emas — u holda dinamik paketlash (dynamic batching, Triton Inference Server) yoki Ray Serve replikalari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Kod hajmi qisqardi: prepare_model va prepare_data_loader DDP o'rami, qurilmaga ko'chirish va DistributedSamplerni avtomatik qo'shdi; ScalingConfig ishchilar sonini bildiradi; ikki tugunli klaster uchun kodni o'zgartirish shart emas — faqat ray start --head / ray start --address=... buyruqlari bilan klaster yig'iladi. Evaziga Ray'ning o'z jarayonlari xotira oladi va birinchi ishga tushish 10–20 soniya sekinroq.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 4 × RTX 3090 (PCIe 4.0, NVLink yo'q), ResNet-18, CIFAR-10, paket 128/GPU, BF16 autocast konfiguratsiyasi uchun taxminiy kutilgan qiymatlardir; talaba o'z o'lchovlarini aynan shu shaklda keltiradi.</a:t>
            </a:r>
          </a:p>
          <a:p/>
          <a:p>
            <a:r>
              <a:t>Jadvalda tezlashish S(N) = T(1)/T(N) epoxa vaqtlari bo'yicha (kuchsiz masshtablash rejimida img/s nisbati bilan bir xil ma'noni beradi) hisoblangan.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balldan past — qayta topshirish; 60–74 — qoniqarli; 75–89 — yaxshi; 90–100 — a'lo.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jadvaldagi raqamlar bir nechta muhim xulosaga olib keladi. 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 ResNet-18 kabi kichik model uchun kommunikatsiya ulushi nisbatan katta, chunki hisoblash juda tez; ResNet-50 yoki ViT-B kabi og'irroq modellarda hisoblash vaqti ortib, nisbiy kommunikatsiya ulushi kamayadi va samaradorlik aksincha yuqoriroq chiqadi — bu «kattaroq model yaxshiroq masshtablanadi» paradoksi.</a:t>
            </a:r>
          </a:p>
          <a:p/>
          <a:p>
            <a:r>
              <a:t>Ikkinchidan, tugunlararo konfiguratsiya 10 GbE tarmoqda samaradorlikni ikki baravar yo'qotadi. Bu natijadan «ko'p tugun foydasiz» degan xulosa chiqmaydi; to'g'ri xulosa — tarmoq o'tkazuvchanligi hisoblash tezligiga mos kelishi kerak. Sanoat klasterlarida har GPU uchun 200–400 Gbit/s InfiniBand yoki RoCE ajratiladi va NCCL GPUDirect RDMA orqali CPU'ni chetlab o'tadi. Agar tez tarmoq bo'lmasa, gradient to'plash (masalan, 4 mikro-paketdan keyin bitta all-reduce) kommunikatsiya chastotasini 4 baravar kamaytiradi va samaradorlikni 51% dan 75–80% gacha ko'tarishi mumkin — bu talabaning sinovdan o'tkazishi kerak bo'lgan takliflardan biri.</a:t>
            </a:r>
          </a:p>
          <a:p/>
          <a:p>
            <a:r>
              <a:t>Uchinchidan, parallel inferens deyarli ideal masshtablanadi, chunki jarayonlar o'rtasida qadam sayin sinxronizatsiya yo'q. Bu «noqulay parallel» (embarrassingly parallel) masala sinfiga kiradi. Biroq real xizmatda cheklov boshqa joyda — so'rovlarning kelishi notekis, paketlash kechikishni oshiradi va modelni har GPU'da nusxalash xotirani isrof qiladi. Shuning uchun inferens tizimlari o'lchovida img/s bilan birga p50/p99 kechikish ham keltirilishi shart.</a:t>
            </a:r>
          </a:p>
          <a:p/>
          <a:p>
            <a:r>
              <a:t>Cheklovlar va muqobillar: mashg'ulotda model bitta GPU'ga bemalol sig'adi, shuning uchun FSDP yoki tensor parallellik zaruriyati yuzaga kelmadi. Model 7B+ parametrga yetganda DDP ishlamay qoladi — har GPU'da to'liq nusxa saqlanmaydi — va FSDP (torch.distributed.fsdp.FullyShardedDataParallel) yoki DeepSpeed ZeRO-3 kerak bo'ladi; ular parametrlarni bo'lib saqlaydi, lekin har qatlam oldidan all-gather qilib, kommunikatsiyani 1.5 baravar oshiradi. Shuningdek, bu yerda sinxron SGD ishlatildi; asinxron usullar (parametr-server, mahalliy SGD) sekin ishchilarga chidamli, lekin yaqinlashish kafolati zaifroq.</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halqa all-reduce algoritmida har bir jarayon yuboradigan ma'lumot hajmi ishchilar sonidan deyarli bog'liq emas? Bu xususiyat qaysi sharoitda buziladi?</a:t>
            </a:r>
          </a:p>
          <a:p/>
          <a:p>
            <a:r>
              <a:t>ResNet-18 ga qaraganda ResNet-50 bir xil apparatda yuqoriroq masshtablash samaradorligi ko'rsatadi. Buni hisoblash/kommunikatsiya nisbati orqali tushuntiring va qaysi modelda aksincha bo'lishi mumkinligini ayting.</a:t>
            </a:r>
          </a:p>
          <a:p/>
          <a:p>
            <a:r>
              <a:t>Kuchli va kuchsiz masshtablash rejimlarida bir xil «4 GPU, 83% samaradorlik» natijasi turli ma'no beradi. Har bir rejimda bu raqam nimani anglatadi va qaysi biri o'qitish uchun muhimroq?</a:t>
            </a:r>
          </a:p>
          <a:p/>
          <a:p>
            <a:r>
              <a:t>Global paket 128 dan 2048 ga oshirilganda model aniqligi pasaydi. Sabablari nima va buni tuzatish uchun qanday choralar mavjud (kamida uchta)?</a:t>
            </a:r>
          </a:p>
          <a:p/>
          <a:p>
            <a:r>
              <a:t>DDP va FSDP orasida tanlov qilishda qaysi uchta omil hal qiluvchi? 13B parametrli modelni 8 × A100 80 GB da o'qitish uchun qaysi birini va nega tanlaysiz?</a:t>
            </a:r>
          </a:p>
          <a:p/>
          <a:p>
            <a:r>
              <a:t>Ikki tugunli konfiguratsiyada samaradorlik 51% chiqdi. Qo'shimcha apparat sotib olmasdan uni oshirish uchun qanday dasturiy choralarni qo'llaysiz va har birining salbiy tomoni nima?</a:t>
            </a:r>
          </a:p>
          <a:p/>
          <a:p>
            <a:r>
              <a:t>Parallel inferensda DistributedSampler ning to'ldirish (padding) xususiyati qanday xatoga olib kelishi mumkin? Ishlab chiqarish tizimida buni qanday hal qilasiz?</a:t>
            </a:r>
          </a:p>
          <a:p/>
          <a:p>
            <a:r>
              <a:t>Ray Train DDP'ga qaraganda qanday qo'shimcha qiymat beradi va qanday sharoitda bu qiymat qo'shimcha murakkablikni oqlamaydi?</a:t>
            </a:r>
          </a:p>
          <a:p/>
          <a:p>
            <a:r>
              <a:t>Nosozlikka chidamlilik nuqtai nazaridan sinxron DDP'ning tub zaifligi nima? Elastik o'qitish (torchrun --max_restarts) va checkpoint strategiyasi bu zaiflikni qanday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halqa all-reduce algoritmida har bir jarayon yuboradigan ma'lumot hajmi ishchilar sonidan deyarli bog'liq emas? Bu xususiyat qaysi sharoitda buziladi?</a:t>
            </a:r>
          </a:p>
          <a:p/>
          <a:p>
            <a:r>
              <a:t>ResNet-18 ga qaraganda ResNet-50 bir xil apparatda yuqoriroq masshtablash samaradorligi ko'rsatadi. Buni hisoblash/kommunikatsiya nisbati orqali tushuntiring va qaysi modelda aksincha bo'lishi mumkinligini ayting.</a:t>
            </a:r>
          </a:p>
          <a:p/>
          <a:p>
            <a:r>
              <a:t>Kuchli va kuchsiz masshtablash rejimlarida bir xil «4 GPU, 83% samaradorlik» natijasi turli ma'no beradi. Har bir rejimda bu raqam nimani anglatadi va qaysi biri o'qitish uchun muhimroq?</a:t>
            </a:r>
          </a:p>
          <a:p/>
          <a:p>
            <a:r>
              <a:t>Global paket 128 dan 2048 ga oshirilganda model aniqligi pasaydi. Sabablari nima va buni tuzatish uchun qanday choralar mavjud (kamida uchta)?</a:t>
            </a:r>
          </a:p>
          <a:p/>
          <a:p>
            <a:r>
              <a:t>DDP va FSDP orasida tanlov qilishda qaysi uchta omil hal qiluvchi? 13B parametrli modelni 8 × A100 80 GB da o'qitish uchun qaysi birini va nega tanlaysiz?</a:t>
            </a:r>
          </a:p>
          <a:p/>
          <a:p>
            <a:r>
              <a:t>Ikki tugunli konfiguratsiyada samaradorlik 51% chiqdi. Qo'shimcha apparat sotib olmasdan uni oshirish uchun qanday dasturiy choralarni qo'llaysiz va har birining salbiy tomoni nima?</a:t>
            </a:r>
          </a:p>
          <a:p/>
          <a:p>
            <a:r>
              <a:t>Parallel inferensda DistributedSampler ning to'ldirish (padding) xususiyati qanday xatoga olib kelishi mumkin? Ishlab chiqarish tizimida buni qanday hal qilasiz?</a:t>
            </a:r>
          </a:p>
          <a:p/>
          <a:p>
            <a:r>
              <a:t>Ray Train DDP'ga qaraganda qanday qo'shimcha qiymat beradi va qanday sharoitda bu qiymat qo'shimcha murakkablikni oqlamaydi?</a:t>
            </a:r>
          </a:p>
          <a:p/>
          <a:p>
            <a:r>
              <a:t>Nosozlikka chidamlilik nuqtai nazaridan sinxron DDP'ning tub zaifligi nima? Elastik o'qitish (torchrun --max_restarts) va checkpoint strategiyasi bu zaiflikni qanday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(majburiy). Mashg'ulotdagi tizimni ResNet-50 va ViT-B/16 (torchvision) modellari bilan takrorlang va uchta model uchun yagona masshtablash jadvalini tuzing. Gradient to'plash (accum_steps = 1, 2, 4) ning samaradorlikka ta'sirini o'lchang. Hisobotda «model o'lchami — samaradorlik» bog'liqligini grafikda ko'rsating va nazariy kutilma (hisoblash/kommunikatsiya nisbati) bilan solishtiring. Baholash: to'g'ri o'lchov va jadval — 40%, gradient to'plash tahlili — 30%, nazariy taqqoslash va xulosa — 30%.</a:t>
            </a:r>
          </a:p>
          <a:p/>
          <a:p>
            <a:r>
              <a:t>2-topshiriq (mustaqil ta'lim 4-topshiriq bilan bog'liq). Taqsimlangan o'qitish ishini Kubernetes klasterida PyTorch Training Operator (Kubeflow) yordamida PyTorchJob resursi sifatida tavsiflang: 1 master + 3 worker pod, har biriga 1 GPU, umumiy PVC'da ma'lumotlar. YAML manifestni yozing, ishga tushiring (yoki minikube'da CPU/Gloo rejimida simulyatsiya qiling) va podlar loglaridan masshtablash ko'rsatkichlarini yig'ing. Baholash: manifest to'g'ri va ishlaydi — 50%, loglar va o'lchov — 30%, Docker/K8s muhitidagi qo'shimcha xarajatlar tahlili — 20%.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(fan saytidagi «Virtual laboratoriya» bo'limi, CPU sandbox: 2 yadro, GPU va tarmoq yo'q). Har biri laboratoriya bosqichlari kodini o'zgartirish orqali bajariladi; to'liq matn, kutilgan natija va hisobot shakli laboratoriya sahifasida keltirilgan. Jami 100 ball: 3 oson × 5, 4 o'rta × 10, 3 qiyin × 15.</a:t>
            </a:r>
          </a:p>
          <a:p/>
          <a:p>
            <a:r>
              <a:t>Eslatma: topshiriqlar natijasi (jadval, grafik, qisqa xulosa) virtual laboratoriya muhitidan hisobotga ko'chiriladi; GPU klasteri talab qiladigan o'lchovlar bu bo'limga kiritilmagan.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7-bob (sohaga xos arxitekturalar va o'zaro bog'lanish tarmoqlari).</a:t>
            </a:r>
          </a:p>
          <a:p/>
          <a:p>
            <a:r>
              <a:t>[3] Amershi, S. va boshq. Machine Learning Engineering. MIT Press, 2025. — o'qitish infratuzilmasi va masshtablash bo'limlari.</a:t>
            </a:r>
          </a:p>
          <a:p/>
          <a:p>
            <a:r>
              <a:t>[5] Kirk, D. B., &amp; Hwu, W.-M. W. Programming Massively Parallel Processors. 4th Edition. Morgan Kaufmann, 2022. — 20-bob (klasterlarda dasturlash, MPI + CUDA).</a:t>
            </a:r>
          </a:p>
          <a:p/>
          <a:p>
            <a:r>
              <a:t>[6] NVIDIA Developer Portal — NCCL hujjatlari: https://developer.nvidia.com/nccl</a:t>
            </a:r>
          </a:p>
          <a:p/>
          <a:p>
            <a:r>
              <a:t>[7] PyTorch rasmiy hujjatlari — Distributed Data Parallel: https://pytorch.org/docs/stable/notes/ddp.html ; torchrun: https://pytorch.org/docs/stable/elastic/run.html ; FSDP: https://pytorch.org/docs/stable/fsdp.html</a:t>
            </a:r>
          </a:p>
          <a:p/>
          <a:p>
            <a:r>
              <a:t>[9] Kubernetes rasmiy hujjatlari: https://kubernetes.io ; Kubeflow Training Operator: https://www.kubeflow.org/docs/components/training/</a:t>
            </a:r>
          </a:p>
          <a:p/>
          <a:p>
            <a:r>
              <a:t>Li, S. va boshq. PyTorch Distributed: Experiences on Accelerating Data Parallel Training. Proceedings of the VLDB Endowment, 13(12), 2020. — DDP chelaklari va overlap mexanizmining asl tavsifi.</a:t>
            </a:r>
          </a:p>
          <a:p/>
          <a:p>
            <a:r>
              <a:t>Goyal, P. va boshq. Accurate, Large Minibatch SGD: Training ImageNet in 1 Hour. arXiv:1706.02677, 2017. — chiziqli LR masshtablash qoidasi va isitish.</a:t>
            </a:r>
          </a:p>
          <a:p/>
          <a:p>
            <a:r>
              <a:t>Ray rasmiy hujjatlari — Ray Train: https://docs.ray.io/en/latest/train/train.html</a:t>
            </a:r>
          </a:p>
          <a:p/>
          <a:p>
            <a:r>
              <a:t>Sergeev, A., &amp; Del Balso, M. Horovod: fast and easy distributed deep learning in TensorFlow. arXiv:1802.05799, 2018.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7-bob (sohaga xos arxitekturalar va o'zaro bog'lanish tarmoqlari).</a:t>
            </a:r>
          </a:p>
          <a:p/>
          <a:p>
            <a:r>
              <a:t>[3] Amershi, S. va boshq. Machine Learning Engineering. MIT Press, 2025. — o'qitish infratuzilmasi va masshtablash bo'limlari.</a:t>
            </a:r>
          </a:p>
          <a:p/>
          <a:p>
            <a:r>
              <a:t>[5] Kirk, D. B., &amp; Hwu, W.-M. W. Programming Massively Parallel Processors. 4th Edition. Morgan Kaufmann, 2022. — 20-bob (klasterlarda dasturlash, MPI + CUDA).</a:t>
            </a:r>
          </a:p>
          <a:p/>
          <a:p>
            <a:r>
              <a:t>[6] NVIDIA Developer Portal — NCCL hujjatlari: https://developer.nvidia.com/nccl</a:t>
            </a:r>
          </a:p>
          <a:p/>
          <a:p>
            <a:r>
              <a:t>[7] PyTorch rasmiy hujjatlari — Distributed Data Parallel: https://pytorch.org/docs/stable/notes/ddp.html ; torchrun: https://pytorch.org/docs/stable/elastic/run.html ; FSDP: https://pytorch.org/docs/stable/fsdp.html</a:t>
            </a:r>
          </a:p>
          <a:p/>
          <a:p>
            <a:r>
              <a:t>[9] Kubernetes rasmiy hujjatlari: https://kubernetes.io ; Kubeflow Training Operator: https://www.kubeflow.org/docs/components/training/</a:t>
            </a:r>
          </a:p>
          <a:p/>
          <a:p>
            <a:r>
              <a:t>Li, S. va boshq. PyTorch Distributed: Experiences on Accelerating Data Parallel Training. Proceedings of the VLDB Endowment, 13(12), 2020. — DDP chelaklari va overlap mexanizmining asl tavsifi.</a:t>
            </a:r>
          </a:p>
          <a:p/>
          <a:p>
            <a:r>
              <a:t>Goyal, P. va boshq. Accurate, Large Minibatch SGD: Training ImageNet in 1 Hour. arXiv:1706.02677, 2017. — chiziqli LR masshtablash qoidasi va isitish.</a:t>
            </a:r>
          </a:p>
          <a:p/>
          <a:p>
            <a:r>
              <a:t>Ray rasmiy hujjatlari — Ray Train: https://docs.ray.io/en/latest/train/train.html</a:t>
            </a:r>
          </a:p>
          <a:p/>
          <a:p>
            <a:r>
              <a:t>Sergeev, A., &amp; Del Balso, M. Horovod: fast and easy distributed deep learning in TensorFlow. arXiv:1802.05799, 2018.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LABORATORIYA ISHI · A5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Taqsimlangan sun'iy intellekt tizimlarini ishlab chiqish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Qo'shimcha topshiriqlar (10 ta)</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Ushbu amaliy mashg'ulotning maqsadi — magistrantlarda bitta hisoblash qurilmasi doirasidan chiqib, bir nechta GPU yoki bir nechta tugun (node) ustida ishlaydigan taqsimlangan sun'iy…</a:t>
            </a:r>
          </a:p>
          <a:p>
            <a:pPr>
              <a:spcAft>
                <a:spcPts val="900"/>
              </a:spcAft>
            </a:pPr>
            <a:r>
              <a:rPr sz="1600" b="1">
                <a:solidFill>
                  <a:srgbClr val="0F8B8D"/>
                </a:solidFill>
              </a:rPr>
              <a:t>▪  </a:t>
            </a:r>
            <a:r>
              <a:rPr sz="1600">
                <a:solidFill>
                  <a:srgbClr val="1B2430"/>
                </a:solidFill>
                <a:latin typeface="Calibri"/>
              </a:rPr>
              <a:t>PyTorch Distributed (torch.distributed) kutubxonasi va torchrun ishga tushirgichi yordamida ma'lumotlar parallelligi (Distributed Data Parallel, DDP) asosida ko'p GPU'li o'qitish skriptini…</a:t>
            </a:r>
          </a:p>
          <a:p>
            <a:pPr>
              <a:spcAft>
                <a:spcPts val="900"/>
              </a:spcAft>
            </a:pPr>
            <a:r>
              <a:rPr sz="1600" b="1">
                <a:solidFill>
                  <a:srgbClr val="0F8B8D"/>
                </a:solidFill>
              </a:rPr>
              <a:t>▪  </a:t>
            </a:r>
            <a:r>
              <a:rPr sz="1600">
                <a:solidFill>
                  <a:srgbClr val="1B2430"/>
                </a:solidFill>
                <a:latin typeface="Calibri"/>
              </a:rPr>
              <a:t>Ray va MPI (Message Passing Interface) yondashuvlarining DDP'dan farqini tushuntirish va berilgan masala uchun qaysi birini tanlashni asoslash.</a:t>
            </a:r>
          </a:p>
          <a:p>
            <a:pPr>
              <a:spcAft>
                <a:spcPts val="900"/>
              </a:spcAft>
            </a:pPr>
            <a:r>
              <a:rPr sz="1600" b="1">
                <a:solidFill>
                  <a:srgbClr val="0F8B8D"/>
                </a:solidFill>
              </a:rPr>
              <a:t>▪  </a:t>
            </a:r>
            <a:r>
              <a:rPr sz="1600">
                <a:solidFill>
                  <a:srgbClr val="1B2430"/>
                </a:solidFill>
                <a:latin typeface="Calibri"/>
              </a:rPr>
              <a:t>Kuchli va kuchsiz masshtablash (strong/weak scaling) tushunchalarini ajratish, masshtablash samaradorligi (scaling efficiency) koeffitsiyentini hisoblash va natijalarni jadval ko'rinishida…</a:t>
            </a:r>
          </a:p>
          <a:p>
            <a:pPr>
              <a:spcAft>
                <a:spcPts val="900"/>
              </a:spcAft>
            </a:pPr>
            <a:r>
              <a:rPr sz="1600" b="1">
                <a:solidFill>
                  <a:srgbClr val="0F8B8D"/>
                </a:solidFill>
              </a:rPr>
              <a:t>▪  </a:t>
            </a:r>
            <a:r>
              <a:rPr sz="1600">
                <a:solidFill>
                  <a:srgbClr val="1B2430"/>
                </a:solidFill>
                <a:latin typeface="Calibri"/>
              </a:rPr>
              <a:t>Taqsimlangan inferens (parallel inference) uchun ma'lumotlarni bo'lib yuborish (sharding) va natijalarni yig'ish (all-gather) sxemasini amalga oshirish, o'tkazuvchanlik (throughput) va…</a:t>
            </a:r>
          </a:p>
          <a:p>
            <a:pPr>
              <a:spcAft>
                <a:spcPts val="900"/>
              </a:spcAft>
            </a:pPr>
            <a:r>
              <a:rPr sz="1600" b="1">
                <a:solidFill>
                  <a:srgbClr val="0F8B8D"/>
                </a:solidFill>
              </a:rPr>
              <a:t>▪  </a:t>
            </a:r>
            <a:r>
              <a:rPr sz="1600">
                <a:solidFill>
                  <a:srgbClr val="1B2430"/>
                </a:solidFill>
                <a:latin typeface="Calibri"/>
              </a:rPr>
              <a:t>Kommunikatsiya xarajatlari, sinxronizatsiya nuqtalari va to'g'ri bo'lmagan konfiguratsiya tufayli yuzaga keladigan tipik muammolarni aniqlash va bartaraf etish.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TN3 (parallel va taqsimlangan hisoblash texnologiyalarini qo'llash), TN5 (AI tizimlarini bulutli va klasterli infratuzilmaga joylashtirish) va TN6 (unumdorlikni o'lchash,…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Zamonaviy chuqur o'rganish modellarining o'lchami va o'quv to'plamlarining hajmi bitta tezlatkich (accelerator) imkoniyatlaridan ancha oshib ketdi. Masalan, ImageNet-1k ustida ResNet-50 modelini 90 epoxa davomida bitta NVIDIA A100 GPU'da o'qitish taxminan…</a:t>
            </a:r>
          </a:p>
          <a:p>
            <a:pPr>
              <a:spcAft>
                <a:spcPts val="900"/>
              </a:spcAft>
            </a:pPr>
            <a:r>
              <a:rPr sz="1600" b="1">
                <a:solidFill>
                  <a:srgbClr val="0F8B8D"/>
                </a:solidFill>
              </a:rPr>
              <a:t>▪  </a:t>
            </a:r>
            <a:r>
              <a:rPr sz="1600">
                <a:solidFill>
                  <a:srgbClr val="1B2430"/>
                </a:solidFill>
                <a:latin typeface="Calibri"/>
              </a:rPr>
              <a:t>Sanoat kontekstida taqsimlangan AI tizimlari uchta asosiy ko'rinishda uchraydi. Birinchisi — taqsimlangan o'qitish (distributed training), bunda modelni o'qitish ishi ko'plab GPU'lar orasida bo'linadi va har bir qadamda gradientlar sinxronlashtiriladi.</a:t>
            </a:r>
          </a:p>
          <a:p>
            <a:pPr>
              <a:spcAft>
                <a:spcPts val="900"/>
              </a:spcAft>
            </a:pPr>
            <a:r>
              <a:rPr sz="1600" b="1">
                <a:solidFill>
                  <a:srgbClr val="0F8B8D"/>
                </a:solidFill>
              </a:rPr>
              <a:t>▪  </a:t>
            </a:r>
            <a:r>
              <a:rPr sz="1600">
                <a:solidFill>
                  <a:srgbClr val="1B2430"/>
                </a:solidFill>
                <a:latin typeface="Calibri"/>
              </a:rPr>
              <a:t>Taqsimlangan tizimni ishlab chiqishdagi asosiy muhandislik muammosi — hisoblash va kommunikatsiya o'rtasidagi muvozanat. Qancha ko'p GPU qo'shsak, har bir GPU'ga to'g'ri keladigan hisoblash ulushi kamayadi, lekin ular orasidagi gradient almashinuvi hajmi…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Parallellik turlari va ularning qo'llanish sohalari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Taqsimlangan o'qitishda to'rtta asosiy parallellik turi farqlanadi. Ma'lumotlar parallelligi (data parallelism) — eng keng tarqalgan usul: modelning to'liq nusxasi har bir GPU'da saqlanadi, global mini-paket (batch) GPU'lar soniga teng bo'laklarga bo'linadi,…</a:t>
            </a:r>
          </a:p>
          <a:p>
            <a:pPr>
              <a:spcAft>
                <a:spcPts val="900"/>
              </a:spcAft>
            </a:pPr>
            <a:r>
              <a:rPr sz="2000" b="1">
                <a:solidFill>
                  <a:srgbClr val="0F8B8D"/>
                </a:solidFill>
              </a:rPr>
              <a:t>▪  </a:t>
            </a:r>
            <a:r>
              <a:rPr sz="2000">
                <a:solidFill>
                  <a:srgbClr val="1B2430"/>
                </a:solidFill>
                <a:latin typeface="Calibri"/>
              </a:rPr>
              <a:t>Ushbu mashg'ulotda asosiy e'tibor DDP'ga qaratiladi, chunki u eng ko'p qo'llaniladi va boshqa usullarni tushunish uchun poydevor bo'ladi. Fully Sharded Data Parallel (FSDP) haqida esa qo'shimcha topshiriqda so'z yuritiladi.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Parallellik turlari va ularning qo'llanish sohalari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Parallellik turi</a:t>
                      </a:r>
                    </a:p>
                  </a:txBody>
                  <a:tcPr>
                    <a:solidFill>
                      <a:srgbClr val="2D5C8F"/>
                    </a:solidFill>
                  </a:tcPr>
                </a:tc>
                <a:tc>
                  <a:txBody>
                    <a:bodyPr/>
                    <a:lstStyle/>
                    <a:p>
                      <a:r>
                        <a:rPr sz="1200" b="1">
                          <a:solidFill>
                            <a:srgbClr val="FFFFFF"/>
                          </a:solidFill>
                          <a:latin typeface="Calibri"/>
                        </a:rPr>
                        <a:t>Nimani bo'ladi</a:t>
                      </a:r>
                    </a:p>
                  </a:txBody>
                  <a:tcPr>
                    <a:solidFill>
                      <a:srgbClr val="2D5C8F"/>
                    </a:solidFill>
                  </a:tcPr>
                </a:tc>
                <a:tc>
                  <a:txBody>
                    <a:bodyPr/>
                    <a:lstStyle/>
                    <a:p>
                      <a:r>
                        <a:rPr sz="1200" b="1">
                          <a:solidFill>
                            <a:srgbClr val="FFFFFF"/>
                          </a:solidFill>
                          <a:latin typeface="Calibri"/>
                        </a:rPr>
                        <a:t>Kommunikatsiya hajmi</a:t>
                      </a:r>
                    </a:p>
                  </a:txBody>
                  <a:tcPr>
                    <a:solidFill>
                      <a:srgbClr val="2D5C8F"/>
                    </a:solidFill>
                  </a:tcPr>
                </a:tc>
                <a:tc>
                  <a:txBody>
                    <a:bodyPr/>
                    <a:lstStyle/>
                    <a:p>
                      <a:r>
                        <a:rPr sz="1200" b="1">
                          <a:solidFill>
                            <a:srgbClr val="FFFFFF"/>
                          </a:solidFill>
                          <a:latin typeface="Calibri"/>
                        </a:rPr>
                        <a:t>Qachon tanlanadi</a:t>
                      </a:r>
                    </a:p>
                  </a:txBody>
                  <a:tcPr>
                    <a:solidFill>
                      <a:srgbClr val="2D5C8F"/>
                    </a:solidFill>
                  </a:tcPr>
                </a:tc>
              </a:tr>
              <a:tr h="520000">
                <a:tc>
                  <a:txBody>
                    <a:bodyPr/>
                    <a:lstStyle/>
                    <a:p>
                      <a:r>
                        <a:rPr sz="1200" b="0">
                          <a:solidFill>
                            <a:srgbClr val="1B2430"/>
                          </a:solidFill>
                          <a:latin typeface="Calibri"/>
                        </a:rPr>
                        <a:t>Ma'lumotlar (DDP)</a:t>
                      </a:r>
                    </a:p>
                  </a:txBody>
                  <a:tcPr>
                    <a:solidFill>
                      <a:srgbClr val="F1F4F8"/>
                    </a:solidFill>
                  </a:tcPr>
                </a:tc>
                <a:tc>
                  <a:txBody>
                    <a:bodyPr/>
                    <a:lstStyle/>
                    <a:p>
                      <a:r>
                        <a:rPr sz="1200" b="0">
                          <a:solidFill>
                            <a:srgbClr val="1B2430"/>
                          </a:solidFill>
                          <a:latin typeface="Calibri"/>
                        </a:rPr>
                        <a:t>Mini-paketni</a:t>
                      </a:r>
                    </a:p>
                  </a:txBody>
                  <a:tcPr>
                    <a:solidFill>
                      <a:srgbClr val="F1F4F8"/>
                    </a:solidFill>
                  </a:tcPr>
                </a:tc>
                <a:tc>
                  <a:txBody>
                    <a:bodyPr/>
                    <a:lstStyle/>
                    <a:p>
                      <a:r>
                        <a:rPr sz="1200" b="0">
                          <a:solidFill>
                            <a:srgbClr val="1B2430"/>
                          </a:solidFill>
                          <a:latin typeface="Calibri"/>
                        </a:rPr>
                        <a:t>Har qadamda barcha gradientlar (model o'lchamiga teng)</a:t>
                      </a:r>
                    </a:p>
                  </a:txBody>
                  <a:tcPr>
                    <a:solidFill>
                      <a:srgbClr val="F1F4F8"/>
                    </a:solidFill>
                  </a:tcPr>
                </a:tc>
                <a:tc>
                  <a:txBody>
                    <a:bodyPr/>
                    <a:lstStyle/>
                    <a:p>
                      <a:r>
                        <a:rPr sz="1200" b="0">
                          <a:solidFill>
                            <a:srgbClr val="1B2430"/>
                          </a:solidFill>
                          <a:latin typeface="Calibri"/>
                        </a:rPr>
                        <a:t>Model bitta GPU'ga sig'sa</a:t>
                      </a:r>
                    </a:p>
                  </a:txBody>
                  <a:tcPr>
                    <a:solidFill>
                      <a:srgbClr val="F1F4F8"/>
                    </a:solidFill>
                  </a:tcPr>
                </a:tc>
              </a:tr>
              <a:tr h="520000">
                <a:tc>
                  <a:txBody>
                    <a:bodyPr/>
                    <a:lstStyle/>
                    <a:p>
                      <a:r>
                        <a:rPr sz="1200" b="0">
                          <a:solidFill>
                            <a:srgbClr val="1B2430"/>
                          </a:solidFill>
                          <a:latin typeface="Calibri"/>
                        </a:rPr>
                        <a:t>FSDP / ZeRO</a:t>
                      </a:r>
                    </a:p>
                  </a:txBody>
                  <a:tcPr>
                    <a:solidFill>
                      <a:srgbClr val="FFFFFF"/>
                    </a:solidFill>
                  </a:tcPr>
                </a:tc>
                <a:tc>
                  <a:txBody>
                    <a:bodyPr/>
                    <a:lstStyle/>
                    <a:p>
                      <a:r>
                        <a:rPr sz="1200" b="0">
                          <a:solidFill>
                            <a:srgbClr val="1B2430"/>
                          </a:solidFill>
                          <a:latin typeface="Calibri"/>
                        </a:rPr>
                        <a:t>Parametrlar, gradientlar, optimizator holati</a:t>
                      </a:r>
                    </a:p>
                  </a:txBody>
                  <a:tcPr>
                    <a:solidFill>
                      <a:srgbClr val="FFFFFF"/>
                    </a:solidFill>
                  </a:tcPr>
                </a:tc>
                <a:tc>
                  <a:txBody>
                    <a:bodyPr/>
                    <a:lstStyle/>
                    <a:p>
                      <a:r>
                        <a:rPr sz="1200" b="0">
                          <a:solidFill>
                            <a:srgbClr val="1B2430"/>
                          </a:solidFill>
                          <a:latin typeface="Calibri"/>
                        </a:rPr>
                        <a:t>All-gather + reduce-scatter</a:t>
                      </a:r>
                    </a:p>
                  </a:txBody>
                  <a:tcPr>
                    <a:solidFill>
                      <a:srgbClr val="FFFFFF"/>
                    </a:solidFill>
                  </a:tcPr>
                </a:tc>
                <a:tc>
                  <a:txBody>
                    <a:bodyPr/>
                    <a:lstStyle/>
                    <a:p>
                      <a:r>
                        <a:rPr sz="1200" b="0">
                          <a:solidFill>
                            <a:srgbClr val="1B2430"/>
                          </a:solidFill>
                          <a:latin typeface="Calibri"/>
                        </a:rPr>
                        <a:t>Model sig'maydi, lekin bitta tugunda yoki tezkor tarmoq bor</a:t>
                      </a:r>
                    </a:p>
                  </a:txBody>
                  <a:tcPr>
                    <a:solidFill>
                      <a:srgbClr val="FFFFFF"/>
                    </a:solidFill>
                  </a:tcPr>
                </a:tc>
              </a:tr>
              <a:tr h="520000">
                <a:tc>
                  <a:txBody>
                    <a:bodyPr/>
                    <a:lstStyle/>
                    <a:p>
                      <a:r>
                        <a:rPr sz="1200" b="0">
                          <a:solidFill>
                            <a:srgbClr val="1B2430"/>
                          </a:solidFill>
                          <a:latin typeface="Calibri"/>
                        </a:rPr>
                        <a:t>Tensor</a:t>
                      </a:r>
                    </a:p>
                  </a:txBody>
                  <a:tcPr>
                    <a:solidFill>
                      <a:srgbClr val="F1F4F8"/>
                    </a:solidFill>
                  </a:tcPr>
                </a:tc>
                <a:tc>
                  <a:txBody>
                    <a:bodyPr/>
                    <a:lstStyle/>
                    <a:p>
                      <a:r>
                        <a:rPr sz="1200" b="0">
                          <a:solidFill>
                            <a:srgbClr val="1B2430"/>
                          </a:solidFill>
                          <a:latin typeface="Calibri"/>
                        </a:rPr>
                        <a:t>Bitta qatlam matritsasini</a:t>
                      </a:r>
                    </a:p>
                  </a:txBody>
                  <a:tcPr>
                    <a:solidFill>
                      <a:srgbClr val="F1F4F8"/>
                    </a:solidFill>
                  </a:tcPr>
                </a:tc>
                <a:tc>
                  <a:txBody>
                    <a:bodyPr/>
                    <a:lstStyle/>
                    <a:p>
                      <a:r>
                        <a:rPr sz="1200" b="0">
                          <a:solidFill>
                            <a:srgbClr val="1B2430"/>
                          </a:solidFill>
                          <a:latin typeface="Calibri"/>
                        </a:rPr>
                        <a:t>Har qatlamda aktivatsiyalar</a:t>
                      </a:r>
                    </a:p>
                  </a:txBody>
                  <a:tcPr>
                    <a:solidFill>
                      <a:srgbClr val="F1F4F8"/>
                    </a:solidFill>
                  </a:tcPr>
                </a:tc>
                <a:tc>
                  <a:txBody>
                    <a:bodyPr/>
                    <a:lstStyle/>
                    <a:p>
                      <a:r>
                        <a:rPr sz="1200" b="0">
                          <a:solidFill>
                            <a:srgbClr val="1B2430"/>
                          </a:solidFill>
                          <a:latin typeface="Calibri"/>
                        </a:rPr>
                        <a:t>Juda katta qatlamlar, NVLink bor</a:t>
                      </a:r>
                    </a:p>
                  </a:txBody>
                  <a:tcPr>
                    <a:solidFill>
                      <a:srgbClr val="F1F4F8"/>
                    </a:solidFill>
                  </a:tcPr>
                </a:tc>
              </a:tr>
              <a:tr h="520000">
                <a:tc>
                  <a:txBody>
                    <a:bodyPr/>
                    <a:lstStyle/>
                    <a:p>
                      <a:r>
                        <a:rPr sz="1200" b="0">
                          <a:solidFill>
                            <a:srgbClr val="1B2430"/>
                          </a:solidFill>
                          <a:latin typeface="Calibri"/>
                        </a:rPr>
                        <a:t>Pipeline</a:t>
                      </a:r>
                    </a:p>
                  </a:txBody>
                  <a:tcPr>
                    <a:solidFill>
                      <a:srgbClr val="FFFFFF"/>
                    </a:solidFill>
                  </a:tcPr>
                </a:tc>
                <a:tc>
                  <a:txBody>
                    <a:bodyPr/>
                    <a:lstStyle/>
                    <a:p>
                      <a:r>
                        <a:rPr sz="1200" b="0">
                          <a:solidFill>
                            <a:srgbClr val="1B2430"/>
                          </a:solidFill>
                          <a:latin typeface="Calibri"/>
                        </a:rPr>
                        <a:t>Qatlamlar bosqichlarini</a:t>
                      </a:r>
                    </a:p>
                  </a:txBody>
                  <a:tcPr>
                    <a:solidFill>
                      <a:srgbClr val="FFFFFF"/>
                    </a:solidFill>
                  </a:tcPr>
                </a:tc>
                <a:tc>
                  <a:txBody>
                    <a:bodyPr/>
                    <a:lstStyle/>
                    <a:p>
                      <a:r>
                        <a:rPr sz="1200" b="0">
                          <a:solidFill>
                            <a:srgbClr val="1B2430"/>
                          </a:solidFill>
                          <a:latin typeface="Calibri"/>
                        </a:rPr>
                        <a:t>Faqat bosqichlar chegarasida aktivatsiyalar</a:t>
                      </a:r>
                    </a:p>
                  </a:txBody>
                  <a:tcPr>
                    <a:solidFill>
                      <a:srgbClr val="FFFFFF"/>
                    </a:solidFill>
                  </a:tcPr>
                </a:tc>
                <a:tc>
                  <a:txBody>
                    <a:bodyPr/>
                    <a:lstStyle/>
                    <a:p>
                      <a:r>
                        <a:rPr sz="1200" b="0">
                          <a:solidFill>
                            <a:srgbClr val="1B2430"/>
                          </a:solidFill>
                          <a:latin typeface="Calibri"/>
                        </a:rPr>
                        <a:t>Ko'p tugun, sekin tarmoq</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PyTorch Distributed: jarayonlar guruhi, backend va DDP mexanizmi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PyTorch'da taqsimlangan hisoblashning asosi — torch.distributed paketi.</a:t>
            </a:r>
          </a:p>
          <a:p>
            <a:pPr>
              <a:spcAft>
                <a:spcPts val="900"/>
              </a:spcAft>
            </a:pPr>
            <a:r>
              <a:rPr sz="2000" b="1">
                <a:solidFill>
                  <a:srgbClr val="0F8B8D"/>
                </a:solidFill>
              </a:rPr>
              <a:t>▪  </a:t>
            </a:r>
            <a:r>
              <a:rPr sz="2000">
                <a:solidFill>
                  <a:srgbClr val="1B2430"/>
                </a:solidFill>
                <a:latin typeface="Calibri"/>
              </a:rPr>
              <a:t>Jarayonlar orasidagi xabar almashinuvi backend orqali amalga oshiriladi.</a:t>
            </a:r>
          </a:p>
          <a:p>
            <a:pPr>
              <a:spcAft>
                <a:spcPts val="900"/>
              </a:spcAft>
            </a:pPr>
            <a:r>
              <a:rPr sz="2000" b="1">
                <a:solidFill>
                  <a:srgbClr val="0F8B8D"/>
                </a:solidFill>
              </a:rPr>
              <a:t>▪  </a:t>
            </a:r>
            <a:r>
              <a:rPr sz="2000">
                <a:solidFill>
                  <a:srgbClr val="1B2430"/>
                </a:solidFill>
                <a:latin typeface="Calibri"/>
              </a:rPr>
              <a:t>DistributedDataParallel (DDP) o'rami (wrapper) quyidagicha ishlaydi: modelni o'rab olish paytida 0-rankdagi parametrlar barcha jarayonlarga broadcast qilinadi, shu bilan barcha nusxalar bir…</a:t>
            </a:r>
          </a:p>
          <a:p>
            <a:pPr>
              <a:spcAft>
                <a:spcPts val="900"/>
              </a:spcAft>
            </a:pPr>
            <a:r>
              <a:rPr sz="2000" b="1">
                <a:solidFill>
                  <a:srgbClr val="0F8B8D"/>
                </a:solidFill>
              </a:rPr>
              <a:t>▪  </a:t>
            </a:r>
            <a:r>
              <a:rPr sz="2000">
                <a:solidFill>
                  <a:srgbClr val="1B2430"/>
                </a:solidFill>
                <a:latin typeface="Calibri"/>
              </a:rPr>
              <a:t>Muhim nuqta — ma'lumotlarni bo'lish. DistributedSampler har bir epoxada ma'lumotlar to'plamini world_size ta kesishmaydigan qismga bo'ladi va har bir jarayonga o'zining qismini beradi;…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Ring All-Reduce va kommunikatsiya narxi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All-reduce operatsiyasining samaradorligi butun tizim unumdorligini belgilaydi. Sodda yondashuvda barcha gradientlar bitta parametr-serverga yuboriladi, u yig'adi va qaytaradi: bunda server tarmoq o'tkazuvchanligi N ta ishchi uchun chiziqli o'sib boruvchi yuk…</a:t>
            </a:r>
          </a:p>
          <a:p>
            <a:pPr>
              <a:spcAft>
                <a:spcPts val="900"/>
              </a:spcAft>
            </a:pPr>
            <a:r>
              <a:rPr sz="2000" b="1">
                <a:solidFill>
                  <a:srgbClr val="0F8B8D"/>
                </a:solidFill>
              </a:rPr>
              <a:t>▪  </a:t>
            </a:r>
            <a:r>
              <a:rPr sz="2000">
                <a:solidFill>
                  <a:srgbClr val="1B2430"/>
                </a:solidFill>
                <a:latin typeface="Calibri"/>
              </a:rPr>
              <a:t>Kommunikatsiya narxini kamaytirishning amaliy usullari: gradient to'plash (gradient accumulation — bir necha mikro-paket uchun bitta all-reduce), aralash aniqlik (gradientlarni BF16 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Masshtablash samaradorligi ko'rsatkichlari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Taqsimlangan tizimni baholashda quyidagi miqdorlar ishlatiladi. T(1) — bitta GPU'dagi bir epoxa (yoki belgilangan qadam soni) vaqti, T(N) — N GPU'dagi vaqt.</a:t>
            </a:r>
          </a:p>
          <a:p>
            <a:pPr>
              <a:spcAft>
                <a:spcPts val="900"/>
              </a:spcAft>
            </a:pPr>
            <a:r>
              <a:rPr sz="2000" b="1">
                <a:solidFill>
                  <a:srgbClr val="0F8B8D"/>
                </a:solidFill>
              </a:rPr>
              <a:t>▪  </a:t>
            </a:r>
            <a:r>
              <a:rPr sz="2000">
                <a:solidFill>
                  <a:srgbClr val="1B2430"/>
                </a:solidFill>
                <a:latin typeface="Calibri"/>
              </a:rPr>
              <a:t>Ikki rejimni farqlash shart. Kuchli masshtablash (strong scaling): global paket hajmi o'zgarmaydi, GPU qo'shilganda har biriga kamroq namuna tegadi; bu yerda GPU'lar «to'yinmay» qoladi va samaradorlik tez tushadi. Kuchsiz masshtablash (weak scaling): har bir…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Masshtablash samaradorligi ko'rsatkichlari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Formula</a:t>
                      </a:r>
                    </a:p>
                  </a:txBody>
                  <a:tcPr>
                    <a:solidFill>
                      <a:srgbClr val="2D5C8F"/>
                    </a:solidFill>
                  </a:tcPr>
                </a:tc>
                <a:tc>
                  <a:txBody>
                    <a:bodyPr/>
                    <a:lstStyle/>
                    <a:p>
                      <a:r>
                        <a:rPr sz="1200" b="1">
                          <a:solidFill>
                            <a:srgbClr val="FFFFFF"/>
                          </a:solidFill>
                          <a:latin typeface="Calibri"/>
                        </a:rPr>
                        <a:t>Izoh</a:t>
                      </a:r>
                    </a:p>
                  </a:txBody>
                  <a:tcPr>
                    <a:solidFill>
                      <a:srgbClr val="2D5C8F"/>
                    </a:solidFill>
                  </a:tcPr>
                </a:tc>
              </a:tr>
              <a:tr h="520000">
                <a:tc>
                  <a:txBody>
                    <a:bodyPr/>
                    <a:lstStyle/>
                    <a:p>
                      <a:r>
                        <a:rPr sz="1200" b="0">
                          <a:solidFill>
                            <a:srgbClr val="1B2430"/>
                          </a:solidFill>
                          <a:latin typeface="Calibri"/>
                        </a:rPr>
                        <a:t>O'tkazuvchanlik</a:t>
                      </a:r>
                    </a:p>
                  </a:txBody>
                  <a:tcPr>
                    <a:solidFill>
                      <a:srgbClr val="F1F4F8"/>
                    </a:solidFill>
                  </a:tcPr>
                </a:tc>
                <a:tc>
                  <a:txBody>
                    <a:bodyPr/>
                    <a:lstStyle/>
                    <a:p>
                      <a:r>
                        <a:rPr sz="1200" b="0">
                          <a:solidFill>
                            <a:srgbClr val="1B2430"/>
                          </a:solidFill>
                          <a:latin typeface="Calibri"/>
                        </a:rPr>
                        <a:t>img/s = N_samples / T</a:t>
                      </a:r>
                    </a:p>
                  </a:txBody>
                  <a:tcPr>
                    <a:solidFill>
                      <a:srgbClr val="F1F4F8"/>
                    </a:solidFill>
                  </a:tcPr>
                </a:tc>
                <a:tc>
                  <a:txBody>
                    <a:bodyPr/>
                    <a:lstStyle/>
                    <a:p>
                      <a:r>
                        <a:rPr sz="1200" b="0">
                          <a:solidFill>
                            <a:srgbClr val="1B2430"/>
                          </a:solidFill>
                          <a:latin typeface="Calibri"/>
                        </a:rPr>
                        <a:t>Eng intuitiv, kuchsiz masshtablashda chiziqli o'sishi kerak</a:t>
                      </a:r>
                    </a:p>
                  </a:txBody>
                  <a:tcPr>
                    <a:solidFill>
                      <a:srgbClr val="F1F4F8"/>
                    </a:solidFill>
                  </a:tcPr>
                </a:tc>
              </a:tr>
              <a:tr h="520000">
                <a:tc>
                  <a:txBody>
                    <a:bodyPr/>
                    <a:lstStyle/>
                    <a:p>
                      <a:r>
                        <a:rPr sz="1200" b="0">
                          <a:solidFill>
                            <a:srgbClr val="1B2430"/>
                          </a:solidFill>
                          <a:latin typeface="Calibri"/>
                        </a:rPr>
                        <a:t>Tezlashish</a:t>
                      </a:r>
                    </a:p>
                  </a:txBody>
                  <a:tcPr>
                    <a:solidFill>
                      <a:srgbClr val="FFFFFF"/>
                    </a:solidFill>
                  </a:tcPr>
                </a:tc>
                <a:tc>
                  <a:txBody>
                    <a:bodyPr/>
                    <a:lstStyle/>
                    <a:p>
                      <a:r>
                        <a:rPr sz="1200" b="0">
                          <a:solidFill>
                            <a:srgbClr val="1B2430"/>
                          </a:solidFill>
                          <a:latin typeface="Calibri"/>
                        </a:rPr>
                        <a:t>S(N) = T(1)/T(N)</a:t>
                      </a:r>
                    </a:p>
                  </a:txBody>
                  <a:tcPr>
                    <a:solidFill>
                      <a:srgbClr val="FFFFFF"/>
                    </a:solidFill>
                  </a:tcPr>
                </a:tc>
                <a:tc>
                  <a:txBody>
                    <a:bodyPr/>
                    <a:lstStyle/>
                    <a:p>
                      <a:r>
                        <a:rPr sz="1200" b="0">
                          <a:solidFill>
                            <a:srgbClr val="1B2430"/>
                          </a:solidFill>
                          <a:latin typeface="Calibri"/>
                        </a:rPr>
                        <a:t>Kuchli masshtablash uchun</a:t>
                      </a:r>
                    </a:p>
                  </a:txBody>
                  <a:tcPr>
                    <a:solidFill>
                      <a:srgbClr val="FFFFFF"/>
                    </a:solidFill>
                  </a:tcPr>
                </a:tc>
              </a:tr>
              <a:tr h="520000">
                <a:tc>
                  <a:txBody>
                    <a:bodyPr/>
                    <a:lstStyle/>
                    <a:p>
                      <a:r>
                        <a:rPr sz="1200" b="0">
                          <a:solidFill>
                            <a:srgbClr val="1B2430"/>
                          </a:solidFill>
                          <a:latin typeface="Calibri"/>
                        </a:rPr>
                        <a:t>Samaradorlik</a:t>
                      </a:r>
                    </a:p>
                  </a:txBody>
                  <a:tcPr>
                    <a:solidFill>
                      <a:srgbClr val="F1F4F8"/>
                    </a:solidFill>
                  </a:tcPr>
                </a:tc>
                <a:tc>
                  <a:txBody>
                    <a:bodyPr/>
                    <a:lstStyle/>
                    <a:p>
                      <a:r>
                        <a:rPr sz="1200" b="0">
                          <a:solidFill>
                            <a:srgbClr val="1B2430"/>
                          </a:solidFill>
                          <a:latin typeface="Calibri"/>
                        </a:rPr>
                        <a:t>E(N) = S(N)/N</a:t>
                      </a:r>
                    </a:p>
                  </a:txBody>
                  <a:tcPr>
                    <a:solidFill>
                      <a:srgbClr val="F1F4F8"/>
                    </a:solidFill>
                  </a:tcPr>
                </a:tc>
                <a:tc>
                  <a:txBody>
                    <a:bodyPr/>
                    <a:lstStyle/>
                    <a:p>
                      <a:r>
                        <a:rPr sz="1200" b="0">
                          <a:solidFill>
                            <a:srgbClr val="1B2430"/>
                          </a:solidFill>
                          <a:latin typeface="Calibri"/>
                        </a:rPr>
                        <a:t>100% ga yaqin — yaxshi</a:t>
                      </a:r>
                    </a:p>
                  </a:txBody>
                  <a:tcPr>
                    <a:solidFill>
                      <a:srgbClr val="F1F4F8"/>
                    </a:solidFill>
                  </a:tcPr>
                </a:tc>
              </a:tr>
              <a:tr h="520000">
                <a:tc>
                  <a:txBody>
                    <a:bodyPr/>
                    <a:lstStyle/>
                    <a:p>
                      <a:r>
                        <a:rPr sz="1200" b="0">
                          <a:solidFill>
                            <a:srgbClr val="1B2430"/>
                          </a:solidFill>
                          <a:latin typeface="Calibri"/>
                        </a:rPr>
                        <a:t>Kommunikatsiya ulushi</a:t>
                      </a:r>
                    </a:p>
                  </a:txBody>
                  <a:tcPr>
                    <a:solidFill>
                      <a:srgbClr val="FFFFFF"/>
                    </a:solidFill>
                  </a:tcPr>
                </a:tc>
                <a:tc>
                  <a:txBody>
                    <a:bodyPr/>
                    <a:lstStyle/>
                    <a:p>
                      <a:r>
                        <a:rPr sz="1200" b="0">
                          <a:solidFill>
                            <a:srgbClr val="1B2430"/>
                          </a:solidFill>
                          <a:latin typeface="Calibri"/>
                        </a:rPr>
                        <a:t>T_comm / T_step</a:t>
                      </a:r>
                    </a:p>
                  </a:txBody>
                  <a:tcPr>
                    <a:solidFill>
                      <a:srgbClr val="FFFFFF"/>
                    </a:solidFill>
                  </a:tcPr>
                </a:tc>
                <a:tc>
                  <a:txBody>
                    <a:bodyPr/>
                    <a:lstStyle/>
                    <a:p>
                      <a:r>
                        <a:rPr sz="1200" b="0">
                          <a:solidFill>
                            <a:srgbClr val="1B2430"/>
                          </a:solidFill>
                          <a:latin typeface="Calibri"/>
                        </a:rPr>
                        <a:t>Profiler (Nsight Systems, torch.profiler) orqali</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Ray va MPI: muqobil yondashuvlar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Ray — Python uchun umumiy maqsadli taqsimlangan hisoblash freymvorki. Uning asosiy abstraksiyalari — masofaviy funksiyalar (@ray.remote tasks) va aktorlar (actors, holatli masofaviy obyektlar).</a:t>
            </a:r>
          </a:p>
          <a:p>
            <a:pPr>
              <a:spcAft>
                <a:spcPts val="900"/>
              </a:spcAft>
            </a:pPr>
            <a:r>
              <a:rPr sz="2000" b="1">
                <a:solidFill>
                  <a:srgbClr val="0F8B8D"/>
                </a:solidFill>
              </a:rPr>
              <a:t>▪  </a:t>
            </a:r>
            <a:r>
              <a:rPr sz="2000">
                <a:solidFill>
                  <a:srgbClr val="1B2430"/>
                </a:solidFill>
                <a:latin typeface="Calibri"/>
              </a:rPr>
              <a:t>MPI — 1990-yillardan beri HPC klasterlarida standart bo'lgan xabar almashinuv interfeysi. mpirun -np 8 python train.py buyrug'i 8 ta jarayonni ishga tushiradi, har biri MPI.COMM_WORLD.Get_rank() orqali o'z rankini bilib oladi.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Ray va MPI: muqobil yondashuvlar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PyTorch DDP + torchrun</a:t>
                      </a:r>
                    </a:p>
                  </a:txBody>
                  <a:tcPr>
                    <a:solidFill>
                      <a:srgbClr val="2D5C8F"/>
                    </a:solidFill>
                  </a:tcPr>
                </a:tc>
                <a:tc>
                  <a:txBody>
                    <a:bodyPr/>
                    <a:lstStyle/>
                    <a:p>
                      <a:r>
                        <a:rPr sz="1400" b="1">
                          <a:solidFill>
                            <a:srgbClr val="FFFFFF"/>
                          </a:solidFill>
                          <a:latin typeface="Calibri"/>
                        </a:rPr>
                        <a:t>Ray Train</a:t>
                      </a:r>
                    </a:p>
                  </a:txBody>
                  <a:tcPr>
                    <a:solidFill>
                      <a:srgbClr val="2D5C8F"/>
                    </a:solidFill>
                  </a:tcPr>
                </a:tc>
                <a:tc>
                  <a:txBody>
                    <a:bodyPr/>
                    <a:lstStyle/>
                    <a:p>
                      <a:r>
                        <a:rPr sz="1400" b="1">
                          <a:solidFill>
                            <a:srgbClr val="FFFFFF"/>
                          </a:solidFill>
                          <a:latin typeface="Calibri"/>
                        </a:rPr>
                        <a:t>MPI / Horovod</a:t>
                      </a:r>
                    </a:p>
                  </a:txBody>
                  <a:tcPr>
                    <a:solidFill>
                      <a:srgbClr val="2D5C8F"/>
                    </a:solidFill>
                  </a:tcPr>
                </a:tc>
              </a:tr>
              <a:tr h="520000">
                <a:tc>
                  <a:txBody>
                    <a:bodyPr/>
                    <a:lstStyle/>
                    <a:p>
                      <a:r>
                        <a:rPr sz="1400" b="0">
                          <a:solidFill>
                            <a:srgbClr val="1B2430"/>
                          </a:solidFill>
                          <a:latin typeface="Calibri"/>
                        </a:rPr>
                        <a:t>Kirish osonligi</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Yuqori (Python-markazli)</a:t>
                      </a:r>
                    </a:p>
                  </a:txBody>
                  <a:tcPr>
                    <a:solidFill>
                      <a:srgbClr val="F1F4F8"/>
                    </a:solidFill>
                  </a:tcPr>
                </a:tc>
                <a:tc>
                  <a:txBody>
                    <a:bodyPr/>
                    <a:lstStyle/>
                    <a:p>
                      <a:r>
                        <a:rPr sz="1400" b="0">
                          <a:solidFill>
                            <a:srgbClr val="1B2430"/>
                          </a:solidFill>
                          <a:latin typeface="Calibri"/>
                        </a:rPr>
                        <a:t>Past (HPC bilimi kerak)</a:t>
                      </a:r>
                    </a:p>
                  </a:txBody>
                  <a:tcPr>
                    <a:solidFill>
                      <a:srgbClr val="F1F4F8"/>
                    </a:solidFill>
                  </a:tcPr>
                </a:tc>
              </a:tr>
              <a:tr h="520000">
                <a:tc>
                  <a:txBody>
                    <a:bodyPr/>
                    <a:lstStyle/>
                    <a:p>
                      <a:r>
                        <a:rPr sz="1400" b="0">
                          <a:solidFill>
                            <a:srgbClr val="1B2430"/>
                          </a:solidFill>
                          <a:latin typeface="Calibri"/>
                        </a:rPr>
                        <a:t>Nosozlikdan tiklash</a:t>
                      </a:r>
                    </a:p>
                  </a:txBody>
                  <a:tcPr>
                    <a:solidFill>
                      <a:srgbClr val="FFFFFF"/>
                    </a:solidFill>
                  </a:tcPr>
                </a:tc>
                <a:tc>
                  <a:txBody>
                    <a:bodyPr/>
                    <a:lstStyle/>
                    <a:p>
                      <a:r>
                        <a:rPr sz="1400" b="0">
                          <a:solidFill>
                            <a:srgbClr val="1B2430"/>
                          </a:solidFill>
                          <a:latin typeface="Calibri"/>
                        </a:rPr>
                        <a:t>Elastik rejimda qisman</a:t>
                      </a:r>
                    </a:p>
                  </a:txBody>
                  <a:tcPr>
                    <a:solidFill>
                      <a:srgbClr val="FFFFFF"/>
                    </a:solidFill>
                  </a:tcPr>
                </a:tc>
                <a:tc>
                  <a:txBody>
                    <a:bodyPr/>
                    <a:lstStyle/>
                    <a:p>
                      <a:r>
                        <a:rPr sz="1400" b="0">
                          <a:solidFill>
                            <a:srgbClr val="1B2430"/>
                          </a:solidFill>
                          <a:latin typeface="Calibri"/>
                        </a:rPr>
                        <a:t>Avtomatik, checkpointdan</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Klaster menejeri</a:t>
                      </a:r>
                    </a:p>
                  </a:txBody>
                  <a:tcPr>
                    <a:solidFill>
                      <a:srgbClr val="F1F4F8"/>
                    </a:solidFill>
                  </a:tcPr>
                </a:tc>
                <a:tc>
                  <a:txBody>
                    <a:bodyPr/>
                    <a:lstStyle/>
                    <a:p>
                      <a:r>
                        <a:rPr sz="1400" b="0">
                          <a:solidFill>
                            <a:srgbClr val="1B2430"/>
                          </a:solidFill>
                          <a:latin typeface="Calibri"/>
                        </a:rPr>
                        <a:t>Slurm, Kubernetes, qo'lda</a:t>
                      </a:r>
                    </a:p>
                  </a:txBody>
                  <a:tcPr>
                    <a:solidFill>
                      <a:srgbClr val="F1F4F8"/>
                    </a:solidFill>
                  </a:tcPr>
                </a:tc>
                <a:tc>
                  <a:txBody>
                    <a:bodyPr/>
                    <a:lstStyle/>
                    <a:p>
                      <a:r>
                        <a:rPr sz="1400" b="0">
                          <a:solidFill>
                            <a:srgbClr val="1B2430"/>
                          </a:solidFill>
                          <a:latin typeface="Calibri"/>
                        </a:rPr>
                        <a:t>Ray klaster (K8s operator bor)</a:t>
                      </a:r>
                    </a:p>
                  </a:txBody>
                  <a:tcPr>
                    <a:solidFill>
                      <a:srgbClr val="F1F4F8"/>
                    </a:solidFill>
                  </a:tcPr>
                </a:tc>
                <a:tc>
                  <a:txBody>
                    <a:bodyPr/>
                    <a:lstStyle/>
                    <a:p>
                      <a:r>
                        <a:rPr sz="1400" b="0">
                          <a:solidFill>
                            <a:srgbClr val="1B2430"/>
                          </a:solidFill>
                          <a:latin typeface="Calibri"/>
                        </a:rPr>
                        <a:t>Slurm, PBS</a:t>
                      </a:r>
                    </a:p>
                  </a:txBody>
                  <a:tcPr>
                    <a:solidFill>
                      <a:srgbClr val="F1F4F8"/>
                    </a:solidFill>
                  </a:tcPr>
                </a:tc>
              </a:tr>
              <a:tr h="520000">
                <a:tc>
                  <a:txBody>
                    <a:bodyPr/>
                    <a:lstStyle/>
                    <a:p>
                      <a:r>
                        <a:rPr sz="1400" b="0">
                          <a:solidFill>
                            <a:srgbClr val="1B2430"/>
                          </a:solidFill>
                          <a:latin typeface="Calibri"/>
                        </a:rPr>
                        <a:t>Inferens xizmati</a:t>
                      </a:r>
                    </a:p>
                  </a:txBody>
                  <a:tcPr>
                    <a:solidFill>
                      <a:srgbClr val="FFFFFF"/>
                    </a:solidFill>
                  </a:tcPr>
                </a:tc>
                <a:tc>
                  <a:txBody>
                    <a:bodyPr/>
                    <a:lstStyle/>
                    <a:p>
                      <a:r>
                        <a:rPr sz="1400" b="0">
                          <a:solidFill>
                            <a:srgbClr val="1B2430"/>
                          </a:solidFill>
                          <a:latin typeface="Calibri"/>
                        </a:rPr>
                        <a:t>Alohida (TorchServe, Triton)</a:t>
                      </a:r>
                    </a:p>
                  </a:txBody>
                  <a:tcPr>
                    <a:solidFill>
                      <a:srgbClr val="FFFFFF"/>
                    </a:solidFill>
                  </a:tcPr>
                </a:tc>
                <a:tc>
                  <a:txBody>
                    <a:bodyPr/>
                    <a:lstStyle/>
                    <a:p>
                      <a:r>
                        <a:rPr sz="1400" b="0">
                          <a:solidFill>
                            <a:srgbClr val="1B2430"/>
                          </a:solidFill>
                          <a:latin typeface="Calibri"/>
                        </a:rPr>
                        <a:t>Ray Serve o'rnatilgan</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Odatiy soha</a:t>
                      </a:r>
                    </a:p>
                  </a:txBody>
                  <a:tcPr>
                    <a:solidFill>
                      <a:srgbClr val="F1F4F8"/>
                    </a:solidFill>
                  </a:tcPr>
                </a:tc>
                <a:tc>
                  <a:txBody>
                    <a:bodyPr/>
                    <a:lstStyle/>
                    <a:p>
                      <a:r>
                        <a:rPr sz="1400" b="0">
                          <a:solidFill>
                            <a:srgbClr val="1B2430"/>
                          </a:solidFill>
                          <a:latin typeface="Calibri"/>
                        </a:rPr>
                        <a:t>Tadqiqot, ishlab chiqarish</a:t>
                      </a:r>
                    </a:p>
                  </a:txBody>
                  <a:tcPr>
                    <a:solidFill>
                      <a:srgbClr val="F1F4F8"/>
                    </a:solidFill>
                  </a:tcPr>
                </a:tc>
                <a:tc>
                  <a:txBody>
                    <a:bodyPr/>
                    <a:lstStyle/>
                    <a:p>
                      <a:r>
                        <a:rPr sz="1400" b="0">
                          <a:solidFill>
                            <a:srgbClr val="1B2430"/>
                          </a:solidFill>
                          <a:latin typeface="Calibri"/>
                        </a:rPr>
                        <a:t>Ishlab chiqarish ML platformalari</a:t>
                      </a:r>
                    </a:p>
                  </a:txBody>
                  <a:tcPr>
                    <a:solidFill>
                      <a:srgbClr val="F1F4F8"/>
                    </a:solidFill>
                  </a:tcPr>
                </a:tc>
                <a:tc>
                  <a:txBody>
                    <a:bodyPr/>
                    <a:lstStyle/>
                    <a:p>
                      <a:r>
                        <a:rPr sz="1400" b="0">
                          <a:solidFill>
                            <a:srgbClr val="1B2430"/>
                          </a:solidFill>
                          <a:latin typeface="Calibri"/>
                        </a:rPr>
                        <a:t>Superkompyuterlar</a:t>
                      </a:r>
                    </a:p>
                  </a:txBody>
                  <a:tcPr>
                    <a:solidFill>
                      <a:srgbClr val="F1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Ushbu bo'lim to'liq bajariladigan laboratoriya topshirig'idir. Topshiriq ikki qismdan iborat: (A) DDP bilan taqsimlangan o'qitish va masshtablash jadvalini to'ldirish; (B) taqsimlangan inferens o'tkazuvchanligini o'lchash.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Apparat: kamida 2 ta NVIDIA GPU'li bitta server (laboratoriyada 4 × RTX 3090 yoki 4 × A100 tavsiya etiladi). Agar bitta GPU bo'lsa, Gloo backend bilan CPU'da 2–4 jarayon ishlatib, mantiqni…</a:t>
            </a:r>
          </a:p>
          <a:p>
            <a:pPr>
              <a:spcAft>
                <a:spcPts val="900"/>
              </a:spcAft>
            </a:pPr>
            <a:r>
              <a:rPr sz="1800" b="1">
                <a:solidFill>
                  <a:srgbClr val="0F8B8D"/>
                </a:solidFill>
              </a:rPr>
              <a:t>▪  </a:t>
            </a:r>
            <a:r>
              <a:rPr sz="1800">
                <a:solidFill>
                  <a:srgbClr val="1B2430"/>
                </a:solidFill>
                <a:latin typeface="Calibri"/>
              </a:rPr>
              <a:t>Dasturiy ta'minot: Ubuntu 22.04, NVIDIA drayver 535+, CUDA 12.x, Python 3.10+, PyTorch 2.3+ (pip install torch torchvision), nvidia-smi ishlashi.</a:t>
            </a:r>
          </a:p>
          <a:p>
            <a:pPr>
              <a:spcAft>
                <a:spcPts val="900"/>
              </a:spcAft>
            </a:pPr>
            <a:r>
              <a:rPr sz="1800" b="1">
                <a:solidFill>
                  <a:srgbClr val="0F8B8D"/>
                </a:solidFill>
              </a:rPr>
              <a:t>▪  </a:t>
            </a:r>
            <a:r>
              <a:rPr sz="1800">
                <a:solidFill>
                  <a:srgbClr val="1B2430"/>
                </a:solidFill>
                <a:latin typeface="Calibri"/>
              </a:rPr>
              <a:t>Ma'lumotlar: CIFAR-10 (torchvision avtomatik yuklaydi, 170 MB). Vaqtni tejash uchun 10 000 ta tasvirdan iborat qismi ishlatiladi.</a:t>
            </a:r>
          </a:p>
          <a:p>
            <a:pPr>
              <a:spcAft>
                <a:spcPts val="900"/>
              </a:spcAft>
            </a:pPr>
            <a:r>
              <a:rPr sz="1800" b="1">
                <a:solidFill>
                  <a:srgbClr val="0F8B8D"/>
                </a:solidFill>
              </a:rPr>
              <a:t>▪  </a:t>
            </a:r>
            <a:r>
              <a:rPr sz="1800">
                <a:solidFill>
                  <a:srgbClr val="1B2430"/>
                </a:solidFill>
                <a:latin typeface="Calibri"/>
              </a:rPr>
              <a:t>Ikki tugunli variant uchun: ikkala server bir xil tarmoqda, bir xil PyTorch versiyasi, 29500-port ochiq.</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Avval taqqoslash uchun asos (baseline) kerak. train_ddp.py skripti shunday yoziladiki, u torchrun siz oddiy Python skripti sifatida ham ishlaydi (world_size=1).</a:t>
            </a:r>
          </a:p>
          <a:p>
            <a:pPr>
              <a:spcAft>
                <a:spcPts val="900"/>
              </a:spcAft>
            </a:pPr>
            <a:r>
              <a:rPr sz="2000" b="1">
                <a:solidFill>
                  <a:srgbClr val="0F8B8D"/>
                </a:solidFill>
              </a:rPr>
              <a:t>▪  </a:t>
            </a:r>
            <a:r>
              <a:rPr sz="2000">
                <a:solidFill>
                  <a:srgbClr val="1B2430"/>
                </a:solidFill>
                <a:latin typeface="Calibri"/>
              </a:rPr>
              <a:t>Ishga tushirish:</a:t>
            </a:r>
          </a:p>
          <a:p>
            <a:pPr>
              <a:spcAft>
                <a:spcPts val="900"/>
              </a:spcAft>
            </a:pPr>
            <a:r>
              <a:rPr sz="2000" b="1">
                <a:solidFill>
                  <a:srgbClr val="0F8B8D"/>
                </a:solidFill>
              </a:rPr>
              <a:t>▪  </a:t>
            </a:r>
            <a:r>
              <a:rPr sz="2000">
                <a:solidFill>
                  <a:srgbClr val="1B2430"/>
                </a:solidFill>
                <a:latin typeface="Calibri"/>
              </a:rPr>
              <a:t>Nima bo'ldi va nega. Skript bitta jarayonda ishladi, world=1, DDP o'rami qo'llanilmadi. Chiqishda har epoxa uchun vaqt va img/s chiqdi.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train_ddp.py</a:t>
            </a:r>
          </a:p>
          <a:p>
            <a:r>
              <a:rPr sz="1200">
                <a:solidFill>
                  <a:srgbClr val="E2E8F0"/>
                </a:solidFill>
                <a:latin typeface="Consolas"/>
              </a:rPr>
              <a:t>import os, time, argparse, json</a:t>
            </a:r>
          </a:p>
          <a:p>
            <a:r>
              <a:rPr sz="1200">
                <a:solidFill>
                  <a:srgbClr val="E2E8F0"/>
                </a:solidFill>
                <a:latin typeface="Consolas"/>
              </a:rPr>
              <a:t>import torch, torch.nn as nn, torch.distributed as dist</a:t>
            </a:r>
          </a:p>
          <a:p>
            <a:r>
              <a:rPr sz="1200">
                <a:solidFill>
                  <a:srgbClr val="E2E8F0"/>
                </a:solidFill>
                <a:latin typeface="Consolas"/>
              </a:rPr>
              <a:t>import torchvision, torchvision.transforms as T</a:t>
            </a:r>
          </a:p>
          <a:p>
            <a:r>
              <a:rPr sz="1200">
                <a:solidFill>
                  <a:srgbClr val="E2E8F0"/>
                </a:solidFill>
                <a:latin typeface="Consolas"/>
              </a:rPr>
              <a:t>from torch.utils.data import DataLoader, Subset</a:t>
            </a:r>
          </a:p>
          <a:p>
            <a:r>
              <a:rPr sz="1200">
                <a:solidFill>
                  <a:srgbClr val="E2E8F0"/>
                </a:solidFill>
                <a:latin typeface="Consolas"/>
              </a:rPr>
              <a:t>from torch.utils.data.distributed import DistributedSampler</a:t>
            </a:r>
          </a:p>
          <a:p>
            <a:r>
              <a:rPr sz="1200">
                <a:solidFill>
                  <a:srgbClr val="E2E8F0"/>
                </a:solidFill>
                <a:latin typeface="Consolas"/>
              </a:rPr>
              <a:t>from torch.nn.parallel import DistributedDataParallel as DDP</a:t>
            </a:r>
          </a:p>
          <a:p>
            <a:r>
              <a:rPr sz="1200">
                <a:solidFill>
                  <a:srgbClr val="E2E8F0"/>
                </a:solidFill>
                <a:latin typeface="Consolas"/>
              </a:rPr>
              <a:t> </a:t>
            </a:r>
          </a:p>
          <a:p>
            <a:r>
              <a:rPr sz="1200">
                <a:solidFill>
                  <a:srgbClr val="E2E8F0"/>
                </a:solidFill>
                <a:latin typeface="Consolas"/>
              </a:rPr>
              <a:t>def setup():</a:t>
            </a:r>
          </a:p>
          <a:p>
            <a:r>
              <a:rPr sz="1200">
                <a:solidFill>
                  <a:srgbClr val="E2E8F0"/>
                </a:solidFill>
                <a:latin typeface="Consolas"/>
              </a:rPr>
              <a:t>    if "RANK" in os.environ:                     # torchrun orqali ishga tushgan</a:t>
            </a:r>
          </a:p>
          <a:p>
            <a:r>
              <a:rPr sz="1200">
                <a:solidFill>
                  <a:srgbClr val="E2E8F0"/>
                </a:solidFill>
                <a:latin typeface="Consolas"/>
              </a:rPr>
              <a:t>        dist.init_process_group(backend="nccl")</a:t>
            </a:r>
          </a:p>
          <a:p>
            <a:r>
              <a:rPr sz="1200">
                <a:solidFill>
                  <a:srgbClr val="E2E8F0"/>
                </a:solidFill>
                <a:latin typeface="Consolas"/>
              </a:rPr>
              <a:t>        rank, world = dist.get_rank(), dist.get_world_size()</a:t>
            </a:r>
          </a:p>
          <a:p>
            <a:r>
              <a:rPr sz="1200">
                <a:solidFill>
                  <a:srgbClr val="E2E8F0"/>
                </a:solidFill>
                <a:latin typeface="Consolas"/>
              </a:rPr>
              <a:t>        local_rank = int(os.environ["LOCAL_RANK"])</a:t>
            </a:r>
          </a:p>
          <a:p>
            <a:r>
              <a:rPr sz="1200">
                <a:solidFill>
                  <a:srgbClr val="E2E8F0"/>
                </a:solidFill>
                <a:latin typeface="Consolas"/>
              </a:rPr>
              <a:t>    else:                                        # oddiy python train_ddp.py</a:t>
            </a:r>
          </a:p>
          <a:p>
            <a:r>
              <a:rPr sz="1200">
                <a:solidFill>
                  <a:srgbClr val="E2E8F0"/>
                </a:solidFill>
                <a:latin typeface="Consolas"/>
              </a:rPr>
              <a:t>        rank, world, local_rank = 0, 1, 0</a:t>
            </a:r>
          </a:p>
          <a:p>
            <a:r>
              <a:rPr sz="1200">
                <a:solidFill>
                  <a:srgbClr val="E2E8F0"/>
                </a:solidFill>
                <a:latin typeface="Consolas"/>
              </a:rPr>
              <a:t>    torch.cuda.set_device(local_rank)</a:t>
            </a:r>
          </a:p>
          <a:p>
            <a:r>
              <a:rPr sz="1200">
                <a:solidFill>
                  <a:srgbClr val="E2E8F0"/>
                </a:solidFill>
                <a:latin typeface="Consolas"/>
              </a:rPr>
              <a:t>    return rank, world, local_rank</a:t>
            </a:r>
          </a:p>
          <a:p>
            <a:r>
              <a:rPr sz="1200">
                <a:solidFill>
                  <a:srgbClr val="E2E8F0"/>
                </a:solidFill>
                <a:latin typeface="Consolas"/>
              </a:rPr>
              <a:t> </a:t>
            </a:r>
          </a:p>
          <a:p>
            <a:r>
              <a:rPr sz="1200">
                <a:solidFill>
                  <a:srgbClr val="E2E8F0"/>
                </a:solidFill>
                <a:latin typeface="Consolas"/>
              </a:rPr>
              <a:t>def main():</a:t>
            </a:r>
          </a:p>
          <a:p>
            <a:r>
              <a:rPr sz="1200">
                <a:solidFill>
                  <a:srgbClr val="E2E8F0"/>
                </a:solidFill>
                <a:latin typeface="Consolas"/>
              </a:rPr>
              <a:t>    p = argparse.ArgumentParser()</a:t>
            </a:r>
          </a:p>
          <a:p>
            <a:r>
              <a:rPr sz="1200">
                <a:solidFill>
                  <a:srgbClr val="7FD6D7"/>
                </a:solidFill>
                <a:latin typeface="Consolas"/>
              </a:rPr>
              <a:t># … (to‘liq kod — mavzu matnida / GitHub’da)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400">
                <a:solidFill>
                  <a:srgbClr val="E2E8F0"/>
                </a:solidFill>
                <a:latin typeface="Consolas"/>
              </a:rPr>
              <a:t>python train_ddp.py --epochs 3 --bs 128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Bitta tugunda ko'p GPU: torchrun bilan DDP</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torchrun har bir GPU uchun alohida jarayon yaratdi va RANK, LOCAL_RANK, WORLD_SIZE, MASTER_ADDR, MASTER_PORT muhit o'zgaruvchilarini o'rnatdi; skript ularni ko'rib NCCL guruhini boshladi. --standalone bayrog'i bitta tugun uchun rendezvous…</a:t>
            </a:r>
          </a:p>
          <a:p>
            <a:pPr>
              <a:spcAft>
                <a:spcPts val="900"/>
              </a:spcAft>
            </a:pPr>
            <a:r>
              <a:rPr sz="2000" b="1">
                <a:solidFill>
                  <a:srgbClr val="0F8B8D"/>
                </a:solidFill>
              </a:rPr>
              <a:t>▪  </a:t>
            </a:r>
            <a:r>
              <a:rPr sz="2000">
                <a:solidFill>
                  <a:srgbClr val="1B2430"/>
                </a:solidFill>
                <a:latin typeface="Calibri"/>
              </a:rPr>
              <a:t>O'lchov vaqtida nvidia-smi dmon -s u buyrug'i bilan GPU bandligini kuzating: agar GPU-Util 60% dan past bo'lsa, bottleneck ma'lumotlar quvurida.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Bitta tugunda ko'p GPU: torchrun bilan DDP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2 GPU</a:t>
            </a:r>
          </a:p>
          <a:p>
            <a:r>
              <a:rPr sz="1200">
                <a:solidFill>
                  <a:srgbClr val="E2E8F0"/>
                </a:solidFill>
                <a:latin typeface="Consolas"/>
              </a:rPr>
              <a:t>torchrun --standalone --nproc_per_node=2 train_ddp.py --epochs 3 --bs 128</a:t>
            </a:r>
          </a:p>
          <a:p>
            <a:r>
              <a:rPr sz="1200">
                <a:solidFill>
                  <a:srgbClr val="7FD6D7"/>
                </a:solidFill>
                <a:latin typeface="Consolas"/>
              </a:rPr>
              <a:t># 4 GPU</a:t>
            </a:r>
          </a:p>
          <a:p>
            <a:r>
              <a:rPr sz="1200">
                <a:solidFill>
                  <a:srgbClr val="E2E8F0"/>
                </a:solidFill>
                <a:latin typeface="Consolas"/>
              </a:rPr>
              <a:t>torchrun --standalone --nproc_per_node=4 train_ddp.py --epochs 3 --bs 128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Kommunikatsiya ulushini profilerda ko'rish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Jadvalda ncclKernel_AllReduce_ qatorlarining umumiy CUDA vaqti ko'rinadi. Uni T_step ga bo'lib kommunikatsiya ulushini topamiz.</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Kommunikatsiya ulushini profilerda ko'rish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train_ddp.py ichida, tsikldan oldin qo'shing (faqat tahlil uchun):</a:t>
            </a:r>
          </a:p>
          <a:p>
            <a:r>
              <a:rPr sz="1200">
                <a:solidFill>
                  <a:srgbClr val="E2E8F0"/>
                </a:solidFill>
                <a:latin typeface="Consolas"/>
              </a:rPr>
              <a:t>from torch.profiler import profile, ProfilerActivity, schedule</a:t>
            </a:r>
          </a:p>
          <a:p>
            <a:r>
              <a:rPr sz="1200">
                <a:solidFill>
                  <a:srgbClr val="E2E8F0"/>
                </a:solidFill>
                <a:latin typeface="Consolas"/>
              </a:rPr>
              <a:t>prof = profile(activities=[ProfilerActivity.CPU, ProfilerActivity.CUDA],</a:t>
            </a:r>
          </a:p>
          <a:p>
            <a:r>
              <a:rPr sz="1200">
                <a:solidFill>
                  <a:srgbClr val="E2E8F0"/>
                </a:solidFill>
                <a:latin typeface="Consolas"/>
              </a:rPr>
              <a:t>               schedule=schedule(wait=5, warmup=2, active=5), record_shapes=False)</a:t>
            </a:r>
          </a:p>
          <a:p>
            <a:r>
              <a:rPr sz="1200">
                <a:solidFill>
                  <a:srgbClr val="E2E8F0"/>
                </a:solidFill>
                <a:latin typeface="Consolas"/>
              </a:rPr>
              <a:t>prof.start()</a:t>
            </a:r>
          </a:p>
          <a:p>
            <a:r>
              <a:rPr sz="1200">
                <a:solidFill>
                  <a:srgbClr val="7FD6D7"/>
                </a:solidFill>
                <a:latin typeface="Consolas"/>
              </a:rPr>
              <a:t># ... har iteratsiya oxirida: prof.step()</a:t>
            </a:r>
          </a:p>
          <a:p>
            <a:r>
              <a:rPr sz="1200">
                <a:solidFill>
                  <a:srgbClr val="7FD6D7"/>
                </a:solidFill>
                <a:latin typeface="Consolas"/>
              </a:rPr>
              <a:t># ... tsikl tugagach:</a:t>
            </a:r>
          </a:p>
          <a:p>
            <a:r>
              <a:rPr sz="1200">
                <a:solidFill>
                  <a:srgbClr val="E2E8F0"/>
                </a:solidFill>
                <a:latin typeface="Consolas"/>
              </a:rPr>
              <a:t>prof.stop()</a:t>
            </a:r>
          </a:p>
          <a:p>
            <a:r>
              <a:rPr sz="1200">
                <a:solidFill>
                  <a:srgbClr val="E2E8F0"/>
                </a:solidFill>
                <a:latin typeface="Consolas"/>
              </a:rPr>
              <a:t>if rank == 0:</a:t>
            </a:r>
          </a:p>
          <a:p>
            <a:r>
              <a:rPr sz="1200">
                <a:solidFill>
                  <a:srgbClr val="E2E8F0"/>
                </a:solidFill>
                <a:latin typeface="Consolas"/>
              </a:rPr>
              <a:t>    print(prof.key_averages().table(sort_by="cuda_time_total", row_limit=15))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Ikki tugunli ishga tushirish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Ikki serverda (masalan, 10.10.0.71 va 10.10.0.72) bir xil kod va muhit bo'lsa:</a:t>
            </a:r>
          </a:p>
          <a:p>
            <a:pPr>
              <a:spcAft>
                <a:spcPts val="900"/>
              </a:spcAft>
            </a:pPr>
            <a:r>
              <a:rPr sz="2000" b="1">
                <a:solidFill>
                  <a:srgbClr val="0F8B8D"/>
                </a:solidFill>
              </a:rPr>
              <a:t>▪  </a:t>
            </a:r>
            <a:r>
              <a:rPr sz="2000">
                <a:solidFill>
                  <a:srgbClr val="1B2430"/>
                </a:solidFill>
                <a:latin typeface="Calibri"/>
              </a:rPr>
              <a:t>Foydali muhit o'zgaruvchilari: NCCL_DEBUG=INFO (NCCL qaysi interfeys va algoritmni tanlaganini ko'rsatadi), NCCL_SOCKET_IFNAME=eth0 (to'g'ri tarmoq kartasini majburlash), NCCL_IB_DISABLE=1…</a:t>
            </a:r>
          </a:p>
          <a:p>
            <a:pPr>
              <a:spcAft>
                <a:spcPts val="900"/>
              </a:spcAft>
            </a:pPr>
            <a:r>
              <a:rPr sz="2000" b="1">
                <a:solidFill>
                  <a:srgbClr val="0F8B8D"/>
                </a:solidFill>
              </a:rPr>
              <a:t>▪  </a:t>
            </a:r>
            <a:r>
              <a:rPr sz="2000">
                <a:solidFill>
                  <a:srgbClr val="1B2430"/>
                </a:solidFill>
                <a:latin typeface="Calibri"/>
              </a:rPr>
              <a:t>Nima bo'ldi va nega. Endi world_size=4, lekin 2 ta GPU juftligi oddiy Ethernet orqali bog'langan. All-reduce'ning bir qismi tarmoq orqali o'tadi, shuning uchun samaradorlik sezilarli tushadi.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Ikki tugunli ishga tushirish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400">
                <a:solidFill>
                  <a:srgbClr val="7FD6D7"/>
                </a:solidFill>
                <a:latin typeface="Consolas"/>
              </a:rPr>
              <a:t># 1-tugun (master), 2 GPU</a:t>
            </a:r>
          </a:p>
          <a:p>
            <a:r>
              <a:rPr sz="1400">
                <a:solidFill>
                  <a:srgbClr val="E2E8F0"/>
                </a:solidFill>
                <a:latin typeface="Consolas"/>
              </a:rPr>
              <a:t>torchrun --nnodes=2 --nproc_per_node=2 --node_rank=0 \</a:t>
            </a:r>
          </a:p>
          <a:p>
            <a:r>
              <a:rPr sz="1400">
                <a:solidFill>
                  <a:srgbClr val="E2E8F0"/>
                </a:solidFill>
                <a:latin typeface="Consolas"/>
              </a:rPr>
              <a:t>         --rdzv_backend=c10d --rdzv_endpoint=10.10.0.71:29500 \</a:t>
            </a:r>
          </a:p>
          <a:p>
            <a:r>
              <a:rPr sz="1400">
                <a:solidFill>
                  <a:srgbClr val="E2E8F0"/>
                </a:solidFill>
                <a:latin typeface="Consolas"/>
              </a:rPr>
              <a:t>         train_ddp.py --epochs 3 --bs 128</a:t>
            </a:r>
          </a:p>
          <a:p>
            <a:r>
              <a:rPr sz="1400">
                <a:solidFill>
                  <a:srgbClr val="7FD6D7"/>
                </a:solidFill>
                <a:latin typeface="Consolas"/>
              </a:rPr>
              <a:t># 2-tugun, 2 GPU</a:t>
            </a:r>
          </a:p>
          <a:p>
            <a:r>
              <a:rPr sz="1400">
                <a:solidFill>
                  <a:srgbClr val="E2E8F0"/>
                </a:solidFill>
                <a:latin typeface="Consolas"/>
              </a:rPr>
              <a:t>torchrun --nnodes=2 --nproc_per_node=2 --node_rank=1 \</a:t>
            </a:r>
          </a:p>
          <a:p>
            <a:r>
              <a:rPr sz="1400">
                <a:solidFill>
                  <a:srgbClr val="E2E8F0"/>
                </a:solidFill>
                <a:latin typeface="Consolas"/>
              </a:rPr>
              <a:t>         --rdzv_backend=c10d --rdzv_endpoint=10.10.0.71:29500 \</a:t>
            </a:r>
          </a:p>
          <a:p>
            <a:r>
              <a:rPr sz="1400">
                <a:solidFill>
                  <a:srgbClr val="E2E8F0"/>
                </a:solidFill>
                <a:latin typeface="Consolas"/>
              </a:rPr>
              <a:t>         train_ddp.py --epochs 3 --bs 128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Inferensda gradient yo'q, demak qadam sayin all-reduce ham yo'q; yagona kommunikatsiya — oxirida natijalarni yig'ish. Shu sababli parallel inferens o'qitishga qaraganda ancha yaxshi masshtablanadi (90–98%).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infer_ddp.py — har rank o'z ma'lumot bo'lagini bashorat qiladi, natijalar 0-rankka yig'iladi</a:t>
            </a:r>
          </a:p>
          <a:p>
            <a:r>
              <a:rPr sz="1200">
                <a:solidFill>
                  <a:srgbClr val="E2E8F0"/>
                </a:solidFill>
                <a:latin typeface="Consolas"/>
              </a:rPr>
              <a:t>import os, time, torch, torch.distributed as dist, torchvision, torchvision.transforms as T</a:t>
            </a:r>
          </a:p>
          <a:p>
            <a:r>
              <a:rPr sz="1200">
                <a:solidFill>
                  <a:srgbClr val="E2E8F0"/>
                </a:solidFill>
                <a:latin typeface="Consolas"/>
              </a:rPr>
              <a:t>from torch.utils.data import DataLoader, Subset</a:t>
            </a:r>
          </a:p>
          <a:p>
            <a:r>
              <a:rPr sz="1200">
                <a:solidFill>
                  <a:srgbClr val="E2E8F0"/>
                </a:solidFill>
                <a:latin typeface="Consolas"/>
              </a:rPr>
              <a:t>from torch.utils.data.distributed import DistributedSampler</a:t>
            </a:r>
          </a:p>
          <a:p>
            <a:r>
              <a:rPr sz="1200">
                <a:solidFill>
                  <a:srgbClr val="E2E8F0"/>
                </a:solidFill>
                <a:latin typeface="Consolas"/>
              </a:rPr>
              <a:t> </a:t>
            </a:r>
          </a:p>
          <a:p>
            <a:r>
              <a:rPr sz="1200">
                <a:solidFill>
                  <a:srgbClr val="E2E8F0"/>
                </a:solidFill>
                <a:latin typeface="Consolas"/>
              </a:rPr>
              <a:t>dist.init_process_group("nccl")</a:t>
            </a:r>
          </a:p>
          <a:p>
            <a:r>
              <a:rPr sz="1200">
                <a:solidFill>
                  <a:srgbClr val="E2E8F0"/>
                </a:solidFill>
                <a:latin typeface="Consolas"/>
              </a:rPr>
              <a:t>rank, world = dist.get_rank(), dist.get_world_size()</a:t>
            </a:r>
          </a:p>
          <a:p>
            <a:r>
              <a:rPr sz="1200">
                <a:solidFill>
                  <a:srgbClr val="E2E8F0"/>
                </a:solidFill>
                <a:latin typeface="Consolas"/>
              </a:rPr>
              <a:t>local_rank = int(os.environ["LOCAL_RANK"]); dev = torch.device("cuda", local_rank)</a:t>
            </a:r>
          </a:p>
          <a:p>
            <a:r>
              <a:rPr sz="1200">
                <a:solidFill>
                  <a:srgbClr val="E2E8F0"/>
                </a:solidFill>
                <a:latin typeface="Consolas"/>
              </a:rPr>
              <a:t>torch.cuda.set_device(local_rank)</a:t>
            </a:r>
          </a:p>
          <a:p>
            <a:r>
              <a:rPr sz="1200">
                <a:solidFill>
                  <a:srgbClr val="E2E8F0"/>
                </a:solidFill>
                <a:latin typeface="Consolas"/>
              </a:rPr>
              <a:t> </a:t>
            </a:r>
          </a:p>
          <a:p>
            <a:r>
              <a:rPr sz="1200">
                <a:solidFill>
                  <a:srgbClr val="E2E8F0"/>
                </a:solidFill>
                <a:latin typeface="Consolas"/>
              </a:rPr>
              <a:t>tf = T.Compose([T.ToTensor(), T.Normalize((0.49, 0.48, 0.45), (0.25, 0.24, 0.26))])</a:t>
            </a:r>
          </a:p>
          <a:p>
            <a:r>
              <a:rPr sz="1200">
                <a:solidFill>
                  <a:srgbClr val="E2E8F0"/>
                </a:solidFill>
                <a:latin typeface="Consolas"/>
              </a:rPr>
              <a:t>ds = Subset(torchvision.datasets.CIFAR10("./data", train=False, transform=tf), range(10000))</a:t>
            </a:r>
          </a:p>
          <a:p>
            <a:r>
              <a:rPr sz="1200">
                <a:solidFill>
                  <a:srgbClr val="E2E8F0"/>
                </a:solidFill>
                <a:latin typeface="Consolas"/>
              </a:rPr>
              <a:t>sampler = DistributedSampler(ds, shuffle=False)</a:t>
            </a:r>
          </a:p>
          <a:p>
            <a:r>
              <a:rPr sz="1200">
                <a:solidFill>
                  <a:srgbClr val="E2E8F0"/>
                </a:solidFill>
                <a:latin typeface="Consolas"/>
              </a:rPr>
              <a:t>dl = DataLoader(ds, batch_size=256, sampler=sampler, num_workers=4, pin_memory=True)</a:t>
            </a:r>
          </a:p>
          <a:p>
            <a:r>
              <a:rPr sz="1200">
                <a:solidFill>
                  <a:srgbClr val="E2E8F0"/>
                </a:solidFill>
                <a:latin typeface="Consolas"/>
              </a:rPr>
              <a:t> </a:t>
            </a:r>
          </a:p>
          <a:p>
            <a:r>
              <a:rPr sz="1200">
                <a:solidFill>
                  <a:srgbClr val="E2E8F0"/>
                </a:solidFill>
                <a:latin typeface="Consolas"/>
              </a:rPr>
              <a:t>model = torchvision.models.resnet18(num_classes=10).to(dev).eval().half()</a:t>
            </a:r>
          </a:p>
          <a:p>
            <a:r>
              <a:rPr sz="1200">
                <a:solidFill>
                  <a:srgbClr val="7FD6D7"/>
                </a:solidFill>
                <a:latin typeface="Consolas"/>
              </a:rPr>
              <a:t># haqiqiy loyihada: model.load_state_dict(torch.load("ckpt.pt", map_location=dev))</a:t>
            </a:r>
          </a:p>
          <a:p>
            <a:r>
              <a:rPr sz="1200">
                <a:solidFill>
                  <a:srgbClr val="E2E8F0"/>
                </a:solidFill>
                <a:latin typeface="Consolas"/>
              </a:rPr>
              <a:t> </a:t>
            </a:r>
          </a:p>
          <a:p>
            <a:r>
              <a:rPr sz="1200">
                <a:solidFill>
                  <a:srgbClr val="E2E8F0"/>
                </a:solidFill>
                <a:latin typeface="Consolas"/>
              </a:rPr>
              <a:t>preds, labels = [], []</a:t>
            </a:r>
          </a:p>
          <a:p>
            <a:r>
              <a:rPr sz="1200">
                <a:solidFill>
                  <a:srgbClr val="E2E8F0"/>
                </a:solidFill>
                <a:latin typeface="Consolas"/>
              </a:rPr>
              <a:t>torch.cuda.synchronize(); dist.barrier(); t0 = time.time()</a:t>
            </a:r>
          </a:p>
          <a:p>
            <a:r>
              <a:rPr sz="1200">
                <a:solidFill>
                  <a:srgbClr val="7FD6D7"/>
                </a:solidFill>
                <a:latin typeface="Consolas"/>
              </a:rPr>
              <a:t># … (to‘liq kod — mavzu matnida / GitHub’da)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for n in 1 2 4; do torchrun --standalone --nproc_per_node=$n infer_ddp.py; done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(qo'shimcha). Ray Train bilan qayta amalga oshirish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Kod hajmi qisqardi: prepare_model va prepare_data_loader DDP o'rami, qurilmaga ko'chirish va DistributedSamplerni avtomatik qo'shdi; ScalingConfig ishchilar sonini bildiradi; ikki tugunli klaster uchun kodni o'zgartirish shart emas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(qo'shimcha). Ray Train bilan qayta amalga oshirish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train_ray.py</a:t>
            </a:r>
          </a:p>
          <a:p>
            <a:r>
              <a:rPr sz="1000">
                <a:solidFill>
                  <a:srgbClr val="E2E8F0"/>
                </a:solidFill>
                <a:latin typeface="Consolas"/>
              </a:rPr>
              <a:t>import ray, torch, torch.nn as nn, torchvision, torchvision.transforms as T</a:t>
            </a:r>
          </a:p>
          <a:p>
            <a:r>
              <a:rPr sz="1000">
                <a:solidFill>
                  <a:srgbClr val="E2E8F0"/>
                </a:solidFill>
                <a:latin typeface="Consolas"/>
              </a:rPr>
              <a:t>from ray.train import ScalingConfig, RunConfig</a:t>
            </a:r>
          </a:p>
          <a:p>
            <a:r>
              <a:rPr sz="1000">
                <a:solidFill>
                  <a:srgbClr val="E2E8F0"/>
                </a:solidFill>
                <a:latin typeface="Consolas"/>
              </a:rPr>
              <a:t>from ray.train.torch import TorchTrainer, prepare_model, prepare_data_loader</a:t>
            </a:r>
          </a:p>
          <a:p>
            <a:r>
              <a:rPr sz="1000">
                <a:solidFill>
                  <a:srgbClr val="E2E8F0"/>
                </a:solidFill>
                <a:latin typeface="Consolas"/>
              </a:rPr>
              <a:t>from torch.utils.data import DataLoader, Subset</a:t>
            </a:r>
          </a:p>
          <a:p>
            <a:r>
              <a:rPr sz="1000">
                <a:solidFill>
                  <a:srgbClr val="E2E8F0"/>
                </a:solidFill>
                <a:latin typeface="Consolas"/>
              </a:rPr>
              <a:t> </a:t>
            </a:r>
          </a:p>
          <a:p>
            <a:r>
              <a:rPr sz="1000">
                <a:solidFill>
                  <a:srgbClr val="E2E8F0"/>
                </a:solidFill>
                <a:latin typeface="Consolas"/>
              </a:rPr>
              <a:t>def train_fn(cfg):</a:t>
            </a:r>
          </a:p>
          <a:p>
            <a:r>
              <a:rPr sz="1000">
                <a:solidFill>
                  <a:srgbClr val="E2E8F0"/>
                </a:solidFill>
                <a:latin typeface="Consolas"/>
              </a:rPr>
              <a:t>    tf = T.Compose([T.ToTensor(), T.Normalize((0.49, 0.48, 0.45), (0.25, 0.24, 0.26))])</a:t>
            </a:r>
          </a:p>
          <a:p>
            <a:r>
              <a:rPr sz="1000">
                <a:solidFill>
                  <a:srgbClr val="E2E8F0"/>
                </a:solidFill>
                <a:latin typeface="Consolas"/>
              </a:rPr>
              <a:t>    ds = Subset(torchvision.datasets.CIFAR10("./data", train=True, download=True, transform=tf), range(10000))</a:t>
            </a:r>
          </a:p>
          <a:p>
            <a:r>
              <a:rPr sz="1000">
                <a:solidFill>
                  <a:srgbClr val="E2E8F0"/>
                </a:solidFill>
                <a:latin typeface="Consolas"/>
              </a:rPr>
              <a:t>    dl = prepare_data_loader(DataLoader(ds, batch_size=cfg["bs"], shuffle=True, num_workers=4))</a:t>
            </a:r>
          </a:p>
          <a:p>
            <a:r>
              <a:rPr sz="1000">
                <a:solidFill>
                  <a:srgbClr val="E2E8F0"/>
                </a:solidFill>
                <a:latin typeface="Consolas"/>
              </a:rPr>
              <a:t>    model = prepare_model(torchvision.models.resnet18(num_classes=10))  # DDP + device avtomatik</a:t>
            </a:r>
          </a:p>
          <a:p>
            <a:r>
              <a:rPr sz="1000">
                <a:solidFill>
                  <a:srgbClr val="E2E8F0"/>
                </a:solidFill>
                <a:latin typeface="Consolas"/>
              </a:rPr>
              <a:t>    opt = torch.optim.SGD(model.parameters(), lr=0.1 * ray.train.get_context().get_world_size(), momentum=0.9)</a:t>
            </a:r>
          </a:p>
          <a:p>
            <a:r>
              <a:rPr sz="1000">
                <a:solidFill>
                  <a:srgbClr val="E2E8F0"/>
                </a:solidFill>
                <a:latin typeface="Consolas"/>
              </a:rPr>
              <a:t>    lossf = nn.CrossEntropyLoss()</a:t>
            </a:r>
          </a:p>
          <a:p>
            <a:r>
              <a:rPr sz="1000">
                <a:solidFill>
                  <a:srgbClr val="E2E8F0"/>
                </a:solidFill>
                <a:latin typeface="Consolas"/>
              </a:rPr>
              <a:t>    for ep in range(cfg["epochs"]):</a:t>
            </a:r>
          </a:p>
          <a:p>
            <a:r>
              <a:rPr sz="1000">
                <a:solidFill>
                  <a:srgbClr val="E2E8F0"/>
                </a:solidFill>
                <a:latin typeface="Consolas"/>
              </a:rPr>
              <a:t>        dl.sampler.set_epoch(ep) if hasattr(dl.sampler, "set_epoch") else None</a:t>
            </a:r>
          </a:p>
          <a:p>
            <a:r>
              <a:rPr sz="1000">
                <a:solidFill>
                  <a:srgbClr val="E2E8F0"/>
                </a:solidFill>
                <a:latin typeface="Consolas"/>
              </a:rPr>
              <a:t>        for x, y in dl:</a:t>
            </a:r>
          </a:p>
          <a:p>
            <a:r>
              <a:rPr sz="1000">
                <a:solidFill>
                  <a:srgbClr val="E2E8F0"/>
                </a:solidFill>
                <a:latin typeface="Consolas"/>
              </a:rPr>
              <a:t>            loss = lossf(model(x), y); opt.zero_grad(); loss.backward(); opt.step()</a:t>
            </a:r>
          </a:p>
          <a:p>
            <a:r>
              <a:rPr sz="1000">
                <a:solidFill>
                  <a:srgbClr val="E2E8F0"/>
                </a:solidFill>
                <a:latin typeface="Consolas"/>
              </a:rPr>
              <a:t>        ray.train.report({"epoch": ep, "loss": loss.item()})</a:t>
            </a:r>
          </a:p>
          <a:p>
            <a:r>
              <a:rPr sz="1000">
                <a:solidFill>
                  <a:srgbClr val="E2E8F0"/>
                </a:solidFill>
                <a:latin typeface="Consolas"/>
              </a:rPr>
              <a:t> </a:t>
            </a:r>
          </a:p>
          <a:p>
            <a:r>
              <a:rPr sz="1000">
                <a:solidFill>
                  <a:srgbClr val="E2E8F0"/>
                </a:solidFill>
                <a:latin typeface="Consolas"/>
              </a:rPr>
              <a:t>if __name__ == "__main__":</a:t>
            </a:r>
          </a:p>
          <a:p>
            <a:r>
              <a:rPr sz="1000">
                <a:solidFill>
                  <a:srgbClr val="7FD6D7"/>
                </a:solidFill>
                <a:latin typeface="Consolas"/>
              </a:rPr>
              <a:t># … (to‘liq kod — mavzu matnida / GitHub’da)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jadval 4 × RTX 3090 (PCIe 4.0, NVLink yo'q), ResNet-18, CIFAR-10, paket 128/GPU, BF16 autocast konfiguratsiyasi uchun taxminiy kutilgan qiymatlardir; talaba o'z o'lchovlarini aynan…</a:t>
            </a:r>
          </a:p>
          <a:p>
            <a:pPr>
              <a:spcAft>
                <a:spcPts val="900"/>
              </a:spcAft>
            </a:pPr>
            <a:r>
              <a:rPr sz="2000" b="1">
                <a:solidFill>
                  <a:srgbClr val="0F8B8D"/>
                </a:solidFill>
              </a:rPr>
              <a:t>▪  </a:t>
            </a:r>
            <a:r>
              <a:rPr sz="2000">
                <a:solidFill>
                  <a:srgbClr val="1B2430"/>
                </a:solidFill>
                <a:latin typeface="Calibri"/>
              </a:rPr>
              <a:t>Jadvalda tezlashish S(N) = T(1)/T(N) epoxa vaqtlari bo'yicha (kuchsiz masshtablash rejimida img/s nisbati bilan bir xil ma'noni beradi) hisoblangan.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Konfiguratsiya</a:t>
                      </a:r>
                    </a:p>
                  </a:txBody>
                  <a:tcPr>
                    <a:solidFill>
                      <a:srgbClr val="2D5C8F"/>
                    </a:solidFill>
                  </a:tcPr>
                </a:tc>
                <a:tc>
                  <a:txBody>
                    <a:bodyPr/>
                    <a:lstStyle/>
                    <a:p>
                      <a:r>
                        <a:rPr sz="1400" b="1">
                          <a:solidFill>
                            <a:srgbClr val="FFFFFF"/>
                          </a:solidFill>
                          <a:latin typeface="Calibri"/>
                        </a:rPr>
                        <a:t>Global paket</a:t>
                      </a:r>
                    </a:p>
                  </a:txBody>
                  <a:tcPr>
                    <a:solidFill>
                      <a:srgbClr val="2D5C8F"/>
                    </a:solidFill>
                  </a:tcPr>
                </a:tc>
                <a:tc>
                  <a:txBody>
                    <a:bodyPr/>
                    <a:lstStyle/>
                    <a:p>
                      <a:r>
                        <a:rPr sz="1400" b="1">
                          <a:solidFill>
                            <a:srgbClr val="FFFFFF"/>
                          </a:solidFill>
                          <a:latin typeface="Calibri"/>
                        </a:rPr>
                        <a:t>Epoxa vaqti, s</a:t>
                      </a:r>
                    </a:p>
                  </a:txBody>
                  <a:tcPr>
                    <a:solidFill>
                      <a:srgbClr val="2D5C8F"/>
                    </a:solidFill>
                  </a:tcPr>
                </a:tc>
                <a:tc>
                  <a:txBody>
                    <a:bodyPr/>
                    <a:lstStyle/>
                    <a:p>
                      <a:r>
                        <a:rPr sz="1400" b="1">
                          <a:solidFill>
                            <a:srgbClr val="FFFFFF"/>
                          </a:solidFill>
                          <a:latin typeface="Calibri"/>
                        </a:rPr>
                        <a:t>img/s</a:t>
                      </a:r>
                    </a:p>
                  </a:txBody>
                  <a:tcPr>
                    <a:solidFill>
                      <a:srgbClr val="2D5C8F"/>
                    </a:solidFill>
                  </a:tcPr>
                </a:tc>
                <a:tc>
                  <a:txBody>
                    <a:bodyPr/>
                    <a:lstStyle/>
                    <a:p>
                      <a:r>
                        <a:rPr sz="1400" b="1">
                          <a:solidFill>
                            <a:srgbClr val="FFFFFF"/>
                          </a:solidFill>
                          <a:latin typeface="Calibri"/>
                        </a:rPr>
                        <a:t>Tezlashish S(N)</a:t>
                      </a:r>
                    </a:p>
                  </a:txBody>
                  <a:tcPr>
                    <a:solidFill>
                      <a:srgbClr val="2D5C8F"/>
                    </a:solidFill>
                  </a:tcPr>
                </a:tc>
                <a:tc>
                  <a:txBody>
                    <a:bodyPr/>
                    <a:lstStyle/>
                    <a:p>
                      <a:r>
                        <a:rPr sz="1400" b="1">
                          <a:solidFill>
                            <a:srgbClr val="FFFFFF"/>
                          </a:solidFill>
                          <a:latin typeface="Calibri"/>
                        </a:rPr>
                        <a:t>Samaradorlik E(N)</a:t>
                      </a:r>
                    </a:p>
                  </a:txBody>
                  <a:tcPr>
                    <a:solidFill>
                      <a:srgbClr val="2D5C8F"/>
                    </a:solidFill>
                  </a:tcPr>
                </a:tc>
              </a:tr>
              <a:tr h="520000">
                <a:tc>
                  <a:txBody>
                    <a:bodyPr/>
                    <a:lstStyle/>
                    <a:p>
                      <a:r>
                        <a:rPr sz="1400" b="0">
                          <a:solidFill>
                            <a:srgbClr val="1B2430"/>
                          </a:solidFill>
                          <a:latin typeface="Calibri"/>
                        </a:rPr>
                        <a:t>1 GPU</a:t>
                      </a:r>
                    </a:p>
                  </a:txBody>
                  <a:tcPr>
                    <a:solidFill>
                      <a:srgbClr val="F1F4F8"/>
                    </a:solidFill>
                  </a:tcPr>
                </a:tc>
                <a:tc>
                  <a:txBody>
                    <a:bodyPr/>
                    <a:lstStyle/>
                    <a:p>
                      <a:r>
                        <a:rPr sz="1400" b="0">
                          <a:solidFill>
                            <a:srgbClr val="1B2430"/>
                          </a:solidFill>
                          <a:latin typeface="Calibri"/>
                        </a:rPr>
                        <a:t>128</a:t>
                      </a:r>
                    </a:p>
                  </a:txBody>
                  <a:tcPr>
                    <a:solidFill>
                      <a:srgbClr val="F1F4F8"/>
                    </a:solidFill>
                  </a:tcPr>
                </a:tc>
                <a:tc>
                  <a:txBody>
                    <a:bodyPr/>
                    <a:lstStyle/>
                    <a:p>
                      <a:r>
                        <a:rPr sz="1400" b="0">
                          <a:solidFill>
                            <a:srgbClr val="1B2430"/>
                          </a:solidFill>
                          <a:latin typeface="Calibri"/>
                        </a:rPr>
                        <a:t>4.0</a:t>
                      </a:r>
                    </a:p>
                  </a:txBody>
                  <a:tcPr>
                    <a:solidFill>
                      <a:srgbClr val="F1F4F8"/>
                    </a:solidFill>
                  </a:tcPr>
                </a:tc>
                <a:tc>
                  <a:txBody>
                    <a:bodyPr/>
                    <a:lstStyle/>
                    <a:p>
                      <a:r>
                        <a:rPr sz="1400" b="0">
                          <a:solidFill>
                            <a:srgbClr val="1B2430"/>
                          </a:solidFill>
                          <a:latin typeface="Calibri"/>
                        </a:rPr>
                        <a:t>2 500</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a:t>
                      </a:r>
                    </a:p>
                  </a:txBody>
                  <a:tcPr>
                    <a:solidFill>
                      <a:srgbClr val="F1F4F8"/>
                    </a:solidFill>
                  </a:tcPr>
                </a:tc>
              </a:tr>
              <a:tr h="520000">
                <a:tc>
                  <a:txBody>
                    <a:bodyPr/>
                    <a:lstStyle/>
                    <a:p>
                      <a:r>
                        <a:rPr sz="1400" b="0">
                          <a:solidFill>
                            <a:srgbClr val="1B2430"/>
                          </a:solidFill>
                          <a:latin typeface="Calibri"/>
                        </a:rPr>
                        <a:t>2 GPU (1 tugun)</a:t>
                      </a:r>
                    </a:p>
                  </a:txBody>
                  <a:tcPr>
                    <a:solidFill>
                      <a:srgbClr val="FFFFFF"/>
                    </a:solidFill>
                  </a:tcPr>
                </a:tc>
                <a:tc>
                  <a:txBody>
                    <a:bodyPr/>
                    <a:lstStyle/>
                    <a:p>
                      <a:r>
                        <a:rPr sz="1400" b="0">
                          <a:solidFill>
                            <a:srgbClr val="1B2430"/>
                          </a:solidFill>
                          <a:latin typeface="Calibri"/>
                        </a:rPr>
                        <a:t>256</a:t>
                      </a:r>
                    </a:p>
                  </a:txBody>
                  <a:tcPr>
                    <a:solidFill>
                      <a:srgbClr val="FFFFFF"/>
                    </a:solidFill>
                  </a:tcPr>
                </a:tc>
                <a:tc>
                  <a:txBody>
                    <a:bodyPr/>
                    <a:lstStyle/>
                    <a:p>
                      <a:r>
                        <a:rPr sz="1400" b="0">
                          <a:solidFill>
                            <a:srgbClr val="1B2430"/>
                          </a:solidFill>
                          <a:latin typeface="Calibri"/>
                        </a:rPr>
                        <a:t>2.15</a:t>
                      </a:r>
                    </a:p>
                  </a:txBody>
                  <a:tcPr>
                    <a:solidFill>
                      <a:srgbClr val="FFFFFF"/>
                    </a:solidFill>
                  </a:tcPr>
                </a:tc>
                <a:tc>
                  <a:txBody>
                    <a:bodyPr/>
                    <a:lstStyle/>
                    <a:p>
                      <a:r>
                        <a:rPr sz="1400" b="0">
                          <a:solidFill>
                            <a:srgbClr val="1B2430"/>
                          </a:solidFill>
                          <a:latin typeface="Calibri"/>
                        </a:rPr>
                        <a:t>4 650</a:t>
                      </a:r>
                    </a:p>
                  </a:txBody>
                  <a:tcPr>
                    <a:solidFill>
                      <a:srgbClr val="FFFFFF"/>
                    </a:solidFill>
                  </a:tcPr>
                </a:tc>
                <a:tc>
                  <a:txBody>
                    <a:bodyPr/>
                    <a:lstStyle/>
                    <a:p>
                      <a:r>
                        <a:rPr sz="1400" b="0">
                          <a:solidFill>
                            <a:srgbClr val="1B2430"/>
                          </a:solidFill>
                          <a:latin typeface="Calibri"/>
                        </a:rPr>
                        <a:t>1.86</a:t>
                      </a:r>
                    </a:p>
                  </a:txBody>
                  <a:tcPr>
                    <a:solidFill>
                      <a:srgbClr val="FFFFFF"/>
                    </a:solidFill>
                  </a:tcPr>
                </a:tc>
                <a:tc>
                  <a:txBody>
                    <a:bodyPr/>
                    <a:lstStyle/>
                    <a:p>
                      <a:r>
                        <a:rPr sz="1400" b="0">
                          <a:solidFill>
                            <a:srgbClr val="1B2430"/>
                          </a:solidFill>
                          <a:latin typeface="Calibri"/>
                        </a:rPr>
                        <a:t>93%</a:t>
                      </a:r>
                    </a:p>
                  </a:txBody>
                  <a:tcPr>
                    <a:solidFill>
                      <a:srgbClr val="FFFFFF"/>
                    </a:solidFill>
                  </a:tcPr>
                </a:tc>
              </a:tr>
              <a:tr h="520000">
                <a:tc>
                  <a:txBody>
                    <a:bodyPr/>
                    <a:lstStyle/>
                    <a:p>
                      <a:r>
                        <a:rPr sz="1400" b="0">
                          <a:solidFill>
                            <a:srgbClr val="1B2430"/>
                          </a:solidFill>
                          <a:latin typeface="Calibri"/>
                        </a:rPr>
                        <a:t>4 GPU (1 tugun)</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1.20</a:t>
                      </a:r>
                    </a:p>
                  </a:txBody>
                  <a:tcPr>
                    <a:solidFill>
                      <a:srgbClr val="F1F4F8"/>
                    </a:solidFill>
                  </a:tcPr>
                </a:tc>
                <a:tc>
                  <a:txBody>
                    <a:bodyPr/>
                    <a:lstStyle/>
                    <a:p>
                      <a:r>
                        <a:rPr sz="1400" b="0">
                          <a:solidFill>
                            <a:srgbClr val="1B2430"/>
                          </a:solidFill>
                          <a:latin typeface="Calibri"/>
                        </a:rPr>
                        <a:t>8 300</a:t>
                      </a:r>
                    </a:p>
                  </a:txBody>
                  <a:tcPr>
                    <a:solidFill>
                      <a:srgbClr val="F1F4F8"/>
                    </a:solidFill>
                  </a:tcPr>
                </a:tc>
                <a:tc>
                  <a:txBody>
                    <a:bodyPr/>
                    <a:lstStyle/>
                    <a:p>
                      <a:r>
                        <a:rPr sz="1400" b="0">
                          <a:solidFill>
                            <a:srgbClr val="1B2430"/>
                          </a:solidFill>
                          <a:latin typeface="Calibri"/>
                        </a:rPr>
                        <a:t>3.32</a:t>
                      </a:r>
                    </a:p>
                  </a:txBody>
                  <a:tcPr>
                    <a:solidFill>
                      <a:srgbClr val="F1F4F8"/>
                    </a:solidFill>
                  </a:tcPr>
                </a:tc>
                <a:tc>
                  <a:txBody>
                    <a:bodyPr/>
                    <a:lstStyle/>
                    <a:p>
                      <a:r>
                        <a:rPr sz="1400" b="0">
                          <a:solidFill>
                            <a:srgbClr val="1B2430"/>
                          </a:solidFill>
                          <a:latin typeface="Calibri"/>
                        </a:rPr>
                        <a:t>83%</a:t>
                      </a:r>
                    </a:p>
                  </a:txBody>
                  <a:tcPr>
                    <a:solidFill>
                      <a:srgbClr val="F1F4F8"/>
                    </a:solidFill>
                  </a:tcPr>
                </a:tc>
              </a:tr>
              <a:tr h="520000">
                <a:tc>
                  <a:txBody>
                    <a:bodyPr/>
                    <a:lstStyle/>
                    <a:p>
                      <a:r>
                        <a:rPr sz="1400" b="0">
                          <a:solidFill>
                            <a:srgbClr val="1B2430"/>
                          </a:solidFill>
                          <a:latin typeface="Calibri"/>
                        </a:rPr>
                        <a:t>2+2 GPU (2 tugun, 10 GbE)</a:t>
                      </a:r>
                    </a:p>
                  </a:txBody>
                  <a:tcPr>
                    <a:solidFill>
                      <a:srgbClr val="FFFFFF"/>
                    </a:solidFill>
                  </a:tcPr>
                </a:tc>
                <a:tc>
                  <a:txBody>
                    <a:bodyPr/>
                    <a:lstStyle/>
                    <a:p>
                      <a:r>
                        <a:rPr sz="1400" b="0">
                          <a:solidFill>
                            <a:srgbClr val="1B2430"/>
                          </a:solidFill>
                          <a:latin typeface="Calibri"/>
                        </a:rPr>
                        <a:t>512</a:t>
                      </a:r>
                    </a:p>
                  </a:txBody>
                  <a:tcPr>
                    <a:solidFill>
                      <a:srgbClr val="FFFFFF"/>
                    </a:solidFill>
                  </a:tcPr>
                </a:tc>
                <a:tc>
                  <a:txBody>
                    <a:bodyPr/>
                    <a:lstStyle/>
                    <a:p>
                      <a:r>
                        <a:rPr sz="1400" b="0">
                          <a:solidFill>
                            <a:srgbClr val="1B2430"/>
                          </a:solidFill>
                          <a:latin typeface="Calibri"/>
                        </a:rPr>
                        <a:t>1.95</a:t>
                      </a:r>
                    </a:p>
                  </a:txBody>
                  <a:tcPr>
                    <a:solidFill>
                      <a:srgbClr val="FFFFFF"/>
                    </a:solidFill>
                  </a:tcPr>
                </a:tc>
                <a:tc>
                  <a:txBody>
                    <a:bodyPr/>
                    <a:lstStyle/>
                    <a:p>
                      <a:r>
                        <a:rPr sz="1400" b="0">
                          <a:solidFill>
                            <a:srgbClr val="1B2430"/>
                          </a:solidFill>
                          <a:latin typeface="Calibri"/>
                        </a:rPr>
                        <a:t>5 100</a:t>
                      </a:r>
                    </a:p>
                  </a:txBody>
                  <a:tcPr>
                    <a:solidFill>
                      <a:srgbClr val="FFFFFF"/>
                    </a:solidFill>
                  </a:tcPr>
                </a:tc>
                <a:tc>
                  <a:txBody>
                    <a:bodyPr/>
                    <a:lstStyle/>
                    <a:p>
                      <a:r>
                        <a:rPr sz="1400" b="0">
                          <a:solidFill>
                            <a:srgbClr val="1B2430"/>
                          </a:solidFill>
                          <a:latin typeface="Calibri"/>
                        </a:rPr>
                        <a:t>2.04</a:t>
                      </a:r>
                    </a:p>
                  </a:txBody>
                  <a:tcPr>
                    <a:solidFill>
                      <a:srgbClr val="FFFFFF"/>
                    </a:solidFill>
                  </a:tcPr>
                </a:tc>
                <a:tc>
                  <a:txBody>
                    <a:bodyPr/>
                    <a:lstStyle/>
                    <a:p>
                      <a:r>
                        <a:rPr sz="1400" b="0">
                          <a:solidFill>
                            <a:srgbClr val="1B2430"/>
                          </a:solidFill>
                          <a:latin typeface="Calibri"/>
                        </a:rPr>
                        <a:t>51%</a:t>
                      </a:r>
                    </a:p>
                  </a:txBody>
                  <a:tcPr>
                    <a:solidFill>
                      <a:srgbClr val="FFFFFF"/>
                    </a:solidFill>
                  </a:tcPr>
                </a:tc>
              </a:tr>
              <a:tr h="520000">
                <a:tc>
                  <a:txBody>
                    <a:bodyPr/>
                    <a:lstStyle/>
                    <a:p>
                      <a:r>
                        <a:rPr sz="1400" b="0">
                          <a:solidFill>
                            <a:srgbClr val="1B2430"/>
                          </a:solidFill>
                          <a:latin typeface="Calibri"/>
                        </a:rPr>
                        <a:t>Inferens 1 GPU</a:t>
                      </a:r>
                    </a:p>
                  </a:txBody>
                  <a:tcPr>
                    <a:solidFill>
                      <a:srgbClr val="F1F4F8"/>
                    </a:solidFill>
                  </a:tcPr>
                </a:tc>
                <a:tc>
                  <a:txBody>
                    <a:bodyPr/>
                    <a:lstStyle/>
                    <a:p>
                      <a:r>
                        <a:rPr sz="1400" b="0">
                          <a:solidFill>
                            <a:srgbClr val="1B2430"/>
                          </a:solidFill>
                          <a:latin typeface="Calibri"/>
                        </a:rPr>
                        <a:t>256</a:t>
                      </a:r>
                    </a:p>
                  </a:txBody>
                  <a:tcPr>
                    <a:solidFill>
                      <a:srgbClr val="F1F4F8"/>
                    </a:solidFill>
                  </a:tcPr>
                </a:tc>
                <a:tc>
                  <a:txBody>
                    <a:bodyPr/>
                    <a:lstStyle/>
                    <a:p>
                      <a:r>
                        <a:rPr sz="1400" b="0">
                          <a:solidFill>
                            <a:srgbClr val="1B2430"/>
                          </a:solidFill>
                          <a:latin typeface="Calibri"/>
                        </a:rPr>
                        <a:t>0.95</a:t>
                      </a:r>
                    </a:p>
                  </a:txBody>
                  <a:tcPr>
                    <a:solidFill>
                      <a:srgbClr val="F1F4F8"/>
                    </a:solidFill>
                  </a:tcPr>
                </a:tc>
                <a:tc>
                  <a:txBody>
                    <a:bodyPr/>
                    <a:lstStyle/>
                    <a:p>
                      <a:r>
                        <a:rPr sz="1400" b="0">
                          <a:solidFill>
                            <a:srgbClr val="1B2430"/>
                          </a:solidFill>
                          <a:latin typeface="Calibri"/>
                        </a:rPr>
                        <a:t>10 500</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a:t>
                      </a:r>
                    </a:p>
                  </a:txBody>
                  <a:tcPr>
                    <a:solidFill>
                      <a:srgbClr val="F1F4F8"/>
                    </a:solidFill>
                  </a:tcPr>
                </a:tc>
              </a:tr>
              <a:tr h="520000">
                <a:tc>
                  <a:txBody>
                    <a:bodyPr/>
                    <a:lstStyle/>
                    <a:p>
                      <a:r>
                        <a:rPr sz="1400" b="0">
                          <a:solidFill>
                            <a:srgbClr val="1B2430"/>
                          </a:solidFill>
                          <a:latin typeface="Calibri"/>
                        </a:rPr>
                        <a:t>Inferens 4 GPU</a:t>
                      </a:r>
                    </a:p>
                  </a:txBody>
                  <a:tcPr>
                    <a:solidFill>
                      <a:srgbClr val="FFFFFF"/>
                    </a:solidFill>
                  </a:tcPr>
                </a:tc>
                <a:tc>
                  <a:txBody>
                    <a:bodyPr/>
                    <a:lstStyle/>
                    <a:p>
                      <a:r>
                        <a:rPr sz="1400" b="0">
                          <a:solidFill>
                            <a:srgbClr val="1B2430"/>
                          </a:solidFill>
                          <a:latin typeface="Calibri"/>
                        </a:rPr>
                        <a:t>1024</a:t>
                      </a:r>
                    </a:p>
                  </a:txBody>
                  <a:tcPr>
                    <a:solidFill>
                      <a:srgbClr val="FFFFFF"/>
                    </a:solidFill>
                  </a:tcPr>
                </a:tc>
                <a:tc>
                  <a:txBody>
                    <a:bodyPr/>
                    <a:lstStyle/>
                    <a:p>
                      <a:r>
                        <a:rPr sz="1400" b="0">
                          <a:solidFill>
                            <a:srgbClr val="1B2430"/>
                          </a:solidFill>
                          <a:latin typeface="Calibri"/>
                        </a:rPr>
                        <a:t>0.26</a:t>
                      </a:r>
                    </a:p>
                  </a:txBody>
                  <a:tcPr>
                    <a:solidFill>
                      <a:srgbClr val="FFFFFF"/>
                    </a:solidFill>
                  </a:tcPr>
                </a:tc>
                <a:tc>
                  <a:txBody>
                    <a:bodyPr/>
                    <a:lstStyle/>
                    <a:p>
                      <a:r>
                        <a:rPr sz="1400" b="0">
                          <a:solidFill>
                            <a:srgbClr val="1B2430"/>
                          </a:solidFill>
                          <a:latin typeface="Calibri"/>
                        </a:rPr>
                        <a:t>38 500</a:t>
                      </a:r>
                    </a:p>
                  </a:txBody>
                  <a:tcPr>
                    <a:solidFill>
                      <a:srgbClr val="FFFFFF"/>
                    </a:solidFill>
                  </a:tcPr>
                </a:tc>
                <a:tc>
                  <a:txBody>
                    <a:bodyPr/>
                    <a:lstStyle/>
                    <a:p>
                      <a:r>
                        <a:rPr sz="1400" b="0">
                          <a:solidFill>
                            <a:srgbClr val="1B2430"/>
                          </a:solidFill>
                          <a:latin typeface="Calibri"/>
                        </a:rPr>
                        <a:t>3.67</a:t>
                      </a:r>
                    </a:p>
                  </a:txBody>
                  <a:tcPr>
                    <a:solidFill>
                      <a:srgbClr val="FFFFFF"/>
                    </a:solidFill>
                  </a:tcPr>
                </a:tc>
                <a:tc>
                  <a:txBody>
                    <a:bodyPr/>
                    <a:lstStyle/>
                    <a:p>
                      <a:r>
                        <a:rPr sz="1400" b="0">
                          <a:solidFill>
                            <a:srgbClr val="1B2430"/>
                          </a:solidFill>
                          <a:latin typeface="Calibri"/>
                        </a:rPr>
                        <a:t>92%</a:t>
                      </a:r>
                    </a:p>
                  </a:txBody>
                  <a:tcP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Hisobot shakli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Hisobot 4–6 sahifa, PDF, quyidagi bo'limlar bilan topshiriladi:</a:t>
            </a:r>
          </a:p>
          <a:p>
            <a:pPr>
              <a:spcAft>
                <a:spcPts val="900"/>
              </a:spcAft>
            </a:pPr>
            <a:r>
              <a:rPr sz="1800" b="1">
                <a:solidFill>
                  <a:srgbClr val="0F8B8D"/>
                </a:solidFill>
              </a:rPr>
              <a:t>▪  </a:t>
            </a:r>
            <a:r>
              <a:rPr sz="1800">
                <a:solidFill>
                  <a:srgbClr val="1B2430"/>
                </a:solidFill>
                <a:latin typeface="Calibri"/>
              </a:rPr>
              <a:t>Muhit tavsifi: GPU modeli va soni, ulanish topologiyasi (nvidia-smi topo -m chiqishi), drayver/CUDA/PyTorch versiyalari, tarmoq turi.</a:t>
            </a:r>
          </a:p>
          <a:p>
            <a:pPr>
              <a:spcAft>
                <a:spcPts val="900"/>
              </a:spcAft>
            </a:pPr>
            <a:r>
              <a:rPr sz="1800" b="1">
                <a:solidFill>
                  <a:srgbClr val="0F8B8D"/>
                </a:solidFill>
              </a:rPr>
              <a:t>▪  </a:t>
            </a:r>
            <a:r>
              <a:rPr sz="1800">
                <a:solidFill>
                  <a:srgbClr val="1B2430"/>
                </a:solidFill>
                <a:latin typeface="Calibri"/>
              </a:rPr>
              <a:t>Bajarilgan buyruqlar va skriptning o'zgartirilgan qismlari (to'liq kod ilovada).</a:t>
            </a:r>
          </a:p>
          <a:p>
            <a:pPr>
              <a:spcAft>
                <a:spcPts val="900"/>
              </a:spcAft>
            </a:pPr>
            <a:r>
              <a:rPr sz="1800" b="1">
                <a:solidFill>
                  <a:srgbClr val="0F8B8D"/>
                </a:solidFill>
              </a:rPr>
              <a:t>▪  </a:t>
            </a:r>
            <a:r>
              <a:rPr sz="1800">
                <a:solidFill>
                  <a:srgbClr val="1B2430"/>
                </a:solidFill>
                <a:latin typeface="Calibri"/>
              </a:rPr>
              <a:t>To'ldirilgan masshtablash jadvali (yuqoridagi shaklda) va img/s ni GPU soniga bog'liq grafigi (matplotlib).</a:t>
            </a:r>
          </a:p>
          <a:p>
            <a:pPr>
              <a:spcAft>
                <a:spcPts val="900"/>
              </a:spcAft>
            </a:pPr>
            <a:r>
              <a:rPr sz="1800" b="1">
                <a:solidFill>
                  <a:srgbClr val="0F8B8D"/>
                </a:solidFill>
              </a:rPr>
              <a:t>▪  </a:t>
            </a:r>
            <a:r>
              <a:rPr sz="1800">
                <a:solidFill>
                  <a:srgbClr val="1B2430"/>
                </a:solidFill>
                <a:latin typeface="Calibri"/>
              </a:rPr>
              <a:t>Profiler jadvali fragmenti va kommunikatsiya ulushi hisobi.</a:t>
            </a:r>
          </a:p>
          <a:p>
            <a:pPr>
              <a:spcAft>
                <a:spcPts val="900"/>
              </a:spcAft>
            </a:pPr>
            <a:r>
              <a:rPr sz="1800" b="1">
                <a:solidFill>
                  <a:srgbClr val="0F8B8D"/>
                </a:solidFill>
              </a:rPr>
              <a:t>▪  </a:t>
            </a:r>
            <a:r>
              <a:rPr sz="1800">
                <a:solidFill>
                  <a:srgbClr val="1B2430"/>
                </a:solidFill>
                <a:latin typeface="Calibri"/>
              </a:rPr>
              <a:t>Tahlil: samaradorlik pasayishining sabablari, bottleneck, kamida 2 ta takomillashtirish taklifi va ulardan bittasining sinovi.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Hisobot shakli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Xulosa va javob berilgan nazorat savollari (kamida 3 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60 balldan past — qayta topshirish; 60–74 — qoniqarli; 75–89 — yaxshi; 90–100 — a'lo.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 GPU baseline to'g'ri o'lchangan (isitish epoxasi chiqarib tashlangan)</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DDP 2 va 4 GPU ishlaydi, DistributedSampler, set_epoch, LR masshtablash to'g'ri</a:t>
                      </a:r>
                    </a:p>
                  </a:txBody>
                  <a:tcPr>
                    <a:solidFill>
                      <a:srgbClr val="FFFFFF"/>
                    </a:solidFill>
                  </a:tcPr>
                </a:tc>
                <a:tc>
                  <a:txBody>
                    <a:bodyPr/>
                    <a:lstStyle/>
                    <a:p>
                      <a:r>
                        <a:rPr sz="1200" b="0">
                          <a:solidFill>
                            <a:srgbClr val="1B2430"/>
                          </a:solidFill>
                          <a:latin typeface="Calibri"/>
                        </a:rPr>
                        <a:t>20</a:t>
                      </a:r>
                    </a:p>
                  </a:txBody>
                  <a:tcPr>
                    <a:solidFill>
                      <a:srgbClr val="FFFFFF"/>
                    </a:solidFill>
                  </a:tcPr>
                </a:tc>
              </a:tr>
              <a:tr h="520000">
                <a:tc>
                  <a:txBody>
                    <a:bodyPr/>
                    <a:lstStyle/>
                    <a:p>
                      <a:r>
                        <a:rPr sz="1200" b="0">
                          <a:solidFill>
                            <a:srgbClr val="1B2430"/>
                          </a:solidFill>
                          <a:latin typeface="Calibri"/>
                        </a:rPr>
                        <a:t>Masshtablash jadvali to'liq, S(N) va E(N) to'g'ri hisoblangan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Profiler orqali kommunikatsiya ulushi aniqlangan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Parallel inferens amalga oshirilgan, all_gather to'g'ri, aniqlik mos</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Ikki tugunli ishga tushirish yoki Ray Train varianti (kamida bittasi)</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Tahlil sifati: bottleneck asosli aniqlangan, taklif sinovdan o'tgan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Hisobot rasmiyligi, kodning o'qilishi, takrorlanuvchanlik</a:t>
                      </a:r>
                    </a:p>
                  </a:txBody>
                  <a:tcPr>
                    <a:solidFill>
                      <a:srgbClr val="FFFFFF"/>
                    </a:solidFill>
                  </a:tcPr>
                </a:tc>
                <a:tc>
                  <a:txBody>
                    <a:bodyPr/>
                    <a:lstStyle/>
                    <a:p>
                      <a:r>
                        <a:rPr sz="1200" b="0">
                          <a:solidFill>
                            <a:srgbClr val="1B2430"/>
                          </a:solidFill>
                          <a:latin typeface="Calibri"/>
                        </a:rPr>
                        <a:t>5</a:t>
                      </a:r>
                    </a:p>
                  </a:txBody>
                  <a:tcP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jadvaldagi raqamlar bir nechta muhim xulosaga olib keladi.</a:t>
            </a:r>
          </a:p>
          <a:p>
            <a:pPr>
              <a:spcAft>
                <a:spcPts val="900"/>
              </a:spcAft>
            </a:pPr>
            <a:r>
              <a:rPr sz="2000" b="1">
                <a:solidFill>
                  <a:srgbClr val="0F8B8D"/>
                </a:solidFill>
              </a:rPr>
              <a:t>▪  </a:t>
            </a:r>
            <a:r>
              <a:rPr sz="2000">
                <a:solidFill>
                  <a:srgbClr val="1B2430"/>
                </a:solidFill>
                <a:latin typeface="Calibri"/>
              </a:rPr>
              <a:t>Ikkinchidan, tugunlararo konfiguratsiya 10 GbE tarmoqda samaradorlikni ikki baravar yo'qotadi.</a:t>
            </a:r>
          </a:p>
          <a:p>
            <a:pPr>
              <a:spcAft>
                <a:spcPts val="900"/>
              </a:spcAft>
            </a:pPr>
            <a:r>
              <a:rPr sz="2000" b="1">
                <a:solidFill>
                  <a:srgbClr val="0F8B8D"/>
                </a:solidFill>
              </a:rPr>
              <a:t>▪  </a:t>
            </a:r>
            <a:r>
              <a:rPr sz="2000">
                <a:solidFill>
                  <a:srgbClr val="1B2430"/>
                </a:solidFill>
                <a:latin typeface="Calibri"/>
              </a:rPr>
              <a:t>Uchinchidan, parallel inferens deyarli ideal masshtablanadi, chunki jarayonlar o'rtasida qadam sayin sinxronizatsiya yo'q.</a:t>
            </a:r>
          </a:p>
          <a:p>
            <a:pPr>
              <a:spcAft>
                <a:spcPts val="900"/>
              </a:spcAft>
            </a:pPr>
            <a:r>
              <a:rPr sz="2000" b="1">
                <a:solidFill>
                  <a:srgbClr val="0F8B8D"/>
                </a:solidFill>
              </a:rPr>
              <a:t>▪  </a:t>
            </a:r>
            <a:r>
              <a:rPr sz="2000">
                <a:solidFill>
                  <a:srgbClr val="1B2430"/>
                </a:solidFill>
                <a:latin typeface="Calibri"/>
              </a:rPr>
              <a:t>Cheklovlar va muqobillar: mashg'ulotda model bitta GPU'ga bemalol sig'adi, shuning uchun FSDP yoki tensor parallellik zaruriyati yuzaga kelmadi.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set_epoch chaqirilmaydi. Natijada har epoxada bir xil aralashtirish, model sifati sezilarli pasayadi, lekin hech qanday xato chiqmaydi. Har doim sampler.set_epoch(epoch) ni epoxa boshida…</a:t>
            </a:r>
          </a:p>
          <a:p>
            <a:pPr>
              <a:spcAft>
                <a:spcPts val="900"/>
              </a:spcAft>
            </a:pPr>
            <a:r>
              <a:rPr sz="1600" b="1">
                <a:solidFill>
                  <a:srgbClr val="0F8B8D"/>
                </a:solidFill>
              </a:rPr>
              <a:t>▪  </a:t>
            </a:r>
            <a:r>
              <a:rPr sz="1600">
                <a:solidFill>
                  <a:srgbClr val="1B2430"/>
                </a:solidFill>
                <a:latin typeface="Calibri"/>
              </a:rPr>
              <a:t>O'rganish tezligi masshtablanmaydi. Global paket 4 baravar oshganda LR o'zgarmasa, yaqinlashish sekinlashadi; chiziqli qoida (lr  world_size) va 3–5 epoxali isitish standart amaliyot. Juda…</a:t>
            </a:r>
          </a:p>
          <a:p>
            <a:pPr>
              <a:spcAft>
                <a:spcPts val="900"/>
              </a:spcAft>
            </a:pPr>
            <a:r>
              <a:rPr sz="1600" b="1">
                <a:solidFill>
                  <a:srgbClr val="0F8B8D"/>
                </a:solidFill>
              </a:rPr>
              <a:t>▪  </a:t>
            </a:r>
            <a:r>
              <a:rPr sz="1600">
                <a:solidFill>
                  <a:srgbClr val="1B2430"/>
                </a:solidFill>
                <a:latin typeface="Calibri"/>
              </a:rPr>
              <a:t>Barcha ranklar fayl yozadi yoki log chiqaradi. Checkpoint faqat rank == 0 da saqlanishi, print va TensorBoard yozuvlari ham faqat bitta rankdan bo'lishi kerak; aks holda fayl buziladi va…</a:t>
            </a:r>
          </a:p>
          <a:p>
            <a:pPr>
              <a:spcAft>
                <a:spcPts val="900"/>
              </a:spcAft>
            </a:pPr>
            <a:r>
              <a:rPr sz="1600" b="1">
                <a:solidFill>
                  <a:srgbClr val="0F8B8D"/>
                </a:solidFill>
              </a:rPr>
              <a:t>▪  </a:t>
            </a:r>
            <a:r>
              <a:rPr sz="1600">
                <a:solidFill>
                  <a:srgbClr val="1B2430"/>
                </a:solidFill>
                <a:latin typeface="Calibri"/>
              </a:rPr>
              <a:t>DDP o'ramidan keyin model.module unutiladi. model.state_dict() DDP o'ramida module. prefiksi bilan saqlanadi; yuklashda mos kelmaslik xatosi chiqadi. model.module.state_dict() ni saqlang…</a:t>
            </a:r>
          </a:p>
          <a:p>
            <a:pPr>
              <a:spcAft>
                <a:spcPts val="900"/>
              </a:spcAft>
            </a:pPr>
            <a:r>
              <a:rPr sz="1600" b="1">
                <a:solidFill>
                  <a:srgbClr val="0F8B8D"/>
                </a:solidFill>
              </a:rPr>
              <a:t>▪  </a:t>
            </a:r>
            <a:r>
              <a:rPr sz="1600">
                <a:solidFill>
                  <a:srgbClr val="1B2430"/>
                </a:solidFill>
                <a:latin typeface="Calibri"/>
              </a:rPr>
              <a:t>GPU vaqtini time.time() bilan sinxronlashsiz o'lchash. CUDA asinxron — torch.cuda.synchronize() siz o'lchov faqat kernel navbatga qo'yilgan vaqtni ko'rsatadi. Barcha o'lchovlardan oldin va…</a:t>
            </a:r>
          </a:p>
          <a:p>
            <a:pPr>
              <a:spcAft>
                <a:spcPts val="900"/>
              </a:spcAft>
            </a:pPr>
            <a:r>
              <a:rPr sz="1600" b="1">
                <a:solidFill>
                  <a:srgbClr val="0F8B8D"/>
                </a:solidFill>
              </a:rPr>
              <a:t>▪  </a:t>
            </a:r>
            <a:r>
              <a:rPr sz="1600">
                <a:solidFill>
                  <a:srgbClr val="1B2430"/>
                </a:solidFill>
                <a:latin typeface="Calibri"/>
              </a:rPr>
              <a:t>Osilib qolgan (hang) jarayonlar. Bir rankda istisno chiqsa, boshqalar all-reduce'da abadiy kutadi. torchrun bu holatni aniqlab, barcha jarayonlarni to'xtatadi, lekin qo'lda mp.spawn…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NCCL noto'g'ri interfeysni tanlaydi. Ikki tugunli ishga tushirishda Docker ko'prigi yoki VPN interfeysi tanlansa, tezlik 100 baravar pasayadi. NCCL_DEBUG=INFO bilan tekshiring,…</a:t>
            </a:r>
          </a:p>
          <a:p>
            <a:pPr>
              <a:spcAft>
                <a:spcPts val="900"/>
              </a:spcAft>
            </a:pPr>
            <a:r>
              <a:rPr sz="1800" b="1">
                <a:solidFill>
                  <a:srgbClr val="0F8B8D"/>
                </a:solidFill>
              </a:rPr>
              <a:t>▪  </a:t>
            </a:r>
            <a:r>
              <a:rPr sz="1800">
                <a:solidFill>
                  <a:srgbClr val="1B2430"/>
                </a:solidFill>
                <a:latin typeface="Calibri"/>
              </a:rPr>
              <a:t>Ma'lumotlar quvuri bottleneck. GPU bandligi past bo'lsa, num_workers ni oshiring, tasvirlarni oldindan o'lchamini o'zgartirib saqlang, NVIDIA DALI yoki FFCV kabi tezlatilgan yuklovchilarni…</a:t>
            </a:r>
          </a:p>
          <a:p>
            <a:pPr>
              <a:spcAft>
                <a:spcPts val="900"/>
              </a:spcAft>
            </a:pPr>
            <a:r>
              <a:rPr sz="1800" b="1">
                <a:solidFill>
                  <a:srgbClr val="0F8B8D"/>
                </a:solidFill>
              </a:rPr>
              <a:t>▪  </a:t>
            </a:r>
            <a:r>
              <a:rPr sz="1800">
                <a:solidFill>
                  <a:srgbClr val="1B2430"/>
                </a:solidFill>
                <a:latin typeface="Calibri"/>
              </a:rPr>
              <a:t>Takrorlanuvchanlik. Har o'lchovni kamida 3 marta takrorlang, median qiymatni keltiring; GPU chastotasi va harorati (nvidia-smi -q -d CLOCK) o'lchovlar orasida farq qilishi mumkin.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Nima uchun halqa all-reduce algoritmida har bir jarayon yuboradigan ma'lumot hajmi ishchilar sonidan deyarli bog'liq emas? Bu xususiyat qaysi sharoitda buziladi?</a:t>
            </a:r>
          </a:p>
          <a:p>
            <a:pPr>
              <a:spcAft>
                <a:spcPts val="900"/>
              </a:spcAft>
            </a:pPr>
            <a:r>
              <a:rPr sz="1600" b="1">
                <a:solidFill>
                  <a:srgbClr val="0F8B8D"/>
                </a:solidFill>
              </a:rPr>
              <a:t>▪  </a:t>
            </a:r>
            <a:r>
              <a:rPr sz="1600">
                <a:solidFill>
                  <a:srgbClr val="1B2430"/>
                </a:solidFill>
                <a:latin typeface="Calibri"/>
              </a:rPr>
              <a:t>ResNet-18 ga qaraganda ResNet-50 bir xil apparatda yuqoriroq masshtablash samaradorligi ko'rsatadi. Buni hisoblash/kommunikatsiya nisbati orqali tushuntiring va qaysi modelda aksincha…</a:t>
            </a:r>
          </a:p>
          <a:p>
            <a:pPr>
              <a:spcAft>
                <a:spcPts val="900"/>
              </a:spcAft>
            </a:pPr>
            <a:r>
              <a:rPr sz="1600" b="1">
                <a:solidFill>
                  <a:srgbClr val="0F8B8D"/>
                </a:solidFill>
              </a:rPr>
              <a:t>▪  </a:t>
            </a:r>
            <a:r>
              <a:rPr sz="1600">
                <a:solidFill>
                  <a:srgbClr val="1B2430"/>
                </a:solidFill>
                <a:latin typeface="Calibri"/>
              </a:rPr>
              <a:t>Kuchli va kuchsiz masshtablash rejimlarida bir xil «4 GPU, 83% samaradorlik» natijasi turli ma'no beradi. Har bir rejimda bu raqam nimani anglatadi va qaysi biri o'qitish uchun muhimroq?</a:t>
            </a:r>
          </a:p>
          <a:p>
            <a:pPr>
              <a:spcAft>
                <a:spcPts val="900"/>
              </a:spcAft>
            </a:pPr>
            <a:r>
              <a:rPr sz="1600" b="1">
                <a:solidFill>
                  <a:srgbClr val="0F8B8D"/>
                </a:solidFill>
              </a:rPr>
              <a:t>▪  </a:t>
            </a:r>
            <a:r>
              <a:rPr sz="1600">
                <a:solidFill>
                  <a:srgbClr val="1B2430"/>
                </a:solidFill>
                <a:latin typeface="Calibri"/>
              </a:rPr>
              <a:t>Global paket 128 dan 2048 ga oshirilganda model aniqligi pasaydi. Sabablari nima va buni tuzatish uchun qanday choralar mavjud (kamida uchta)?</a:t>
            </a:r>
          </a:p>
          <a:p>
            <a:pPr>
              <a:spcAft>
                <a:spcPts val="900"/>
              </a:spcAft>
            </a:pPr>
            <a:r>
              <a:rPr sz="1600" b="1">
                <a:solidFill>
                  <a:srgbClr val="0F8B8D"/>
                </a:solidFill>
              </a:rPr>
              <a:t>▪  </a:t>
            </a:r>
            <a:r>
              <a:rPr sz="1600">
                <a:solidFill>
                  <a:srgbClr val="1B2430"/>
                </a:solidFill>
                <a:latin typeface="Calibri"/>
              </a:rPr>
              <a:t>DDP va FSDP orasida tanlov qilishda qaysi uchta omil hal qiluvchi? 13B parametrli modelni 8 × A100 80 GB da o'qitish uchun qaysi birini va nega tanlaysiz?</a:t>
            </a:r>
          </a:p>
          <a:p>
            <a:pPr>
              <a:spcAft>
                <a:spcPts val="900"/>
              </a:spcAft>
            </a:pPr>
            <a:r>
              <a:rPr sz="1600" b="1">
                <a:solidFill>
                  <a:srgbClr val="0F8B8D"/>
                </a:solidFill>
              </a:rPr>
              <a:t>▪  </a:t>
            </a:r>
            <a:r>
              <a:rPr sz="1600">
                <a:solidFill>
                  <a:srgbClr val="1B2430"/>
                </a:solidFill>
                <a:latin typeface="Calibri"/>
              </a:rPr>
              <a:t>Ikki tugunli konfiguratsiyada samaradorlik 51% chiqdi. Qo'shimcha apparat sotib olmasdan uni oshirish uchun qanday dasturiy choralarni qo'llaysiz va har birining salbiy tomoni nima?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Parallel inferensda DistributedSampler ning to'ldirish (padding) xususiyati qanday xatoga olib kelishi mumkin? Ishlab chiqarish tizimida buni qanday hal qilasiz?</a:t>
            </a:r>
          </a:p>
          <a:p>
            <a:pPr>
              <a:spcAft>
                <a:spcPts val="900"/>
              </a:spcAft>
            </a:pPr>
            <a:r>
              <a:rPr sz="2000" b="1">
                <a:solidFill>
                  <a:srgbClr val="0F8B8D"/>
                </a:solidFill>
              </a:rPr>
              <a:t>▪  </a:t>
            </a:r>
            <a:r>
              <a:rPr sz="2000">
                <a:solidFill>
                  <a:srgbClr val="1B2430"/>
                </a:solidFill>
                <a:latin typeface="Calibri"/>
              </a:rPr>
              <a:t>Ray Train DDP'ga qaraganda qanday qo'shimcha qiymat beradi va qanday sharoitda bu qiymat qo'shimcha murakkablikni oqlamaydi?</a:t>
            </a:r>
          </a:p>
          <a:p>
            <a:pPr>
              <a:spcAft>
                <a:spcPts val="900"/>
              </a:spcAft>
            </a:pPr>
            <a:r>
              <a:rPr sz="2000" b="1">
                <a:solidFill>
                  <a:srgbClr val="0F8B8D"/>
                </a:solidFill>
              </a:rPr>
              <a:t>▪  </a:t>
            </a:r>
            <a:r>
              <a:rPr sz="2000">
                <a:solidFill>
                  <a:srgbClr val="1B2430"/>
                </a:solidFill>
                <a:latin typeface="Calibri"/>
              </a:rPr>
              <a:t>Nosozlikka chidamlilik nuqtai nazaridan sinxron DDP'ning tub zaifligi nima? Elastik o'qitish (torchrun --max_restarts) va checkpoint strategiyasi bu zaiflikni qanday kamaytiradi?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(majburiy). Mashg'ulotdagi tizimni ResNet-50 va ViT-B/16 (torchvision) modellari bilan takrorlang va uchta model uchun yagona masshtablash jadvalini tuzing. Gradient to'plash (accum_steps = 1, 2, 4) ning samaradorlikka ta'sirini o'lchang.</a:t>
            </a:r>
          </a:p>
          <a:p>
            <a:pPr>
              <a:spcAft>
                <a:spcPts val="900"/>
              </a:spcAft>
            </a:pPr>
            <a:r>
              <a:rPr sz="2000" b="1">
                <a:solidFill>
                  <a:srgbClr val="0F8B8D"/>
                </a:solidFill>
              </a:rPr>
              <a:t>▪  </a:t>
            </a:r>
            <a:r>
              <a:rPr sz="2000">
                <a:solidFill>
                  <a:srgbClr val="1B2430"/>
                </a:solidFill>
                <a:latin typeface="Calibri"/>
              </a:rPr>
              <a:t>2-topshiriq (mustaqil ta'lim 4-topshiriq bilan bog'liq). Taqsimlangan o'qitish ishini Kubernetes klasterida PyTorch Training Operator (Kubeflow) yordamida PyTorchJob resursi sifatida tavsiflang: 1 master + 3 worker pod, har biriga 1 GPU, umumiy PVC'da…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topshiriqlar virtual laboratoriyada bajariladi (fan saytidagi «Virtual laboratoriya» bo'limi, CPU sandbox: 2 yadro, GPU va tarmoq yo'q). Har biri laboratoriya bosqichlari kodini o'zgartirish orqali bajariladi; to'liq matn, kutilgan natija va hisobot…</a:t>
            </a:r>
          </a:p>
          <a:p>
            <a:pPr>
              <a:spcAft>
                <a:spcPts val="900"/>
              </a:spcAft>
            </a:pPr>
            <a:r>
              <a:rPr sz="2000" b="1">
                <a:solidFill>
                  <a:srgbClr val="0F8B8D"/>
                </a:solidFill>
              </a:rPr>
              <a:t>▪  </a:t>
            </a:r>
            <a:r>
              <a:rPr sz="2000">
                <a:solidFill>
                  <a:srgbClr val="1B2430"/>
                </a:solidFill>
                <a:latin typeface="Calibri"/>
              </a:rPr>
              <a:t>Eslatma: topshiriqlar natijasi (jadval, grafik, qisqa xulosa) virtual laboratoriya muhitidan hisobotga ko'chiriladi; GPU klasteri talab qiladigan o'lchovlar bu bo'limga kiritilmagan.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Epoxa va paket ta'siri</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Aloqa hajmi jadvali</a:t>
                      </a:r>
                    </a:p>
                  </a:txBody>
                  <a:tcPr>
                    <a:solidFill>
                      <a:srgbClr val="FFFFFF"/>
                    </a:solidFill>
                  </a:tcPr>
                </a:tc>
                <a:tc>
                  <a:txBody>
                    <a:bodyPr/>
                    <a:lstStyle/>
                    <a:p>
                      <a:r>
                        <a:rPr sz="1200" b="0">
                          <a:solidFill>
                            <a:srgbClr val="1B2430"/>
                          </a:solidFill>
                          <a:latin typeface="Calibri"/>
                        </a:rPr>
                        <a:t>oson</a:t>
                      </a:r>
                    </a:p>
                  </a:txBody>
                  <a:tcPr>
                    <a:solidFill>
                      <a:srgbClr val="FFFFFF"/>
                    </a:solidFill>
                  </a:tcPr>
                </a:tc>
                <a:tc>
                  <a:txBody>
                    <a:bodyPr/>
                    <a:lstStyle/>
                    <a:p>
                      <a:r>
                        <a:rPr sz="1200" b="0">
                          <a:solidFill>
                            <a:srgbClr val="1B2430"/>
                          </a:solidFill>
                          <a:latin typeface="Calibri"/>
                        </a:rPr>
                        <a:t>5</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Amdal bo'yicha p ni baholash</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Kuchli vs kuchsiz masshtablash egri chizig'i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Parametr-server vs halqa</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Gradient to'plash bilan DDP</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Inferens kechikish profili</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Qo'lda DDP: all_reduce bilan</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Sekin ishchi (straggler) simulyatsiyasi</a:t>
                      </a:r>
                    </a:p>
                  </a:txBody>
                  <a:tcPr>
                    <a:solidFill>
                      <a:srgbClr val="F1F4F8"/>
                    </a:solidFill>
                  </a:tcPr>
                </a:tc>
                <a:tc>
                  <a:txBody>
                    <a:bodyPr/>
                    <a:lstStyle/>
                    <a:p>
                      <a:r>
                        <a:rPr sz="1200" b="0">
                          <a:solidFill>
                            <a:srgbClr val="1B2430"/>
                          </a:solidFill>
                          <a:latin typeface="Calibri"/>
                        </a:rPr>
                        <a:t>qiyin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Klaster konfiguratsiyasi tanlovi</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1-bob (Amdal qonuni), 7-bob (sohaga xos arxitekturalar va…</a:t>
            </a:r>
          </a:p>
          <a:p>
            <a:pPr>
              <a:spcAft>
                <a:spcPts val="900"/>
              </a:spcAft>
            </a:pPr>
            <a:r>
              <a:rPr sz="1600" b="1">
                <a:solidFill>
                  <a:srgbClr val="0F8B8D"/>
                </a:solidFill>
              </a:rPr>
              <a:t>▪  </a:t>
            </a:r>
            <a:r>
              <a:rPr sz="1600">
                <a:solidFill>
                  <a:srgbClr val="1B2430"/>
                </a:solidFill>
                <a:latin typeface="Calibri"/>
              </a:rPr>
              <a:t>[3] Amershi, S. va boshq. Machine Learning Engineering. MIT Press, 2025. — o'qitish infratuzilmasi va masshtablash bo'limlari.</a:t>
            </a:r>
          </a:p>
          <a:p>
            <a:pPr>
              <a:spcAft>
                <a:spcPts val="900"/>
              </a:spcAft>
            </a:pPr>
            <a:r>
              <a:rPr sz="1600" b="1">
                <a:solidFill>
                  <a:srgbClr val="0F8B8D"/>
                </a:solidFill>
              </a:rPr>
              <a:t>▪  </a:t>
            </a:r>
            <a:r>
              <a:rPr sz="1600">
                <a:solidFill>
                  <a:srgbClr val="1B2430"/>
                </a:solidFill>
                <a:latin typeface="Calibri"/>
              </a:rPr>
              <a:t>[5] Kirk, D. B., &amp; Hwu, W.-M. W. Programming Massively Parallel Processors. 4th Edition. Morgan Kaufmann, 2022. — 20-bob (klasterlarda dasturlash, MPI + CUDA).</a:t>
            </a:r>
          </a:p>
          <a:p>
            <a:pPr>
              <a:spcAft>
                <a:spcPts val="900"/>
              </a:spcAft>
            </a:pPr>
            <a:r>
              <a:rPr sz="1600" b="1">
                <a:solidFill>
                  <a:srgbClr val="0F8B8D"/>
                </a:solidFill>
              </a:rPr>
              <a:t>▪  </a:t>
            </a:r>
            <a:r>
              <a:rPr sz="1600">
                <a:solidFill>
                  <a:srgbClr val="1B2430"/>
                </a:solidFill>
                <a:latin typeface="Calibri"/>
              </a:rPr>
              <a:t>[6] NVIDIA Developer Portal — NCCL hujjatlari: https://developer.nvidia.com/nccl</a:t>
            </a:r>
          </a:p>
          <a:p>
            <a:pPr>
              <a:spcAft>
                <a:spcPts val="900"/>
              </a:spcAft>
            </a:pPr>
            <a:r>
              <a:rPr sz="1600" b="1">
                <a:solidFill>
                  <a:srgbClr val="0F8B8D"/>
                </a:solidFill>
              </a:rPr>
              <a:t>▪  </a:t>
            </a:r>
            <a:r>
              <a:rPr sz="1600">
                <a:solidFill>
                  <a:srgbClr val="1B2430"/>
                </a:solidFill>
                <a:latin typeface="Calibri"/>
              </a:rPr>
              <a:t>[7] PyTorch rasmiy hujjatlari — Distributed Data Parallel: https://pytorch.org/docs/stable/notes/ddp.html ; torchrun: https://pytorch.org/docs/stable/elastic/run.html ; FSDP:…</a:t>
            </a:r>
          </a:p>
          <a:p>
            <a:pPr>
              <a:spcAft>
                <a:spcPts val="900"/>
              </a:spcAft>
            </a:pPr>
            <a:r>
              <a:rPr sz="1600" b="1">
                <a:solidFill>
                  <a:srgbClr val="0F8B8D"/>
                </a:solidFill>
              </a:rPr>
              <a:t>▪  </a:t>
            </a:r>
            <a:r>
              <a:rPr sz="1600">
                <a:solidFill>
                  <a:srgbClr val="1B2430"/>
                </a:solidFill>
                <a:latin typeface="Calibri"/>
              </a:rPr>
              <a:t>[9] Kubernetes rasmiy hujjatlari: https://kubernetes.io ; Kubeflow Training Operator: https://www.kubeflow.org/docs/components/training/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Li, S. va boshq. PyTorch Distributed: Experiences on Accelerating Data Parallel Training. Proceedings of the VLDB Endowment, 13(12), 2020. — DDP chelaklari va overlap mexanizmining asl…</a:t>
            </a:r>
          </a:p>
          <a:p>
            <a:pPr>
              <a:spcAft>
                <a:spcPts val="900"/>
              </a:spcAft>
            </a:pPr>
            <a:r>
              <a:rPr sz="1800" b="1">
                <a:solidFill>
                  <a:srgbClr val="0F8B8D"/>
                </a:solidFill>
              </a:rPr>
              <a:t>▪  </a:t>
            </a:r>
            <a:r>
              <a:rPr sz="1800">
                <a:solidFill>
                  <a:srgbClr val="1B2430"/>
                </a:solidFill>
                <a:latin typeface="Calibri"/>
              </a:rPr>
              <a:t>Goyal, P. va boshq. Accurate, Large Minibatch SGD: Training ImageNet in 1 Hour. arXiv:1706.02677, 2017. — chiziqli LR masshtablash qoidasi va isitish.</a:t>
            </a:r>
          </a:p>
          <a:p>
            <a:pPr>
              <a:spcAft>
                <a:spcPts val="900"/>
              </a:spcAft>
            </a:pPr>
            <a:r>
              <a:rPr sz="1800" b="1">
                <a:solidFill>
                  <a:srgbClr val="0F8B8D"/>
                </a:solidFill>
              </a:rPr>
              <a:t>▪  </a:t>
            </a:r>
            <a:r>
              <a:rPr sz="1800">
                <a:solidFill>
                  <a:srgbClr val="1B2430"/>
                </a:solidFill>
                <a:latin typeface="Calibri"/>
              </a:rPr>
              <a:t>Ray rasmiy hujjatlari — Ray Train: https://docs.ray.io/en/latest/train/train.html</a:t>
            </a:r>
          </a:p>
          <a:p>
            <a:pPr>
              <a:spcAft>
                <a:spcPts val="900"/>
              </a:spcAft>
            </a:pPr>
            <a:r>
              <a:rPr sz="1800" b="1">
                <a:solidFill>
                  <a:srgbClr val="0F8B8D"/>
                </a:solidFill>
              </a:rPr>
              <a:t>▪  </a:t>
            </a:r>
            <a:r>
              <a:rPr sz="1800">
                <a:solidFill>
                  <a:srgbClr val="1B2430"/>
                </a:solidFill>
                <a:latin typeface="Calibri"/>
              </a:rPr>
              <a:t>Sergeev, A., &amp; Del Balso, M. Horovod: fast and easy distributed deep learning in TensorFlow. arXiv:1802.05799, 2018.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300000" y="1600000"/>
            <a:ext cx="3200000" cy="3200000"/>
          </a:xfrm>
          <a:prstGeom prst="rect">
            <a:avLst/>
          </a:prstGeom>
        </p:spPr>
      </p:pic>
      <p:sp>
        <p:nvSpPr>
          <p:cNvPr id="9" name="TextBox 8"/>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A5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https://aiscan.airi.uz/ktm/#/c/mis2104/mavzu/A5</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